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33"/>
  </p:notesMasterIdLst>
  <p:handoutMasterIdLst>
    <p:handoutMasterId r:id="rId34"/>
  </p:handoutMasterIdLst>
  <p:sldIdLst>
    <p:sldId id="256" r:id="rId2"/>
    <p:sldId id="289" r:id="rId3"/>
    <p:sldId id="290" r:id="rId4"/>
    <p:sldId id="296" r:id="rId5"/>
    <p:sldId id="291" r:id="rId6"/>
    <p:sldId id="297" r:id="rId7"/>
    <p:sldId id="298" r:id="rId8"/>
    <p:sldId id="299" r:id="rId9"/>
    <p:sldId id="300" r:id="rId10"/>
    <p:sldId id="301" r:id="rId11"/>
    <p:sldId id="302" r:id="rId12"/>
    <p:sldId id="292" r:id="rId13"/>
    <p:sldId id="303" r:id="rId14"/>
    <p:sldId id="304" r:id="rId15"/>
    <p:sldId id="293" r:id="rId16"/>
    <p:sldId id="305" r:id="rId17"/>
    <p:sldId id="310" r:id="rId18"/>
    <p:sldId id="307" r:id="rId19"/>
    <p:sldId id="308" r:id="rId20"/>
    <p:sldId id="309" r:id="rId21"/>
    <p:sldId id="294" r:id="rId22"/>
    <p:sldId id="318" r:id="rId23"/>
    <p:sldId id="295" r:id="rId24"/>
    <p:sldId id="311" r:id="rId25"/>
    <p:sldId id="312" r:id="rId26"/>
    <p:sldId id="313" r:id="rId27"/>
    <p:sldId id="314" r:id="rId28"/>
    <p:sldId id="315" r:id="rId29"/>
    <p:sldId id="316" r:id="rId30"/>
    <p:sldId id="317" r:id="rId31"/>
    <p:sldId id="288" r:id="rId32"/>
  </p:sldIdLst>
  <p:sldSz cx="12192000" cy="6858000"/>
  <p:notesSz cx="12192000" cy="6858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5033" autoAdjust="0"/>
  </p:normalViewPr>
  <p:slideViewPr>
    <p:cSldViewPr>
      <p:cViewPr>
        <p:scale>
          <a:sx n="75" d="100"/>
          <a:sy n="75" d="100"/>
        </p:scale>
        <p:origin x="974" y="216"/>
      </p:cViewPr>
      <p:guideLst>
        <p:guide orient="horz" pos="2880"/>
        <p:guide pos="2160"/>
      </p:guideLst>
    </p:cSldViewPr>
  </p:slideViewPr>
  <p:notesTextViewPr>
    <p:cViewPr>
      <p:scale>
        <a:sx n="100" d="100"/>
        <a:sy n="100" d="100"/>
      </p:scale>
      <p:origin x="0" y="0"/>
    </p:cViewPr>
  </p:notesTextViewPr>
  <p:notesViewPr>
    <p:cSldViewPr>
      <p:cViewPr varScale="1">
        <p:scale>
          <a:sx n="83" d="100"/>
          <a:sy n="83" d="100"/>
        </p:scale>
        <p:origin x="1392" y="6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ADD96E76-517F-B468-04D8-38EFA44947EB}"/>
              </a:ext>
            </a:extLst>
          </p:cNvPr>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8678D0B9-782A-7C16-D731-EEB7F991FA76}"/>
              </a:ext>
            </a:extLst>
          </p:cNvPr>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8438F8DC-35B0-48E6-A86E-42F1F08DD00F}" type="datetimeFigureOut">
              <a:rPr lang="es-ES" smtClean="0"/>
              <a:t>12/06/2026</a:t>
            </a:fld>
            <a:endParaRPr lang="es-ES"/>
          </a:p>
        </p:txBody>
      </p:sp>
      <p:sp>
        <p:nvSpPr>
          <p:cNvPr id="4" name="Marcador de pie de página 3">
            <a:extLst>
              <a:ext uri="{FF2B5EF4-FFF2-40B4-BE49-F238E27FC236}">
                <a16:creationId xmlns:a16="http://schemas.microsoft.com/office/drawing/2014/main" id="{2F2E7B1C-60E2-8A48-EEE0-6715FC30A8B7}"/>
              </a:ext>
            </a:extLst>
          </p:cNvPr>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C428D795-4EA2-62F0-B78A-5F215C828C50}"/>
              </a:ext>
            </a:extLst>
          </p:cNvPr>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4116A549-763A-4A89-A454-A94BAF51395E}" type="slidenum">
              <a:rPr lang="es-ES" smtClean="0"/>
              <a:t>‹Nº›</a:t>
            </a:fld>
            <a:endParaRPr lang="es-ES"/>
          </a:p>
        </p:txBody>
      </p:sp>
    </p:spTree>
    <p:extLst>
      <p:ext uri="{BB962C8B-B14F-4D97-AF65-F5344CB8AC3E}">
        <p14:creationId xmlns:p14="http://schemas.microsoft.com/office/powerpoint/2010/main" val="140347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FACBDC12-F39B-4B97-8F4D-6734F9D366FF}" type="datetimeFigureOut">
              <a:rPr lang="es-ES" smtClean="0"/>
              <a:t>12/06/2026</a:t>
            </a:fld>
            <a:endParaRPr lang="es-ES"/>
          </a:p>
        </p:txBody>
      </p:sp>
      <p:sp>
        <p:nvSpPr>
          <p:cNvPr id="4" name="Marcador de imagen de diapositiva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76223B9-C868-4436-87D9-1A3152E1157A}" type="slidenum">
              <a:rPr lang="es-ES" smtClean="0"/>
              <a:t>‹Nº›</a:t>
            </a:fld>
            <a:endParaRPr lang="es-ES"/>
          </a:p>
        </p:txBody>
      </p:sp>
    </p:spTree>
    <p:extLst>
      <p:ext uri="{BB962C8B-B14F-4D97-AF65-F5344CB8AC3E}">
        <p14:creationId xmlns:p14="http://schemas.microsoft.com/office/powerpoint/2010/main" val="2834211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676223B9-C868-4436-87D9-1A3152E1157A}" type="slidenum">
              <a:rPr lang="es-ES" smtClean="0"/>
              <a:t>3</a:t>
            </a:fld>
            <a:endParaRPr lang="es-ES"/>
          </a:p>
        </p:txBody>
      </p:sp>
    </p:spTree>
    <p:extLst>
      <p:ext uri="{BB962C8B-B14F-4D97-AF65-F5344CB8AC3E}">
        <p14:creationId xmlns:p14="http://schemas.microsoft.com/office/powerpoint/2010/main" val="20925323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A2B8A0-CC16-3826-D234-A8606D24214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D0AEEB1-1B5C-89F6-90EE-2FDEB51EF2C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64C9836-EC45-B31D-3958-2020A0E75AE5}"/>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59DE4E38-BD2C-E87F-7306-6B5BA488212B}"/>
              </a:ext>
            </a:extLst>
          </p:cNvPr>
          <p:cNvSpPr>
            <a:spLocks noGrp="1"/>
          </p:cNvSpPr>
          <p:nvPr>
            <p:ph type="sldNum" sz="quarter" idx="5"/>
          </p:nvPr>
        </p:nvSpPr>
        <p:spPr/>
        <p:txBody>
          <a:bodyPr/>
          <a:lstStyle/>
          <a:p>
            <a:fld id="{676223B9-C868-4436-87D9-1A3152E1157A}" type="slidenum">
              <a:rPr lang="es-ES" smtClean="0"/>
              <a:t>4</a:t>
            </a:fld>
            <a:endParaRPr lang="es-ES"/>
          </a:p>
        </p:txBody>
      </p:sp>
    </p:spTree>
    <p:extLst>
      <p:ext uri="{BB962C8B-B14F-4D97-AF65-F5344CB8AC3E}">
        <p14:creationId xmlns:p14="http://schemas.microsoft.com/office/powerpoint/2010/main" val="34576270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087AEC-015A-4808-9AC9-382D824E43C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FC03EDA-741F-B6F5-3444-A8D74D690AB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7839219-55CF-753A-3C53-04F6B1E28970}"/>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D04B99BF-32CC-B000-CB3E-0CD66FF7CA7C}"/>
              </a:ext>
            </a:extLst>
          </p:cNvPr>
          <p:cNvSpPr>
            <a:spLocks noGrp="1"/>
          </p:cNvSpPr>
          <p:nvPr>
            <p:ph type="sldNum" sz="quarter" idx="5"/>
          </p:nvPr>
        </p:nvSpPr>
        <p:spPr/>
        <p:txBody>
          <a:bodyPr/>
          <a:lstStyle/>
          <a:p>
            <a:fld id="{676223B9-C868-4436-87D9-1A3152E1157A}" type="slidenum">
              <a:rPr lang="es-ES" smtClean="0"/>
              <a:t>5</a:t>
            </a:fld>
            <a:endParaRPr lang="es-ES"/>
          </a:p>
        </p:txBody>
      </p:sp>
    </p:spTree>
    <p:extLst>
      <p:ext uri="{BB962C8B-B14F-4D97-AF65-F5344CB8AC3E}">
        <p14:creationId xmlns:p14="http://schemas.microsoft.com/office/powerpoint/2010/main" val="26876424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95E217-C0F9-5F3C-3D54-936CF0963CA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3C6C76D-25E6-BE2D-EABB-BE47DD26482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1890351-0826-3841-6831-1468F3C58626}"/>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C596DCEF-2D63-F713-D945-3E12FCDDB1C8}"/>
              </a:ext>
            </a:extLst>
          </p:cNvPr>
          <p:cNvSpPr>
            <a:spLocks noGrp="1"/>
          </p:cNvSpPr>
          <p:nvPr>
            <p:ph type="sldNum" sz="quarter" idx="5"/>
          </p:nvPr>
        </p:nvSpPr>
        <p:spPr/>
        <p:txBody>
          <a:bodyPr/>
          <a:lstStyle/>
          <a:p>
            <a:fld id="{676223B9-C868-4436-87D9-1A3152E1157A}" type="slidenum">
              <a:rPr lang="es-ES" smtClean="0"/>
              <a:t>6</a:t>
            </a:fld>
            <a:endParaRPr lang="es-ES"/>
          </a:p>
        </p:txBody>
      </p:sp>
    </p:spTree>
    <p:extLst>
      <p:ext uri="{BB962C8B-B14F-4D97-AF65-F5344CB8AC3E}">
        <p14:creationId xmlns:p14="http://schemas.microsoft.com/office/powerpoint/2010/main" val="29354002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6FDA96-BB68-1BA9-60B5-C3B4AC09FDF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99F29D7-3D43-D656-D5EA-F37F214EED7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5F0F0A3-1742-4FC7-3D8A-5731BB98BBB0}"/>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5F9BF554-A7A5-7B83-1F65-18E0BEE711F5}"/>
              </a:ext>
            </a:extLst>
          </p:cNvPr>
          <p:cNvSpPr>
            <a:spLocks noGrp="1"/>
          </p:cNvSpPr>
          <p:nvPr>
            <p:ph type="sldNum" sz="quarter" idx="5"/>
          </p:nvPr>
        </p:nvSpPr>
        <p:spPr/>
        <p:txBody>
          <a:bodyPr/>
          <a:lstStyle/>
          <a:p>
            <a:fld id="{676223B9-C868-4436-87D9-1A3152E1157A}" type="slidenum">
              <a:rPr lang="es-ES" smtClean="0"/>
              <a:t>7</a:t>
            </a:fld>
            <a:endParaRPr lang="es-ES"/>
          </a:p>
        </p:txBody>
      </p:sp>
    </p:spTree>
    <p:extLst>
      <p:ext uri="{BB962C8B-B14F-4D97-AF65-F5344CB8AC3E}">
        <p14:creationId xmlns:p14="http://schemas.microsoft.com/office/powerpoint/2010/main" val="16569625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B04E2A-D077-77C3-2F65-3EE2EB1E338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FBF345B-0937-10A3-55D1-019F15C480F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D5D693C-7450-92E6-A2CC-32C0C4BE41F2}"/>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A0112D45-E18B-124E-D70B-693F50BFEAAD}"/>
              </a:ext>
            </a:extLst>
          </p:cNvPr>
          <p:cNvSpPr>
            <a:spLocks noGrp="1"/>
          </p:cNvSpPr>
          <p:nvPr>
            <p:ph type="sldNum" sz="quarter" idx="5"/>
          </p:nvPr>
        </p:nvSpPr>
        <p:spPr/>
        <p:txBody>
          <a:bodyPr/>
          <a:lstStyle/>
          <a:p>
            <a:fld id="{676223B9-C868-4436-87D9-1A3152E1157A}" type="slidenum">
              <a:rPr lang="es-ES" smtClean="0"/>
              <a:t>8</a:t>
            </a:fld>
            <a:endParaRPr lang="es-ES"/>
          </a:p>
        </p:txBody>
      </p:sp>
    </p:spTree>
    <p:extLst>
      <p:ext uri="{BB962C8B-B14F-4D97-AF65-F5344CB8AC3E}">
        <p14:creationId xmlns:p14="http://schemas.microsoft.com/office/powerpoint/2010/main" val="28640258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9FD2CC-4FE7-907E-7D00-05D4F300AD8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B5067D6-43EC-85E4-EC75-A38DEDC7DBE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21EAAF3-FED9-CD25-0160-5ABDDB03CA87}"/>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77D09D56-C758-6198-DA20-CB55BDDD1544}"/>
              </a:ext>
            </a:extLst>
          </p:cNvPr>
          <p:cNvSpPr>
            <a:spLocks noGrp="1"/>
          </p:cNvSpPr>
          <p:nvPr>
            <p:ph type="sldNum" sz="quarter" idx="5"/>
          </p:nvPr>
        </p:nvSpPr>
        <p:spPr/>
        <p:txBody>
          <a:bodyPr/>
          <a:lstStyle/>
          <a:p>
            <a:fld id="{676223B9-C868-4436-87D9-1A3152E1157A}" type="slidenum">
              <a:rPr lang="es-ES" smtClean="0"/>
              <a:t>9</a:t>
            </a:fld>
            <a:endParaRPr lang="es-ES"/>
          </a:p>
        </p:txBody>
      </p:sp>
    </p:spTree>
    <p:extLst>
      <p:ext uri="{BB962C8B-B14F-4D97-AF65-F5344CB8AC3E}">
        <p14:creationId xmlns:p14="http://schemas.microsoft.com/office/powerpoint/2010/main" val="30670895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4108DB-6BE0-9A99-6A54-0A8889E8F24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65C8886-2413-8C38-EAF2-E0E3AB18DE8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37B5398-0ABF-E7EB-DEE5-F1465D4CC4A4}"/>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9B805589-5CAE-7B6F-CFF2-651D42EDAD04}"/>
              </a:ext>
            </a:extLst>
          </p:cNvPr>
          <p:cNvSpPr>
            <a:spLocks noGrp="1"/>
          </p:cNvSpPr>
          <p:nvPr>
            <p:ph type="sldNum" sz="quarter" idx="5"/>
          </p:nvPr>
        </p:nvSpPr>
        <p:spPr/>
        <p:txBody>
          <a:bodyPr/>
          <a:lstStyle/>
          <a:p>
            <a:fld id="{676223B9-C868-4436-87D9-1A3152E1157A}" type="slidenum">
              <a:rPr lang="es-ES" smtClean="0"/>
              <a:t>10</a:t>
            </a:fld>
            <a:endParaRPr lang="es-ES"/>
          </a:p>
        </p:txBody>
      </p:sp>
    </p:spTree>
    <p:extLst>
      <p:ext uri="{BB962C8B-B14F-4D97-AF65-F5344CB8AC3E}">
        <p14:creationId xmlns:p14="http://schemas.microsoft.com/office/powerpoint/2010/main" val="20364432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359579-C755-FB3E-F02A-6C60DC9FCF5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F6A9FF2-7F82-14BB-006A-71699CEEB38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E09A479-D18D-B5E4-9033-78D64674E83E}"/>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E5CCF687-D572-F42F-07BB-01C1EACA598B}"/>
              </a:ext>
            </a:extLst>
          </p:cNvPr>
          <p:cNvSpPr>
            <a:spLocks noGrp="1"/>
          </p:cNvSpPr>
          <p:nvPr>
            <p:ph type="sldNum" sz="quarter" idx="5"/>
          </p:nvPr>
        </p:nvSpPr>
        <p:spPr/>
        <p:txBody>
          <a:bodyPr/>
          <a:lstStyle/>
          <a:p>
            <a:fld id="{676223B9-C868-4436-87D9-1A3152E1157A}" type="slidenum">
              <a:rPr lang="es-ES" smtClean="0"/>
              <a:t>11</a:t>
            </a:fld>
            <a:endParaRPr lang="es-ES"/>
          </a:p>
        </p:txBody>
      </p:sp>
    </p:spTree>
    <p:extLst>
      <p:ext uri="{BB962C8B-B14F-4D97-AF65-F5344CB8AC3E}">
        <p14:creationId xmlns:p14="http://schemas.microsoft.com/office/powerpoint/2010/main" val="8893791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E2BF37-98F6-CD9B-2255-0A64B5CEA44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B68927E-2442-0553-FBC8-D3C32BCC5CF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6130D77-4D33-EE41-3A9E-4EB6D2419067}"/>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75BAC07D-EBC4-F68A-7BE7-2B2DCCECD5CD}"/>
              </a:ext>
            </a:extLst>
          </p:cNvPr>
          <p:cNvSpPr>
            <a:spLocks noGrp="1"/>
          </p:cNvSpPr>
          <p:nvPr>
            <p:ph type="sldNum" sz="quarter" idx="5"/>
          </p:nvPr>
        </p:nvSpPr>
        <p:spPr/>
        <p:txBody>
          <a:bodyPr/>
          <a:lstStyle/>
          <a:p>
            <a:fld id="{676223B9-C868-4436-87D9-1A3152E1157A}" type="slidenum">
              <a:rPr lang="es-ES" smtClean="0"/>
              <a:t>12</a:t>
            </a:fld>
            <a:endParaRPr lang="es-ES"/>
          </a:p>
        </p:txBody>
      </p:sp>
    </p:spTree>
    <p:extLst>
      <p:ext uri="{BB962C8B-B14F-4D97-AF65-F5344CB8AC3E}">
        <p14:creationId xmlns:p14="http://schemas.microsoft.com/office/powerpoint/2010/main" val="18854310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34CD96-B8BD-5DEB-56AE-1FA457F0CEB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3064B9A-067E-DBEC-29DA-EEE23506FFD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2FF157A-263C-15EF-5503-8632BEB802FC}"/>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72778C9A-E017-99AE-5AB3-6E4250118A1A}"/>
              </a:ext>
            </a:extLst>
          </p:cNvPr>
          <p:cNvSpPr>
            <a:spLocks noGrp="1"/>
          </p:cNvSpPr>
          <p:nvPr>
            <p:ph type="sldNum" sz="quarter" idx="5"/>
          </p:nvPr>
        </p:nvSpPr>
        <p:spPr/>
        <p:txBody>
          <a:bodyPr/>
          <a:lstStyle/>
          <a:p>
            <a:fld id="{676223B9-C868-4436-87D9-1A3152E1157A}" type="slidenum">
              <a:rPr lang="es-ES" smtClean="0"/>
              <a:t>13</a:t>
            </a:fld>
            <a:endParaRPr lang="es-ES"/>
          </a:p>
        </p:txBody>
      </p:sp>
    </p:spTree>
    <p:extLst>
      <p:ext uri="{BB962C8B-B14F-4D97-AF65-F5344CB8AC3E}">
        <p14:creationId xmlns:p14="http://schemas.microsoft.com/office/powerpoint/2010/main" val="37939638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FEB665-DC86-23BD-E805-D57EA058BC8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458F208-BC81-DBCE-8B82-D455B39339C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CE13324-A5C2-3B8E-6C8A-6C7CF66FADD5}"/>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74F2EE2F-EA04-3C19-4486-96593DE94533}"/>
              </a:ext>
            </a:extLst>
          </p:cNvPr>
          <p:cNvSpPr>
            <a:spLocks noGrp="1"/>
          </p:cNvSpPr>
          <p:nvPr>
            <p:ph type="sldNum" sz="quarter" idx="5"/>
          </p:nvPr>
        </p:nvSpPr>
        <p:spPr/>
        <p:txBody>
          <a:bodyPr/>
          <a:lstStyle/>
          <a:p>
            <a:fld id="{676223B9-C868-4436-87D9-1A3152E1157A}" type="slidenum">
              <a:rPr lang="es-ES" smtClean="0"/>
              <a:t>14</a:t>
            </a:fld>
            <a:endParaRPr lang="es-ES"/>
          </a:p>
        </p:txBody>
      </p:sp>
    </p:spTree>
    <p:extLst>
      <p:ext uri="{BB962C8B-B14F-4D97-AF65-F5344CB8AC3E}">
        <p14:creationId xmlns:p14="http://schemas.microsoft.com/office/powerpoint/2010/main" val="29980202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0988B3-C141-4645-2F2A-A09F408267B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B22BAD8-B0CC-3164-3027-A210D7EB753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3995D4B-1202-927A-28C9-66F35C33AE68}"/>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0156FFEE-1184-FFA2-1E7F-CC9E8439AC53}"/>
              </a:ext>
            </a:extLst>
          </p:cNvPr>
          <p:cNvSpPr>
            <a:spLocks noGrp="1"/>
          </p:cNvSpPr>
          <p:nvPr>
            <p:ph type="sldNum" sz="quarter" idx="5"/>
          </p:nvPr>
        </p:nvSpPr>
        <p:spPr/>
        <p:txBody>
          <a:bodyPr/>
          <a:lstStyle/>
          <a:p>
            <a:fld id="{676223B9-C868-4436-87D9-1A3152E1157A}" type="slidenum">
              <a:rPr lang="es-ES" smtClean="0"/>
              <a:t>15</a:t>
            </a:fld>
            <a:endParaRPr lang="es-ES"/>
          </a:p>
        </p:txBody>
      </p:sp>
    </p:spTree>
    <p:extLst>
      <p:ext uri="{BB962C8B-B14F-4D97-AF65-F5344CB8AC3E}">
        <p14:creationId xmlns:p14="http://schemas.microsoft.com/office/powerpoint/2010/main" val="3810953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B23027-29DE-2822-1552-86E87683DAE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D33A664-90C3-137E-2EA1-9C1E14AC144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49BF257-388E-E544-5D68-25D4115B40C0}"/>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B4BD568B-78F8-275D-6CC7-106E24F4F270}"/>
              </a:ext>
            </a:extLst>
          </p:cNvPr>
          <p:cNvSpPr>
            <a:spLocks noGrp="1"/>
          </p:cNvSpPr>
          <p:nvPr>
            <p:ph type="sldNum" sz="quarter" idx="5"/>
          </p:nvPr>
        </p:nvSpPr>
        <p:spPr/>
        <p:txBody>
          <a:bodyPr/>
          <a:lstStyle/>
          <a:p>
            <a:fld id="{676223B9-C868-4436-87D9-1A3152E1157A}" type="slidenum">
              <a:rPr lang="es-ES" smtClean="0"/>
              <a:t>16</a:t>
            </a:fld>
            <a:endParaRPr lang="es-ES"/>
          </a:p>
        </p:txBody>
      </p:sp>
    </p:spTree>
    <p:extLst>
      <p:ext uri="{BB962C8B-B14F-4D97-AF65-F5344CB8AC3E}">
        <p14:creationId xmlns:p14="http://schemas.microsoft.com/office/powerpoint/2010/main" val="30587944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DEB8FA-7F96-058C-9BAA-FE97B654423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C68A3B2-A94A-D52F-AD38-7F55B43D9F6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3B91D3B-5492-BAFD-B1FD-C713CE4E636D}"/>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C72A950E-1475-13B4-1B93-51A1076747FE}"/>
              </a:ext>
            </a:extLst>
          </p:cNvPr>
          <p:cNvSpPr>
            <a:spLocks noGrp="1"/>
          </p:cNvSpPr>
          <p:nvPr>
            <p:ph type="sldNum" sz="quarter" idx="5"/>
          </p:nvPr>
        </p:nvSpPr>
        <p:spPr/>
        <p:txBody>
          <a:bodyPr/>
          <a:lstStyle/>
          <a:p>
            <a:fld id="{676223B9-C868-4436-87D9-1A3152E1157A}" type="slidenum">
              <a:rPr lang="es-ES" smtClean="0"/>
              <a:t>17</a:t>
            </a:fld>
            <a:endParaRPr lang="es-ES"/>
          </a:p>
        </p:txBody>
      </p:sp>
    </p:spTree>
    <p:extLst>
      <p:ext uri="{BB962C8B-B14F-4D97-AF65-F5344CB8AC3E}">
        <p14:creationId xmlns:p14="http://schemas.microsoft.com/office/powerpoint/2010/main" val="31988748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C8B710-6531-C487-B22C-907B707D66D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CFFE728A-073B-B20A-1E2D-BB6440F9C48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1F3904A-3D98-5A31-76A3-691FE605C91E}"/>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7B373F82-DA83-8948-5855-FBAA60E76A51}"/>
              </a:ext>
            </a:extLst>
          </p:cNvPr>
          <p:cNvSpPr>
            <a:spLocks noGrp="1"/>
          </p:cNvSpPr>
          <p:nvPr>
            <p:ph type="sldNum" sz="quarter" idx="5"/>
          </p:nvPr>
        </p:nvSpPr>
        <p:spPr/>
        <p:txBody>
          <a:bodyPr/>
          <a:lstStyle/>
          <a:p>
            <a:fld id="{676223B9-C868-4436-87D9-1A3152E1157A}" type="slidenum">
              <a:rPr lang="es-ES" smtClean="0"/>
              <a:t>18</a:t>
            </a:fld>
            <a:endParaRPr lang="es-ES"/>
          </a:p>
        </p:txBody>
      </p:sp>
    </p:spTree>
    <p:extLst>
      <p:ext uri="{BB962C8B-B14F-4D97-AF65-F5344CB8AC3E}">
        <p14:creationId xmlns:p14="http://schemas.microsoft.com/office/powerpoint/2010/main" val="348366638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FE773A-B0BD-AC0E-1DBF-21BB38B3B49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D291E96-998E-6D1D-5F3E-FC6A042D3F0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A814BC8-6607-6A05-309A-27A466D1B3B5}"/>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E4FBF0A2-0E1D-5A8B-6C30-9546123968DD}"/>
              </a:ext>
            </a:extLst>
          </p:cNvPr>
          <p:cNvSpPr>
            <a:spLocks noGrp="1"/>
          </p:cNvSpPr>
          <p:nvPr>
            <p:ph type="sldNum" sz="quarter" idx="5"/>
          </p:nvPr>
        </p:nvSpPr>
        <p:spPr/>
        <p:txBody>
          <a:bodyPr/>
          <a:lstStyle/>
          <a:p>
            <a:fld id="{676223B9-C868-4436-87D9-1A3152E1157A}" type="slidenum">
              <a:rPr lang="es-ES" smtClean="0"/>
              <a:t>19</a:t>
            </a:fld>
            <a:endParaRPr lang="es-ES"/>
          </a:p>
        </p:txBody>
      </p:sp>
    </p:spTree>
    <p:extLst>
      <p:ext uri="{BB962C8B-B14F-4D97-AF65-F5344CB8AC3E}">
        <p14:creationId xmlns:p14="http://schemas.microsoft.com/office/powerpoint/2010/main" val="37122420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BCC69C-0A71-0E8D-A0E7-3DB68F1027A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0C47995-A040-0366-9EA9-B6DE80C0B1C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F18031A-2B9E-B3A3-53EE-BFBA19AD68B8}"/>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DF1A7DC9-19FF-B842-22BD-F22365C9F404}"/>
              </a:ext>
            </a:extLst>
          </p:cNvPr>
          <p:cNvSpPr>
            <a:spLocks noGrp="1"/>
          </p:cNvSpPr>
          <p:nvPr>
            <p:ph type="sldNum" sz="quarter" idx="5"/>
          </p:nvPr>
        </p:nvSpPr>
        <p:spPr/>
        <p:txBody>
          <a:bodyPr/>
          <a:lstStyle/>
          <a:p>
            <a:fld id="{676223B9-C868-4436-87D9-1A3152E1157A}" type="slidenum">
              <a:rPr lang="es-ES" smtClean="0"/>
              <a:t>20</a:t>
            </a:fld>
            <a:endParaRPr lang="es-ES"/>
          </a:p>
        </p:txBody>
      </p:sp>
    </p:spTree>
    <p:extLst>
      <p:ext uri="{BB962C8B-B14F-4D97-AF65-F5344CB8AC3E}">
        <p14:creationId xmlns:p14="http://schemas.microsoft.com/office/powerpoint/2010/main" val="255233678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D9EAE7-9EAB-544B-26F0-D89AD57C0BC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7142DDC-39F3-B8EF-C550-B1BDBF79832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14E7676-8E00-A60E-B890-D4F612C9A57A}"/>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8F8AAF8C-62CF-3619-1C70-91E48BE9A4C4}"/>
              </a:ext>
            </a:extLst>
          </p:cNvPr>
          <p:cNvSpPr>
            <a:spLocks noGrp="1"/>
          </p:cNvSpPr>
          <p:nvPr>
            <p:ph type="sldNum" sz="quarter" idx="5"/>
          </p:nvPr>
        </p:nvSpPr>
        <p:spPr/>
        <p:txBody>
          <a:bodyPr/>
          <a:lstStyle/>
          <a:p>
            <a:fld id="{676223B9-C868-4436-87D9-1A3152E1157A}" type="slidenum">
              <a:rPr lang="es-ES" smtClean="0"/>
              <a:t>21</a:t>
            </a:fld>
            <a:endParaRPr lang="es-ES"/>
          </a:p>
        </p:txBody>
      </p:sp>
    </p:spTree>
    <p:extLst>
      <p:ext uri="{BB962C8B-B14F-4D97-AF65-F5344CB8AC3E}">
        <p14:creationId xmlns:p14="http://schemas.microsoft.com/office/powerpoint/2010/main" val="216310479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57EBDB-070D-8DE9-3B86-637F03E00C3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DDE9C67-F130-4DC5-CDB7-6EA4513E0D9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D80C066-9D3F-4447-774E-C88A8AC6ED73}"/>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19DCFE7A-40FD-BEE9-54ED-8E16E75114A4}"/>
              </a:ext>
            </a:extLst>
          </p:cNvPr>
          <p:cNvSpPr>
            <a:spLocks noGrp="1"/>
          </p:cNvSpPr>
          <p:nvPr>
            <p:ph type="sldNum" sz="quarter" idx="5"/>
          </p:nvPr>
        </p:nvSpPr>
        <p:spPr/>
        <p:txBody>
          <a:bodyPr/>
          <a:lstStyle/>
          <a:p>
            <a:fld id="{676223B9-C868-4436-87D9-1A3152E1157A}" type="slidenum">
              <a:rPr lang="es-ES" smtClean="0"/>
              <a:t>22</a:t>
            </a:fld>
            <a:endParaRPr lang="es-ES"/>
          </a:p>
        </p:txBody>
      </p:sp>
    </p:spTree>
    <p:extLst>
      <p:ext uri="{BB962C8B-B14F-4D97-AF65-F5344CB8AC3E}">
        <p14:creationId xmlns:p14="http://schemas.microsoft.com/office/powerpoint/2010/main" val="60779760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169CA-A6E9-D0C3-4D3A-6AF90891044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EC97DB9-2632-3700-0312-BB76DC46DEE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A897758-8CC0-1479-13D7-87B5FBD747CB}"/>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5060DEFB-1A44-3354-5B15-298FF8A10085}"/>
              </a:ext>
            </a:extLst>
          </p:cNvPr>
          <p:cNvSpPr>
            <a:spLocks noGrp="1"/>
          </p:cNvSpPr>
          <p:nvPr>
            <p:ph type="sldNum" sz="quarter" idx="5"/>
          </p:nvPr>
        </p:nvSpPr>
        <p:spPr/>
        <p:txBody>
          <a:bodyPr/>
          <a:lstStyle/>
          <a:p>
            <a:fld id="{676223B9-C868-4436-87D9-1A3152E1157A}" type="slidenum">
              <a:rPr lang="es-ES" smtClean="0"/>
              <a:t>23</a:t>
            </a:fld>
            <a:endParaRPr lang="es-ES"/>
          </a:p>
        </p:txBody>
      </p:sp>
    </p:spTree>
    <p:extLst>
      <p:ext uri="{BB962C8B-B14F-4D97-AF65-F5344CB8AC3E}">
        <p14:creationId xmlns:p14="http://schemas.microsoft.com/office/powerpoint/2010/main" val="157645940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C05753-5854-FD6B-3BCB-FE898F6A1FA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80A56F9-26CD-DA97-81F6-90695CF54D2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BC43183-6B3D-E849-3F5A-266BB018362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FBC4AC19-F6EA-CA37-394B-8559516635D3}"/>
              </a:ext>
            </a:extLst>
          </p:cNvPr>
          <p:cNvSpPr>
            <a:spLocks noGrp="1"/>
          </p:cNvSpPr>
          <p:nvPr>
            <p:ph type="sldNum" sz="quarter" idx="5"/>
          </p:nvPr>
        </p:nvSpPr>
        <p:spPr/>
        <p:txBody>
          <a:bodyPr/>
          <a:lstStyle/>
          <a:p>
            <a:fld id="{676223B9-C868-4436-87D9-1A3152E1157A}" type="slidenum">
              <a:rPr lang="es-ES" smtClean="0"/>
              <a:t>24</a:t>
            </a:fld>
            <a:endParaRPr lang="es-ES"/>
          </a:p>
        </p:txBody>
      </p:sp>
    </p:spTree>
    <p:extLst>
      <p:ext uri="{BB962C8B-B14F-4D97-AF65-F5344CB8AC3E}">
        <p14:creationId xmlns:p14="http://schemas.microsoft.com/office/powerpoint/2010/main" val="222152100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C619A-1AF8-F4D8-A805-2607978A160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6C99386-1F51-67B1-E0DF-A24391518D4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900E97D-5D22-EFE8-E3AC-E7FC4DDD5B24}"/>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33893430-4E94-67E6-EBEE-185FE1156BA1}"/>
              </a:ext>
            </a:extLst>
          </p:cNvPr>
          <p:cNvSpPr>
            <a:spLocks noGrp="1"/>
          </p:cNvSpPr>
          <p:nvPr>
            <p:ph type="sldNum" sz="quarter" idx="5"/>
          </p:nvPr>
        </p:nvSpPr>
        <p:spPr/>
        <p:txBody>
          <a:bodyPr/>
          <a:lstStyle/>
          <a:p>
            <a:fld id="{676223B9-C868-4436-87D9-1A3152E1157A}" type="slidenum">
              <a:rPr lang="es-ES" smtClean="0"/>
              <a:t>25</a:t>
            </a:fld>
            <a:endParaRPr lang="es-ES"/>
          </a:p>
        </p:txBody>
      </p:sp>
    </p:spTree>
    <p:extLst>
      <p:ext uri="{BB962C8B-B14F-4D97-AF65-F5344CB8AC3E}">
        <p14:creationId xmlns:p14="http://schemas.microsoft.com/office/powerpoint/2010/main" val="83278603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A19321-D933-5BDF-95C4-B1AB55D3522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ADB4F51-8B8F-9464-F309-315054C63E0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A077157-689F-D5CC-69EA-6DC140BCA781}"/>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99ED8891-F9A8-B420-1EC9-E3707239FC5E}"/>
              </a:ext>
            </a:extLst>
          </p:cNvPr>
          <p:cNvSpPr>
            <a:spLocks noGrp="1"/>
          </p:cNvSpPr>
          <p:nvPr>
            <p:ph type="sldNum" sz="quarter" idx="5"/>
          </p:nvPr>
        </p:nvSpPr>
        <p:spPr/>
        <p:txBody>
          <a:bodyPr/>
          <a:lstStyle/>
          <a:p>
            <a:fld id="{676223B9-C868-4436-87D9-1A3152E1157A}" type="slidenum">
              <a:rPr lang="es-ES" smtClean="0"/>
              <a:t>26</a:t>
            </a:fld>
            <a:endParaRPr lang="es-ES"/>
          </a:p>
        </p:txBody>
      </p:sp>
    </p:spTree>
    <p:extLst>
      <p:ext uri="{BB962C8B-B14F-4D97-AF65-F5344CB8AC3E}">
        <p14:creationId xmlns:p14="http://schemas.microsoft.com/office/powerpoint/2010/main" val="338631071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38759A-698C-76B0-C9A8-F79299087CD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5569393-A1ED-3C0E-A4E0-11D631CD927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85133BF-3619-59F1-429D-A5F1638A5D6F}"/>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1E766EA6-C49F-DDF0-B8AF-FA4785111C7A}"/>
              </a:ext>
            </a:extLst>
          </p:cNvPr>
          <p:cNvSpPr>
            <a:spLocks noGrp="1"/>
          </p:cNvSpPr>
          <p:nvPr>
            <p:ph type="sldNum" sz="quarter" idx="5"/>
          </p:nvPr>
        </p:nvSpPr>
        <p:spPr/>
        <p:txBody>
          <a:bodyPr/>
          <a:lstStyle/>
          <a:p>
            <a:fld id="{676223B9-C868-4436-87D9-1A3152E1157A}" type="slidenum">
              <a:rPr lang="es-ES" smtClean="0"/>
              <a:t>27</a:t>
            </a:fld>
            <a:endParaRPr lang="es-ES"/>
          </a:p>
        </p:txBody>
      </p:sp>
    </p:spTree>
    <p:extLst>
      <p:ext uri="{BB962C8B-B14F-4D97-AF65-F5344CB8AC3E}">
        <p14:creationId xmlns:p14="http://schemas.microsoft.com/office/powerpoint/2010/main" val="148608330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A224CB-2F65-628C-8E4D-D9D9807D6E6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6B531DC-E2F9-DCCB-5770-80A158F52C5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53CD32D-97AC-D12F-CC10-E6A401A6B9C8}"/>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046DF3D8-63D8-2A8A-6D4D-9ACAB94FC015}"/>
              </a:ext>
            </a:extLst>
          </p:cNvPr>
          <p:cNvSpPr>
            <a:spLocks noGrp="1"/>
          </p:cNvSpPr>
          <p:nvPr>
            <p:ph type="sldNum" sz="quarter" idx="5"/>
          </p:nvPr>
        </p:nvSpPr>
        <p:spPr/>
        <p:txBody>
          <a:bodyPr/>
          <a:lstStyle/>
          <a:p>
            <a:fld id="{676223B9-C868-4436-87D9-1A3152E1157A}" type="slidenum">
              <a:rPr lang="es-ES" smtClean="0"/>
              <a:t>28</a:t>
            </a:fld>
            <a:endParaRPr lang="es-ES"/>
          </a:p>
        </p:txBody>
      </p:sp>
    </p:spTree>
    <p:extLst>
      <p:ext uri="{BB962C8B-B14F-4D97-AF65-F5344CB8AC3E}">
        <p14:creationId xmlns:p14="http://schemas.microsoft.com/office/powerpoint/2010/main" val="166585833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D9585F-04C0-A954-7C6B-82A08AEA34E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53625D9-C8CA-AD86-7F93-350271FCD32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4B417AC-BE3B-34E8-A5C9-10C1408BB1C3}"/>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C317486B-89EA-19B9-B76E-CB4A3DCC19CD}"/>
              </a:ext>
            </a:extLst>
          </p:cNvPr>
          <p:cNvSpPr>
            <a:spLocks noGrp="1"/>
          </p:cNvSpPr>
          <p:nvPr>
            <p:ph type="sldNum" sz="quarter" idx="5"/>
          </p:nvPr>
        </p:nvSpPr>
        <p:spPr/>
        <p:txBody>
          <a:bodyPr/>
          <a:lstStyle/>
          <a:p>
            <a:fld id="{676223B9-C868-4436-87D9-1A3152E1157A}" type="slidenum">
              <a:rPr lang="es-ES" smtClean="0"/>
              <a:t>29</a:t>
            </a:fld>
            <a:endParaRPr lang="es-ES"/>
          </a:p>
        </p:txBody>
      </p:sp>
    </p:spTree>
    <p:extLst>
      <p:ext uri="{BB962C8B-B14F-4D97-AF65-F5344CB8AC3E}">
        <p14:creationId xmlns:p14="http://schemas.microsoft.com/office/powerpoint/2010/main" val="289708053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B4F930-0C6F-9DCA-6A3E-34A175C67A0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02641E1-32C0-7CDD-EFF0-1019C4C2333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19F7275-EEAB-C084-7B0C-C6001CA9A337}"/>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2B13728C-D2CB-8938-19B1-E73DF151E034}"/>
              </a:ext>
            </a:extLst>
          </p:cNvPr>
          <p:cNvSpPr>
            <a:spLocks noGrp="1"/>
          </p:cNvSpPr>
          <p:nvPr>
            <p:ph type="sldNum" sz="quarter" idx="5"/>
          </p:nvPr>
        </p:nvSpPr>
        <p:spPr/>
        <p:txBody>
          <a:bodyPr/>
          <a:lstStyle/>
          <a:p>
            <a:fld id="{676223B9-C868-4436-87D9-1A3152E1157A}" type="slidenum">
              <a:rPr lang="es-ES" smtClean="0"/>
              <a:t>30</a:t>
            </a:fld>
            <a:endParaRPr lang="es-ES"/>
          </a:p>
        </p:txBody>
      </p:sp>
    </p:spTree>
    <p:extLst>
      <p:ext uri="{BB962C8B-B14F-4D97-AF65-F5344CB8AC3E}">
        <p14:creationId xmlns:p14="http://schemas.microsoft.com/office/powerpoint/2010/main" val="10301824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4.0. LAYOUT</a:t>
            </a:r>
            <a:endParaRPr spc="-5"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90550" y="206752"/>
            <a:ext cx="10991850" cy="307777"/>
          </a:xfrm>
        </p:spPr>
        <p:txBody>
          <a:bodyPr lIns="0" tIns="0" rIns="0" bIns="0"/>
          <a:lstStyle>
            <a:lvl1pPr>
              <a:defRPr sz="2000" b="1" i="0">
                <a:solidFill>
                  <a:schemeClr val="tx1"/>
                </a:solidFill>
                <a:latin typeface="Calibri"/>
                <a:cs typeface="Calibri"/>
              </a:defRPr>
            </a:lvl1pPr>
          </a:lstStyle>
          <a:p>
            <a:endParaRPr dirty="0"/>
          </a:p>
        </p:txBody>
      </p:sp>
      <p:sp>
        <p:nvSpPr>
          <p:cNvPr id="3" name="Holder 3"/>
          <p:cNvSpPr>
            <a:spLocks noGrp="1"/>
          </p:cNvSpPr>
          <p:nvPr>
            <p:ph type="body" idx="1"/>
          </p:nvPr>
        </p:nvSpPr>
        <p:spPr>
          <a:xfrm>
            <a:off x="609600" y="2152910"/>
            <a:ext cx="10972800" cy="3950710"/>
          </a:xfrm>
        </p:spPr>
        <p:txBody>
          <a:bodyPr lIns="0" tIns="0" rIns="0" bIns="0"/>
          <a:lstStyle>
            <a:lvl1pPr>
              <a:defRPr/>
            </a:lvl1pPr>
          </a:lstStyle>
          <a:p>
            <a:endParaRPr dirty="0"/>
          </a:p>
        </p:txBody>
      </p:sp>
      <p:sp>
        <p:nvSpPr>
          <p:cNvPr id="4" name="Holder 4"/>
          <p:cNvSpPr>
            <a:spLocks noGrp="1"/>
          </p:cNvSpPr>
          <p:nvPr>
            <p:ph type="ftr" sz="quarter" idx="5"/>
          </p:nvPr>
        </p:nvSpPr>
        <p:spPr>
          <a:xfrm>
            <a:off x="609600" y="6457057"/>
            <a:ext cx="2743200" cy="184666"/>
          </a:xfrm>
        </p:spPr>
        <p:txBody>
          <a:bodyPr lIns="0" tIns="0" rIns="0" bIns="0" anchor="ctr"/>
          <a:lstStyle>
            <a:lvl1pPr>
              <a:defRPr sz="1200" b="0" i="0">
                <a:solidFill>
                  <a:srgbClr val="585858"/>
                </a:solidFill>
                <a:latin typeface="Arial"/>
                <a:cs typeface="Arial"/>
              </a:defRPr>
            </a:lvl1pPr>
          </a:lstStyle>
          <a:p>
            <a:pPr marL="12700">
              <a:spcBef>
                <a:spcPts val="15"/>
              </a:spcBef>
            </a:pPr>
            <a:r>
              <a:rPr lang="es-ES" spc="-5"/>
              <a:t>LAB 4.0. LAYOUT</a:t>
            </a:r>
            <a:endParaRPr lang="es-ES" spc="-5" dirty="0"/>
          </a:p>
        </p:txBody>
      </p:sp>
      <p:sp>
        <p:nvSpPr>
          <p:cNvPr id="6" name="Holder 6"/>
          <p:cNvSpPr>
            <a:spLocks noGrp="1"/>
          </p:cNvSpPr>
          <p:nvPr>
            <p:ph type="sldNum" sz="quarter" idx="7"/>
          </p:nvPr>
        </p:nvSpPr>
        <p:spPr>
          <a:xfrm>
            <a:off x="931164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4.0. LAYOUT</a:t>
            </a:r>
            <a:endParaRPr spc="-5"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2636520"/>
            <a:ext cx="3944620" cy="1584960"/>
          </a:xfrm>
          <a:custGeom>
            <a:avLst/>
            <a:gdLst/>
            <a:ahLst/>
            <a:cxnLst/>
            <a:rect l="l" t="t" r="r" b="b"/>
            <a:pathLst>
              <a:path w="3944620" h="1584960">
                <a:moveTo>
                  <a:pt x="0" y="1584959"/>
                </a:moveTo>
                <a:lnTo>
                  <a:pt x="3944112" y="1584959"/>
                </a:lnTo>
                <a:lnTo>
                  <a:pt x="3944112" y="0"/>
                </a:lnTo>
                <a:lnTo>
                  <a:pt x="0" y="0"/>
                </a:lnTo>
                <a:lnTo>
                  <a:pt x="0" y="1584959"/>
                </a:lnTo>
                <a:close/>
              </a:path>
            </a:pathLst>
          </a:custGeom>
          <a:solidFill>
            <a:srgbClr val="000000"/>
          </a:solidFill>
        </p:spPr>
        <p:txBody>
          <a:bodyPr wrap="square" lIns="0" tIns="0" rIns="0" bIns="0" rtlCol="0"/>
          <a:lstStyle/>
          <a:p>
            <a:endParaRPr/>
          </a:p>
        </p:txBody>
      </p:sp>
      <p:sp>
        <p:nvSpPr>
          <p:cNvPr id="17" name="bk object 17"/>
          <p:cNvSpPr/>
          <p:nvPr/>
        </p:nvSpPr>
        <p:spPr>
          <a:xfrm>
            <a:off x="771144" y="2951988"/>
            <a:ext cx="2403348" cy="954024"/>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5" name="Holder 5"/>
          <p:cNvSpPr>
            <a:spLocks noGrp="1"/>
          </p:cNvSpPr>
          <p:nvPr>
            <p:ph type="sldNum" sz="quarter" idx="7"/>
          </p:nvPr>
        </p:nvSpPr>
        <p:spPr>
          <a:xfrm>
            <a:off x="92964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6" name="Gráfico 5">
            <a:extLst>
              <a:ext uri="{FF2B5EF4-FFF2-40B4-BE49-F238E27FC236}">
                <a16:creationId xmlns:a16="http://schemas.microsoft.com/office/drawing/2014/main" id="{F5CB4B75-CC85-5F87-B13B-97FD63FFBC5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891213" y="6357666"/>
            <a:ext cx="6409575" cy="36317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594327" y="4722313"/>
            <a:ext cx="1521016" cy="1253853"/>
          </a:xfrm>
          <a:prstGeom prst="rect">
            <a:avLst/>
          </a:prstGeom>
          <a:blipFill>
            <a:blip r:embed="rId2" cstate="print"/>
            <a:stretch>
              <a:fillRect/>
            </a:stretch>
          </a:blipFill>
        </p:spPr>
        <p:txBody>
          <a:bodyPr wrap="square" lIns="0" tIns="0" rIns="0" bIns="0" rtlCol="0"/>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a:xfrm>
            <a:off x="9372600" y="6377940"/>
            <a:ext cx="2804160" cy="342900"/>
          </a:xfrm>
        </p:spPr>
        <p:txBody>
          <a:bodyPr lIns="0" tIns="0" rIns="0" bIns="0"/>
          <a:lstStyle>
            <a:lvl1pPr algn="r">
              <a:defRPr>
                <a:solidFill>
                  <a:schemeClr val="tx1">
                    <a:tint val="75000"/>
                  </a:schemeClr>
                </a:solidFill>
              </a:defRPr>
            </a:lvl1pPr>
          </a:lstStyle>
          <a:p>
            <a:fld id="{B6F15528-21DE-4FAA-801E-634DDDAF4B2B}" type="slidenum">
              <a:t>‹Nº›</a:t>
            </a:fld>
            <a:endParaRPr/>
          </a:p>
        </p:txBody>
      </p:sp>
      <p:pic>
        <p:nvPicPr>
          <p:cNvPr id="5" name="Gráfico 4">
            <a:extLst>
              <a:ext uri="{FF2B5EF4-FFF2-40B4-BE49-F238E27FC236}">
                <a16:creationId xmlns:a16="http://schemas.microsoft.com/office/drawing/2014/main" id="{9F3DE434-B07E-429D-5547-0D42DA9B05A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Texto simple">
    <p:spTree>
      <p:nvGrpSpPr>
        <p:cNvPr id="1" name=""/>
        <p:cNvGrpSpPr/>
        <p:nvPr/>
      </p:nvGrpSpPr>
      <p:grpSpPr>
        <a:xfrm>
          <a:off x="0" y="0"/>
          <a:ext cx="0" cy="0"/>
          <a:chOff x="0" y="0"/>
          <a:chExt cx="0" cy="0"/>
        </a:xfrm>
      </p:grpSpPr>
      <p:sp>
        <p:nvSpPr>
          <p:cNvPr id="6" name="Rectangle 47"/>
          <p:cNvSpPr/>
          <p:nvPr userDrawn="1"/>
        </p:nvSpPr>
        <p:spPr>
          <a:xfrm>
            <a:off x="608171" y="381001"/>
            <a:ext cx="45731" cy="68349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Título 8"/>
          <p:cNvSpPr>
            <a:spLocks noGrp="1"/>
          </p:cNvSpPr>
          <p:nvPr>
            <p:ph type="title" hasCustomPrompt="1"/>
          </p:nvPr>
        </p:nvSpPr>
        <p:spPr>
          <a:xfrm>
            <a:off x="736652" y="381000"/>
            <a:ext cx="7778317" cy="313782"/>
          </a:xfrm>
        </p:spPr>
        <p:txBody>
          <a:bodyPr>
            <a:normAutofit/>
          </a:bodyPr>
          <a:lstStyle>
            <a:lvl1pPr algn="l">
              <a:defRPr sz="2800" b="1" i="0" baseline="0">
                <a:solidFill>
                  <a:schemeClr val="tx1">
                    <a:lumMod val="65000"/>
                    <a:lumOff val="35000"/>
                  </a:schemeClr>
                </a:solidFill>
                <a:latin typeface="Calibri" panose="020F0502020204030204" pitchFamily="34" charset="0"/>
                <a:ea typeface="Open Sans Extrabold" panose="020B0906030804020204" pitchFamily="34" charset="0"/>
                <a:cs typeface="Calibri" panose="020F0502020204030204" pitchFamily="34" charset="0"/>
              </a:defRPr>
            </a:lvl1pPr>
          </a:lstStyle>
          <a:p>
            <a:r>
              <a:rPr lang="es-ES" dirty="0"/>
              <a:t>TITULO</a:t>
            </a:r>
          </a:p>
        </p:txBody>
      </p:sp>
      <p:sp>
        <p:nvSpPr>
          <p:cNvPr id="13" name="Marcador de texto 12"/>
          <p:cNvSpPr>
            <a:spLocks noGrp="1"/>
          </p:cNvSpPr>
          <p:nvPr>
            <p:ph type="body" sz="quarter" idx="10" hasCustomPrompt="1"/>
          </p:nvPr>
        </p:nvSpPr>
        <p:spPr>
          <a:xfrm>
            <a:off x="608171" y="1295401"/>
            <a:ext cx="11051877" cy="4958137"/>
          </a:xfrm>
        </p:spPr>
        <p:txBody>
          <a:bodyPr>
            <a:normAutofit/>
          </a:bodyPr>
          <a:lstStyle>
            <a:lvl1pPr>
              <a:defRPr sz="2400" baseline="0">
                <a:latin typeface="Calibri" panose="020F0502020204030204" pitchFamily="34" charset="0"/>
                <a:ea typeface="Open Sans Light" panose="020B0306030504020204" pitchFamily="34" charset="0"/>
                <a:cs typeface="Calibri" panose="020F0502020204030204" pitchFamily="34" charset="0"/>
              </a:defRPr>
            </a:lvl1pPr>
            <a:lvl2pPr>
              <a:defRPr sz="1800">
                <a:latin typeface="Calibri" panose="020F0502020204030204" pitchFamily="34" charset="0"/>
                <a:ea typeface="Open Sans Light" panose="020B0306030504020204" pitchFamily="34" charset="0"/>
                <a:cs typeface="Calibri" panose="020F0502020204030204" pitchFamily="34" charset="0"/>
              </a:defRPr>
            </a:lvl2pPr>
            <a:lvl3pPr>
              <a:defRPr sz="1600">
                <a:latin typeface="Calibri" panose="020F0502020204030204" pitchFamily="34" charset="0"/>
                <a:ea typeface="Open Sans Light" panose="020B0306030504020204" pitchFamily="34" charset="0"/>
                <a:cs typeface="Calibri" panose="020F0502020204030204" pitchFamily="34" charset="0"/>
              </a:defRPr>
            </a:lvl3pPr>
            <a:lvl4pPr>
              <a:defRPr sz="1400">
                <a:latin typeface="Calibri" panose="020F0502020204030204" pitchFamily="34" charset="0"/>
                <a:ea typeface="Open Sans Light" panose="020B0306030504020204" pitchFamily="34" charset="0"/>
                <a:cs typeface="Calibri" panose="020F0502020204030204" pitchFamily="34" charset="0"/>
              </a:defRPr>
            </a:lvl4pPr>
            <a:lvl5pPr>
              <a:defRPr sz="1400">
                <a:latin typeface="Calibri" panose="020F0502020204030204" pitchFamily="34" charset="0"/>
                <a:ea typeface="Open Sans Light" panose="020B0306030504020204" pitchFamily="34" charset="0"/>
                <a:cs typeface="Calibri" panose="020F0502020204030204" pitchFamily="34" charset="0"/>
              </a:defRPr>
            </a:lvl5pPr>
          </a:lstStyle>
          <a:p>
            <a:pPr lvl="0"/>
            <a:r>
              <a:rPr lang="es-ES" dirty="0"/>
              <a:t>Texto del contenido</a:t>
            </a:r>
          </a:p>
          <a:p>
            <a:pPr lvl="1"/>
            <a:r>
              <a:rPr lang="es-ES" dirty="0"/>
              <a:t>Segundo nivel</a:t>
            </a:r>
          </a:p>
          <a:p>
            <a:pPr lvl="2"/>
            <a:r>
              <a:rPr lang="es-ES" dirty="0"/>
              <a:t>Tercer nivel</a:t>
            </a:r>
          </a:p>
          <a:p>
            <a:pPr lvl="3"/>
            <a:r>
              <a:rPr lang="es-ES" dirty="0"/>
              <a:t>Cuarto nivel</a:t>
            </a:r>
          </a:p>
          <a:p>
            <a:pPr lvl="4"/>
            <a:r>
              <a:rPr lang="es-ES" dirty="0"/>
              <a:t>Quinto nivel</a:t>
            </a:r>
          </a:p>
        </p:txBody>
      </p:sp>
      <p:sp>
        <p:nvSpPr>
          <p:cNvPr id="23" name="Marcador de texto 22"/>
          <p:cNvSpPr>
            <a:spLocks noGrp="1"/>
          </p:cNvSpPr>
          <p:nvPr>
            <p:ph type="body" sz="quarter" idx="11" hasCustomPrompt="1"/>
          </p:nvPr>
        </p:nvSpPr>
        <p:spPr>
          <a:xfrm>
            <a:off x="736652" y="730647"/>
            <a:ext cx="7778317" cy="381000"/>
          </a:xfrm>
        </p:spPr>
        <p:txBody>
          <a:bodyPr>
            <a:noAutofit/>
          </a:bodyPr>
          <a:lstStyle>
            <a:lvl1pPr marL="0" indent="0">
              <a:buNone/>
              <a:defRPr sz="2000">
                <a:latin typeface="Calibri" panose="020F0502020204030204" pitchFamily="34" charset="0"/>
                <a:ea typeface="Open Sans Light" panose="020B0306030504020204" pitchFamily="34" charset="0"/>
                <a:cs typeface="Calibri" panose="020F0502020204030204" pitchFamily="34" charset="0"/>
              </a:defRPr>
            </a:lvl1pPr>
          </a:lstStyle>
          <a:p>
            <a:pPr lvl="0"/>
            <a:r>
              <a:rPr lang="es-ES" dirty="0"/>
              <a:t>Subtítulo del artículo con una explicación corta a modo resumen</a:t>
            </a:r>
          </a:p>
        </p:txBody>
      </p:sp>
      <p:sp>
        <p:nvSpPr>
          <p:cNvPr id="11" name="Date Placeholder 3"/>
          <p:cNvSpPr>
            <a:spLocks noGrp="1"/>
          </p:cNvSpPr>
          <p:nvPr>
            <p:ph type="dt" sz="half" idx="2"/>
          </p:nvPr>
        </p:nvSpPr>
        <p:spPr>
          <a:xfrm>
            <a:off x="609600" y="6387407"/>
            <a:ext cx="1980287" cy="303019"/>
          </a:xfrm>
          <a:prstGeom prst="rect">
            <a:avLst/>
          </a:prstGeom>
        </p:spPr>
        <p:txBody>
          <a:bodyPr vert="horz" lIns="117208" tIns="58604" rIns="117208" bIns="58604" rtlCol="0" anchor="ctr"/>
          <a:lstStyle>
            <a:lvl1pPr algn="l">
              <a:defRPr sz="1200">
                <a:solidFill>
                  <a:schemeClr val="tx1">
                    <a:tint val="75000"/>
                  </a:schemeClr>
                </a:solidFill>
              </a:defRPr>
            </a:lvl1pPr>
          </a:lstStyle>
          <a:p>
            <a:endParaRPr lang="en-US" dirty="0"/>
          </a:p>
        </p:txBody>
      </p:sp>
      <p:sp>
        <p:nvSpPr>
          <p:cNvPr id="12" name="Footer Placeholder 4"/>
          <p:cNvSpPr>
            <a:spLocks noGrp="1"/>
          </p:cNvSpPr>
          <p:nvPr>
            <p:ph type="ftr" sz="quarter" idx="3"/>
          </p:nvPr>
        </p:nvSpPr>
        <p:spPr>
          <a:xfrm>
            <a:off x="2894768" y="6387407"/>
            <a:ext cx="6402465" cy="303019"/>
          </a:xfrm>
          <a:prstGeom prst="rect">
            <a:avLst/>
          </a:prstGeom>
        </p:spPr>
        <p:txBody>
          <a:bodyPr vert="horz" lIns="117208" tIns="58604" rIns="117208" bIns="58604" rtlCol="0" anchor="ctr"/>
          <a:lstStyle>
            <a:lvl1pPr algn="ctr">
              <a:defRPr sz="1200">
                <a:solidFill>
                  <a:schemeClr val="tx1">
                    <a:tint val="75000"/>
                  </a:schemeClr>
                </a:solidFill>
              </a:defRPr>
            </a:lvl1pPr>
          </a:lstStyle>
          <a:p>
            <a:r>
              <a:rPr lang="en-US"/>
              <a:t>LAB 4.0. LAYOUT</a:t>
            </a:r>
          </a:p>
        </p:txBody>
      </p:sp>
      <p:sp>
        <p:nvSpPr>
          <p:cNvPr id="14" name="Slide Number Placeholder 5"/>
          <p:cNvSpPr>
            <a:spLocks noGrp="1"/>
          </p:cNvSpPr>
          <p:nvPr>
            <p:ph type="sldNum" sz="quarter" idx="4"/>
          </p:nvPr>
        </p:nvSpPr>
        <p:spPr>
          <a:xfrm>
            <a:off x="11431389" y="6388096"/>
            <a:ext cx="760611" cy="303019"/>
          </a:xfrm>
          <a:prstGeom prst="rect">
            <a:avLst/>
          </a:prstGeom>
          <a:solidFill>
            <a:schemeClr val="bg2"/>
          </a:solidFill>
        </p:spPr>
        <p:txBody>
          <a:bodyPr vert="horz" lIns="117208" tIns="58604" rIns="117208" bIns="58604" rtlCol="0" anchor="ctr"/>
          <a:lstStyle>
            <a:lvl1pPr algn="r">
              <a:defRPr sz="1200">
                <a:solidFill>
                  <a:srgbClr val="FF6309"/>
                </a:solidFill>
              </a:defRPr>
            </a:lvl1pPr>
          </a:lstStyle>
          <a:p>
            <a:fld id="{C2F52289-4012-4053-9770-FE82CEB9514F}" type="slidenum">
              <a:rPr lang="en-US" smtClean="0"/>
              <a:pPr/>
              <a:t>‹Nº›</a:t>
            </a:fld>
            <a:endParaRPr lang="en-US" dirty="0"/>
          </a:p>
        </p:txBody>
      </p:sp>
    </p:spTree>
    <p:extLst>
      <p:ext uri="{BB962C8B-B14F-4D97-AF65-F5344CB8AC3E}">
        <p14:creationId xmlns:p14="http://schemas.microsoft.com/office/powerpoint/2010/main" val="3024640384"/>
      </p:ext>
    </p:extLst>
  </p:cSld>
  <p:clrMapOvr>
    <a:masterClrMapping/>
  </p:clrMapOvr>
  <p:extLst>
    <p:ext uri="{DCECCB84-F9BA-43D5-87BE-67443E8EF086}">
      <p15:sldGuideLst xmlns:p15="http://schemas.microsoft.com/office/powerpoint/2012/main">
        <p15:guide id="1" orient="horz" pos="2160">
          <p15:clr>
            <a:srgbClr val="FBAE40"/>
          </p15:clr>
        </p15:guide>
        <p15:guide id="2" pos="3839">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891539" y="5283707"/>
            <a:ext cx="2624328" cy="1574289"/>
          </a:xfrm>
          <a:prstGeom prst="rect">
            <a:avLst/>
          </a:prstGeom>
          <a:blipFill>
            <a:blip r:embed="rId8" cstate="print"/>
            <a:stretch>
              <a:fillRect/>
            </a:stretch>
          </a:blipFill>
        </p:spPr>
        <p:txBody>
          <a:bodyPr wrap="square" lIns="0" tIns="0" rIns="0" bIns="0" rtlCol="0"/>
          <a:lstStyle/>
          <a:p>
            <a:endParaRPr/>
          </a:p>
        </p:txBody>
      </p:sp>
      <p:sp>
        <p:nvSpPr>
          <p:cNvPr id="2" name="Holder 2"/>
          <p:cNvSpPr>
            <a:spLocks noGrp="1"/>
          </p:cNvSpPr>
          <p:nvPr>
            <p:ph type="title"/>
          </p:nvPr>
        </p:nvSpPr>
        <p:spPr>
          <a:xfrm>
            <a:off x="3986910" y="1699005"/>
            <a:ext cx="2599054" cy="269239"/>
          </a:xfrm>
          <a:prstGeom prst="rect">
            <a:avLst/>
          </a:prstGeom>
        </p:spPr>
        <p:txBody>
          <a:bodyPr wrap="square" lIns="0" tIns="0" rIns="0" bIns="0">
            <a:spAutoFit/>
          </a:bodyPr>
          <a:lstStyle>
            <a:lvl1pPr>
              <a:defRPr sz="1600" b="0" i="0">
                <a:solidFill>
                  <a:schemeClr val="tx1"/>
                </a:solidFill>
                <a:latin typeface="Calibri"/>
                <a:cs typeface="Calibri"/>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5695950" y="6465068"/>
            <a:ext cx="1210945" cy="153670"/>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4.0. LAYOUT</a:t>
            </a:r>
            <a:endParaRPr spc="-5" dirty="0"/>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a:xfrm>
            <a:off x="93116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‹Nº›</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hyperlink" Target="https://github.com/pascualmunoz/cifoin-lab4.git" TargetMode="External"/><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9.png"/></Relationships>
</file>

<file path=ppt/slides/_rels/slide1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1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2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2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8.png"/></Relationships>
</file>

<file path=ppt/slides/_rels/slide2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5.xml"/><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png"/></Relationships>
</file>

<file path=ppt/slides/_rels/slide2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32.png"/></Relationships>
</file>

<file path=ppt/slides/_rels/slide2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image" Target="../media/image34.png"/></Relationships>
</file>

<file path=ppt/slides/_rels/slide3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3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749676" y="4919853"/>
            <a:ext cx="9213724" cy="505267"/>
          </a:xfrm>
          <a:prstGeom prst="rect">
            <a:avLst/>
          </a:prstGeom>
        </p:spPr>
        <p:txBody>
          <a:bodyPr vert="horz" wrap="square" lIns="0" tIns="12700" rIns="0" bIns="0" rtlCol="0">
            <a:spAutoFit/>
          </a:bodyPr>
          <a:lstStyle/>
          <a:p>
            <a:pPr marL="12700">
              <a:lnSpc>
                <a:spcPct val="100000"/>
              </a:lnSpc>
              <a:spcBef>
                <a:spcPts val="100"/>
              </a:spcBef>
            </a:pPr>
            <a:r>
              <a:rPr lang="es-ES" sz="3200" b="1" dirty="0">
                <a:latin typeface="Lucida Sans"/>
                <a:cs typeface="Lucida Sans"/>
              </a:rPr>
              <a:t>Lab Book 3.0 Circuits and Compact </a:t>
            </a:r>
            <a:r>
              <a:rPr lang="es-ES" sz="3200" b="1" dirty="0" err="1">
                <a:latin typeface="Lucida Sans"/>
                <a:cs typeface="Lucida Sans"/>
              </a:rPr>
              <a:t>Models</a:t>
            </a:r>
            <a:endParaRPr sz="3200" dirty="0">
              <a:latin typeface="Lucida Sans"/>
              <a:cs typeface="Lucida Sans"/>
            </a:endParaRPr>
          </a:p>
        </p:txBody>
      </p:sp>
      <p:sp>
        <p:nvSpPr>
          <p:cNvPr id="4" name="object 4"/>
          <p:cNvSpPr txBox="1"/>
          <p:nvPr/>
        </p:nvSpPr>
        <p:spPr>
          <a:xfrm>
            <a:off x="2749676" y="5610250"/>
            <a:ext cx="8223124" cy="289823"/>
          </a:xfrm>
          <a:prstGeom prst="rect">
            <a:avLst/>
          </a:prstGeom>
        </p:spPr>
        <p:txBody>
          <a:bodyPr vert="horz" wrap="square" lIns="0" tIns="12700" rIns="0" bIns="0" rtlCol="0">
            <a:spAutoFit/>
          </a:bodyPr>
          <a:lstStyle/>
          <a:p>
            <a:pPr marL="12700">
              <a:lnSpc>
                <a:spcPct val="100000"/>
              </a:lnSpc>
              <a:spcBef>
                <a:spcPts val="100"/>
              </a:spcBef>
            </a:pPr>
            <a:r>
              <a:rPr lang="es-ES" spc="165" dirty="0" err="1">
                <a:latin typeface="Arial"/>
                <a:cs typeface="Arial"/>
              </a:rPr>
              <a:t>Student</a:t>
            </a:r>
            <a:r>
              <a:rPr lang="es-ES" spc="165" dirty="0">
                <a:latin typeface="Arial"/>
                <a:cs typeface="Arial"/>
              </a:rPr>
              <a:t>: </a:t>
            </a:r>
            <a:endParaRPr sz="1800" dirty="0">
              <a:latin typeface="Arial"/>
              <a:cs typeface="Arial"/>
            </a:endParaRPr>
          </a:p>
        </p:txBody>
      </p:sp>
      <p:sp>
        <p:nvSpPr>
          <p:cNvPr id="5" name="object 5"/>
          <p:cNvSpPr/>
          <p:nvPr/>
        </p:nvSpPr>
        <p:spPr>
          <a:xfrm>
            <a:off x="0" y="0"/>
            <a:ext cx="12192000" cy="4189476"/>
          </a:xfrm>
          <a:prstGeom prst="rect">
            <a:avLst/>
          </a:prstGeom>
          <a:blipFill>
            <a:blip r:embed="rId2" cstate="print"/>
            <a:stretch>
              <a:fillRect/>
            </a:stretch>
          </a:blipFill>
        </p:spPr>
        <p:txBody>
          <a:bodyPr wrap="square" lIns="0" tIns="0" rIns="0" bIns="0" rtlCol="0"/>
          <a:lstStyle/>
          <a:p>
            <a:endParaRPr/>
          </a:p>
        </p:txBody>
      </p:sp>
      <p:sp>
        <p:nvSpPr>
          <p:cNvPr id="7" name="Marcador de número de diapositiva 6">
            <a:extLst>
              <a:ext uri="{FF2B5EF4-FFF2-40B4-BE49-F238E27FC236}">
                <a16:creationId xmlns:a16="http://schemas.microsoft.com/office/drawing/2014/main" id="{F6F66F51-9238-50FE-85C2-BAC3DA79D767}"/>
              </a:ext>
            </a:extLst>
          </p:cNvPr>
          <p:cNvSpPr>
            <a:spLocks noGrp="1"/>
          </p:cNvSpPr>
          <p:nvPr>
            <p:ph type="sldNum" sz="quarter" idx="7"/>
          </p:nvPr>
        </p:nvSpPr>
        <p:spPr/>
        <p:txBody>
          <a:bodyPr/>
          <a:lstStyle/>
          <a:p>
            <a:fld id="{B6F15528-21DE-4FAA-801E-634DDDAF4B2B}" type="slidenum">
              <a:rPr lang="es-ES" smtClean="0"/>
              <a:t>1</a:t>
            </a:fld>
            <a:endParaRPr lang="es-E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8A4D4-C3C4-085B-A7AD-EA04D83F48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B7433F1-7A0E-D925-6140-7305139D053A}"/>
              </a:ext>
            </a:extLst>
          </p:cNvPr>
          <p:cNvSpPr txBox="1">
            <a:spLocks noGrp="1"/>
          </p:cNvSpPr>
          <p:nvPr>
            <p:ph type="title"/>
          </p:nvPr>
        </p:nvSpPr>
        <p:spPr>
          <a:xfrm>
            <a:off x="685800" y="408883"/>
            <a:ext cx="6153785" cy="705321"/>
          </a:xfrm>
          <a:prstGeom prst="rect">
            <a:avLst/>
          </a:prstGeom>
        </p:spPr>
        <p:txBody>
          <a:bodyPr vert="horz" wrap="square" lIns="0" tIns="12700" rIns="0" bIns="0" rtlCol="0">
            <a:spAutoFit/>
          </a:bodyPr>
          <a:lstStyle/>
          <a:p>
            <a:pPr marL="12700">
              <a:lnSpc>
                <a:spcPct val="100000"/>
              </a:lnSpc>
              <a:spcBef>
                <a:spcPts val="100"/>
              </a:spcBef>
            </a:pPr>
            <a:r>
              <a:rPr lang="es-ES" sz="2500" u="sng" spc="-5" dirty="0" err="1">
                <a:latin typeface="+mj-lt"/>
                <a:cs typeface="Lucida Sans"/>
              </a:rPr>
              <a:t>Instructions</a:t>
            </a:r>
            <a:br>
              <a:rPr lang="es-ES" sz="2400" spc="-5" dirty="0">
                <a:latin typeface="+mj-lt"/>
                <a:cs typeface="Lucida Sans"/>
              </a:rPr>
            </a:br>
            <a:r>
              <a:rPr lang="es-ES" b="0" spc="-5" dirty="0">
                <a:latin typeface="+mj-lt"/>
                <a:cs typeface="Lucida Sans"/>
              </a:rPr>
              <a:t>General</a:t>
            </a:r>
            <a:endParaRPr sz="2400" b="0" dirty="0">
              <a:latin typeface="+mj-lt"/>
              <a:cs typeface="Lucida Sans"/>
            </a:endParaRPr>
          </a:p>
        </p:txBody>
      </p:sp>
      <p:pic>
        <p:nvPicPr>
          <p:cNvPr id="83" name="Gráfico 82">
            <a:extLst>
              <a:ext uri="{FF2B5EF4-FFF2-40B4-BE49-F238E27FC236}">
                <a16:creationId xmlns:a16="http://schemas.microsoft.com/office/drawing/2014/main" id="{E518E73B-CE22-A00C-9C86-634FB762EE6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1E163A6B-DFE4-C67D-5F3E-A56ACEF2EA4C}"/>
              </a:ext>
            </a:extLst>
          </p:cNvPr>
          <p:cNvSpPr>
            <a:spLocks noGrp="1"/>
          </p:cNvSpPr>
          <p:nvPr>
            <p:ph type="sldNum" sz="quarter" idx="7"/>
          </p:nvPr>
        </p:nvSpPr>
        <p:spPr/>
        <p:txBody>
          <a:bodyPr/>
          <a:lstStyle/>
          <a:p>
            <a:fld id="{B6F15528-21DE-4FAA-801E-634DDDAF4B2B}" type="slidenum">
              <a:rPr lang="es-ES" smtClean="0"/>
              <a:t>2</a:t>
            </a:fld>
            <a:endParaRPr lang="es-ES"/>
          </a:p>
        </p:txBody>
      </p:sp>
      <p:sp>
        <p:nvSpPr>
          <p:cNvPr id="3" name="Marcador de pie de página 2">
            <a:extLst>
              <a:ext uri="{FF2B5EF4-FFF2-40B4-BE49-F238E27FC236}">
                <a16:creationId xmlns:a16="http://schemas.microsoft.com/office/drawing/2014/main" id="{95FC84FF-30D3-FDAB-0A5A-0F07F8EE1161}"/>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4" name="Marcador de texto 2">
            <a:extLst>
              <a:ext uri="{FF2B5EF4-FFF2-40B4-BE49-F238E27FC236}">
                <a16:creationId xmlns:a16="http://schemas.microsoft.com/office/drawing/2014/main" id="{9F7BC140-B3D8-C3CB-55AD-9064C7CDE9CA}"/>
              </a:ext>
            </a:extLst>
          </p:cNvPr>
          <p:cNvSpPr txBox="1">
            <a:spLocks/>
          </p:cNvSpPr>
          <p:nvPr/>
        </p:nvSpPr>
        <p:spPr>
          <a:xfrm>
            <a:off x="608011" y="1163263"/>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en-US" sz="2000" b="1" kern="0" dirty="0">
                <a:solidFill>
                  <a:sysClr val="windowText" lastClr="000000"/>
                </a:solidFill>
                <a:sym typeface="Wingdings" pitchFamily="2" charset="2"/>
              </a:rPr>
              <a:t>SCRIPTS</a:t>
            </a:r>
          </a:p>
          <a:p>
            <a:pPr marL="342900" indent="-342900" algn="just">
              <a:buFont typeface="Arial" panose="020B0604020202020204" pitchFamily="34" charset="0"/>
              <a:buChar char="•"/>
            </a:pPr>
            <a:r>
              <a:rPr lang="en-US" kern="0" dirty="0">
                <a:solidFill>
                  <a:sysClr val="windowText" lastClr="000000"/>
                </a:solidFill>
                <a:sym typeface="Wingdings" pitchFamily="2" charset="2"/>
              </a:rPr>
              <a:t>From 	GitHub  </a:t>
            </a: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Fork the repo: </a:t>
            </a:r>
            <a:r>
              <a:rPr lang="en-US" kern="0" dirty="0">
                <a:solidFill>
                  <a:sysClr val="windowText" lastClr="000000"/>
                </a:solidFill>
                <a:sym typeface="Wingdings" pitchFamily="2" charset="2"/>
                <a:hlinkClick r:id="rId3"/>
              </a:rPr>
              <a:t>https://github.com/pascualmunoz/cifoin-lab4.git</a:t>
            </a:r>
            <a:endParaRPr lang="en-US" kern="0" dirty="0">
              <a:solidFill>
                <a:sysClr val="windowText" lastClr="000000"/>
              </a:solidFill>
              <a:sym typeface="Wingdings" pitchFamily="2" charset="2"/>
            </a:endParaRP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Clone the repo using </a:t>
            </a:r>
            <a:r>
              <a:rPr lang="en-US" kern="0" dirty="0" err="1">
                <a:solidFill>
                  <a:sysClr val="windowText" lastClr="000000"/>
                </a:solidFill>
                <a:sym typeface="Wingdings" pitchFamily="2" charset="2"/>
              </a:rPr>
              <a:t>VSCode</a:t>
            </a:r>
            <a:endParaRPr lang="en-US" kern="0" dirty="0">
              <a:solidFill>
                <a:sysClr val="windowText" lastClr="000000"/>
              </a:solidFill>
              <a:sym typeface="Wingdings" pitchFamily="2" charset="2"/>
            </a:endParaRP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Open folder / repo in </a:t>
            </a:r>
            <a:r>
              <a:rPr lang="en-US" kern="0" dirty="0" err="1">
                <a:solidFill>
                  <a:sysClr val="windowText" lastClr="000000"/>
                </a:solidFill>
                <a:sym typeface="Wingdings" pitchFamily="2" charset="2"/>
              </a:rPr>
              <a:t>VSCode</a:t>
            </a:r>
            <a:endParaRPr lang="en-US" kern="0" dirty="0">
              <a:solidFill>
                <a:sysClr val="windowText" lastClr="000000"/>
              </a:solidFill>
              <a:sym typeface="Wingdings" pitchFamily="2" charset="2"/>
            </a:endParaRP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Open terminal: </a:t>
            </a:r>
            <a:r>
              <a:rPr lang="en-US" kern="0" dirty="0" err="1">
                <a:solidFill>
                  <a:sysClr val="windowText" lastClr="000000"/>
                </a:solidFill>
                <a:sym typeface="Wingdings" pitchFamily="2" charset="2"/>
              </a:rPr>
              <a:t>uv</a:t>
            </a:r>
            <a:r>
              <a:rPr lang="en-US" kern="0" dirty="0">
                <a:solidFill>
                  <a:sysClr val="windowText" lastClr="000000"/>
                </a:solidFill>
                <a:sym typeface="Wingdings" pitchFamily="2" charset="2"/>
              </a:rPr>
              <a:t> sync</a:t>
            </a:r>
          </a:p>
          <a:p>
            <a:pPr marL="342900" indent="-342900" algn="just">
              <a:buFont typeface="Arial" panose="020B0604020202020204" pitchFamily="34" charset="0"/>
              <a:buChar char="•"/>
            </a:pPr>
            <a:r>
              <a:rPr lang="en-US" kern="0" dirty="0">
                <a:solidFill>
                  <a:sysClr val="windowText" lastClr="000000"/>
                </a:solidFill>
              </a:rPr>
              <a:t>Run the </a:t>
            </a:r>
            <a:r>
              <a:rPr lang="en-US" kern="0" dirty="0" err="1">
                <a:solidFill>
                  <a:sysClr val="windowText" lastClr="000000"/>
                </a:solidFill>
              </a:rPr>
              <a:t>Jupyter</a:t>
            </a:r>
            <a:r>
              <a:rPr lang="en-US" kern="0" dirty="0">
                <a:solidFill>
                  <a:sysClr val="windowText" lastClr="000000"/>
                </a:solidFill>
              </a:rPr>
              <a:t> Notebook: </a:t>
            </a:r>
          </a:p>
          <a:p>
            <a:pPr marL="800100" lvl="1" indent="-342900" algn="just">
              <a:buFont typeface="Arial" panose="020B0604020202020204" pitchFamily="34" charset="0"/>
              <a:buChar char="•"/>
            </a:pPr>
            <a:r>
              <a:rPr lang="en-US" kern="0" dirty="0" err="1">
                <a:solidFill>
                  <a:sysClr val="windowText" lastClr="000000"/>
                </a:solidFill>
              </a:rPr>
              <a:t>LAYOUT_STUDENT.ipynb</a:t>
            </a:r>
            <a:r>
              <a:rPr lang="en-US" kern="0" dirty="0">
                <a:solidFill>
                  <a:sysClr val="windowText" lastClr="000000"/>
                </a:solidFill>
              </a:rPr>
              <a:t> </a:t>
            </a:r>
          </a:p>
          <a:p>
            <a:pPr marL="342900" indent="-342900" algn="just">
              <a:buFont typeface="Arial" panose="020B0604020202020204" pitchFamily="34" charset="0"/>
              <a:buChar char="•"/>
            </a:pPr>
            <a:endParaRPr lang="en-US" kern="0" dirty="0">
              <a:solidFill>
                <a:sysClr val="windowText" lastClr="000000"/>
              </a:solidFill>
            </a:endParaRPr>
          </a:p>
          <a:p>
            <a:pPr marL="342900" indent="-342900" algn="just">
              <a:buFont typeface="Arial" panose="020B0604020202020204" pitchFamily="34" charset="0"/>
              <a:buChar char="•"/>
            </a:pPr>
            <a:r>
              <a:rPr lang="en-US" b="1" kern="0" dirty="0">
                <a:solidFill>
                  <a:srgbClr val="FF0000"/>
                </a:solidFill>
              </a:rPr>
              <a:t>Points</a:t>
            </a:r>
          </a:p>
          <a:p>
            <a:pPr marL="800100" lvl="1" indent="-342900" algn="just">
              <a:buFont typeface="Arial" panose="020B0604020202020204" pitchFamily="34" charset="0"/>
              <a:buChar char="•"/>
            </a:pPr>
            <a:r>
              <a:rPr lang="en-US" b="1" kern="0" dirty="0">
                <a:solidFill>
                  <a:srgbClr val="FF0000"/>
                </a:solidFill>
              </a:rPr>
              <a:t>LO1: 3 points</a:t>
            </a:r>
          </a:p>
          <a:p>
            <a:pPr marL="800100" lvl="1" indent="-342900" algn="just">
              <a:buFont typeface="Arial" panose="020B0604020202020204" pitchFamily="34" charset="0"/>
              <a:buChar char="•"/>
            </a:pPr>
            <a:r>
              <a:rPr lang="en-US" b="1" kern="0" dirty="0">
                <a:solidFill>
                  <a:srgbClr val="FF0000"/>
                </a:solidFill>
              </a:rPr>
              <a:t>LO2: 3 points</a:t>
            </a:r>
          </a:p>
          <a:p>
            <a:pPr marL="800100" lvl="1" indent="-342900" algn="just">
              <a:buFont typeface="Arial" panose="020B0604020202020204" pitchFamily="34" charset="0"/>
              <a:buChar char="•"/>
            </a:pPr>
            <a:r>
              <a:rPr lang="en-US" b="1" kern="0" dirty="0">
                <a:solidFill>
                  <a:srgbClr val="FF0000"/>
                </a:solidFill>
              </a:rPr>
              <a:t>LO3: 1 points</a:t>
            </a:r>
          </a:p>
          <a:p>
            <a:pPr marL="800100" lvl="1" indent="-342900" algn="just">
              <a:buFont typeface="Arial" panose="020B0604020202020204" pitchFamily="34" charset="0"/>
              <a:buChar char="•"/>
            </a:pPr>
            <a:r>
              <a:rPr lang="en-US" b="1" kern="0" dirty="0">
                <a:solidFill>
                  <a:srgbClr val="FF0000"/>
                </a:solidFill>
              </a:rPr>
              <a:t>LO4: 3 points</a:t>
            </a:r>
          </a:p>
          <a:p>
            <a:pPr algn="just"/>
            <a:endParaRPr lang="en-US" b="1" i="1" dirty="0"/>
          </a:p>
          <a:p>
            <a:pPr algn="just"/>
            <a:endParaRPr lang="en-US" sz="2000" b="1" i="1" dirty="0"/>
          </a:p>
          <a:p>
            <a:pPr algn="just"/>
            <a:endParaRPr lang="en-US" sz="2000" kern="0" dirty="0">
              <a:solidFill>
                <a:sysClr val="windowText" lastClr="000000"/>
              </a:solidFill>
            </a:endParaRPr>
          </a:p>
        </p:txBody>
      </p:sp>
    </p:spTree>
    <p:extLst>
      <p:ext uri="{BB962C8B-B14F-4D97-AF65-F5344CB8AC3E}">
        <p14:creationId xmlns:p14="http://schemas.microsoft.com/office/powerpoint/2010/main" val="5602346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71E1424-6C4B-2D9A-1352-30AFB987AD41}"/>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#1a – Notebook section 1. Technology</a:t>
            </a:r>
            <a:br>
              <a:rPr lang="es-ES" sz="2500" spc="-5" dirty="0">
                <a:latin typeface="+mj-lt"/>
                <a:cs typeface="Lucida Sans"/>
              </a:rPr>
            </a:br>
            <a:r>
              <a:rPr lang="es-ES" b="0" i="1" spc="-5" dirty="0">
                <a:latin typeface="+mj-lt"/>
              </a:rPr>
              <a:t>“</a:t>
            </a:r>
            <a:r>
              <a:rPr lang="es-ES" b="0" i="1" spc="-5" dirty="0" err="1">
                <a:latin typeface="+mj-lt"/>
              </a:rPr>
              <a:t>We</a:t>
            </a:r>
            <a:r>
              <a:rPr lang="es-ES" b="0" i="1" spc="-5" dirty="0">
                <a:latin typeface="+mj-lt"/>
              </a:rPr>
              <a:t> </a:t>
            </a:r>
            <a:r>
              <a:rPr lang="es-ES" b="0" i="1" spc="-5" dirty="0" err="1">
                <a:latin typeface="+mj-lt"/>
              </a:rPr>
              <a:t>will</a:t>
            </a:r>
            <a:r>
              <a:rPr lang="es-ES" b="0" i="1" spc="-5" dirty="0">
                <a:latin typeface="+mj-lt"/>
              </a:rPr>
              <a:t> </a:t>
            </a:r>
            <a:r>
              <a:rPr lang="es-ES" b="0" i="1" spc="-5" dirty="0" err="1">
                <a:latin typeface="+mj-lt"/>
              </a:rPr>
              <a:t>work</a:t>
            </a:r>
            <a:r>
              <a:rPr lang="es-ES" b="0" i="1" spc="-5" dirty="0">
                <a:latin typeface="+mj-lt"/>
                <a:cs typeface="Lucida Sans"/>
              </a:rPr>
              <a:t> </a:t>
            </a:r>
            <a:r>
              <a:rPr lang="es-ES" b="0" i="1" spc="-5" dirty="0" err="1">
                <a:latin typeface="+mj-lt"/>
                <a:cs typeface="Lucida Sans"/>
              </a:rPr>
              <a:t>with</a:t>
            </a:r>
            <a:r>
              <a:rPr lang="es-ES" b="0" i="1" spc="-5" dirty="0">
                <a:latin typeface="+mj-lt"/>
                <a:cs typeface="Lucida Sans"/>
              </a:rPr>
              <a:t> </a:t>
            </a:r>
            <a:r>
              <a:rPr lang="es-ES" b="0" i="1" spc="-5" dirty="0" err="1">
                <a:latin typeface="+mj-lt"/>
                <a:cs typeface="Lucida Sans"/>
              </a:rPr>
              <a:t>the</a:t>
            </a:r>
            <a:r>
              <a:rPr lang="es-ES" b="0" i="1" spc="-5" dirty="0">
                <a:latin typeface="+mj-lt"/>
                <a:cs typeface="Lucida Sans"/>
              </a:rPr>
              <a:t> demo UPVfab PDK. </a:t>
            </a:r>
            <a:r>
              <a:rPr lang="es-ES" b="0" i="1" spc="-5" dirty="0" err="1">
                <a:latin typeface="+mj-lt"/>
                <a:cs typeface="Lucida Sans"/>
              </a:rPr>
              <a:t>Let's</a:t>
            </a:r>
            <a:r>
              <a:rPr lang="es-ES" b="0" i="1" spc="-5" dirty="0">
                <a:latin typeface="+mj-lt"/>
                <a:cs typeface="Lucida Sans"/>
              </a:rPr>
              <a:t> </a:t>
            </a:r>
            <a:r>
              <a:rPr lang="es-ES" b="0" i="1" spc="-5" dirty="0" err="1">
                <a:latin typeface="+mj-lt"/>
                <a:cs typeface="Lucida Sans"/>
              </a:rPr>
              <a:t>view</a:t>
            </a:r>
            <a:r>
              <a:rPr lang="es-ES" b="0" i="1" spc="-5" dirty="0">
                <a:latin typeface="+mj-lt"/>
                <a:cs typeface="Lucida Sans"/>
              </a:rPr>
              <a:t> </a:t>
            </a:r>
            <a:r>
              <a:rPr lang="es-ES" b="0" i="1" spc="-5" dirty="0" err="1">
                <a:latin typeface="+mj-lt"/>
                <a:cs typeface="Lucida Sans"/>
              </a:rPr>
              <a:t>the</a:t>
            </a:r>
            <a:r>
              <a:rPr lang="es-ES" b="0" i="1" spc="-5" dirty="0">
                <a:latin typeface="+mj-lt"/>
                <a:cs typeface="Lucida Sans"/>
              </a:rPr>
              <a:t> </a:t>
            </a:r>
            <a:r>
              <a:rPr lang="es-ES" b="0" i="1" spc="-5" dirty="0" err="1">
                <a:latin typeface="+mj-lt"/>
                <a:cs typeface="Lucida Sans"/>
              </a:rPr>
              <a:t>layer</a:t>
            </a:r>
            <a:r>
              <a:rPr lang="es-ES" b="0" i="1" spc="-5" dirty="0">
                <a:latin typeface="+mj-lt"/>
                <a:cs typeface="Lucida Sans"/>
              </a:rPr>
              <a:t> </a:t>
            </a:r>
            <a:r>
              <a:rPr lang="es-ES" b="0" i="1" spc="-5" dirty="0" err="1">
                <a:latin typeface="+mj-lt"/>
                <a:cs typeface="Lucida Sans"/>
              </a:rPr>
              <a:t>distribution</a:t>
            </a:r>
            <a:r>
              <a:rPr lang="es-ES" b="0" i="1" spc="-5" dirty="0">
                <a:latin typeface="+mj-lt"/>
                <a:cs typeface="Lucida Sans"/>
              </a:rPr>
              <a:t> </a:t>
            </a:r>
            <a:r>
              <a:rPr lang="es-ES" b="0" i="1" spc="-5" dirty="0" err="1">
                <a:latin typeface="+mj-lt"/>
                <a:cs typeface="Lucida Sans"/>
              </a:rPr>
              <a:t>of</a:t>
            </a:r>
            <a:r>
              <a:rPr lang="es-ES" b="0" i="1" spc="-5" dirty="0">
                <a:latin typeface="+mj-lt"/>
                <a:cs typeface="Lucida Sans"/>
              </a:rPr>
              <a:t> </a:t>
            </a:r>
            <a:r>
              <a:rPr lang="es-ES" b="0" i="1" spc="-5" dirty="0" err="1">
                <a:latin typeface="+mj-lt"/>
                <a:cs typeface="Lucida Sans"/>
              </a:rPr>
              <a:t>this</a:t>
            </a:r>
            <a:r>
              <a:rPr lang="es-ES" b="0" i="1" spc="-5" dirty="0">
                <a:latin typeface="+mj-lt"/>
                <a:cs typeface="Lucida Sans"/>
              </a:rPr>
              <a:t> PDK”</a:t>
            </a:r>
            <a:endParaRPr sz="2500" b="0" i="1" dirty="0">
              <a:latin typeface="+mj-lt"/>
              <a:cs typeface="Lucida Sans"/>
            </a:endParaRPr>
          </a:p>
        </p:txBody>
      </p:sp>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s-ES" smtClean="0"/>
              <a:t>3</a:t>
            </a:fld>
            <a:endParaRPr lang="es-ES"/>
          </a:p>
        </p:txBody>
      </p:sp>
      <p:sp>
        <p:nvSpPr>
          <p:cNvPr id="3" name="Marcador de pie de página 2">
            <a:extLst>
              <a:ext uri="{FF2B5EF4-FFF2-40B4-BE49-F238E27FC236}">
                <a16:creationId xmlns:a16="http://schemas.microsoft.com/office/drawing/2014/main" id="{34F13AC1-9668-7266-DF5B-D7CE084AB044}"/>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2" name="CuadroTexto 1">
            <a:extLst>
              <a:ext uri="{FF2B5EF4-FFF2-40B4-BE49-F238E27FC236}">
                <a16:creationId xmlns:a16="http://schemas.microsoft.com/office/drawing/2014/main" id="{D0F8CF3B-B920-DBFC-F825-0C87B51EADA7}"/>
              </a:ext>
            </a:extLst>
          </p:cNvPr>
          <p:cNvSpPr txBox="1"/>
          <p:nvPr/>
        </p:nvSpPr>
        <p:spPr>
          <a:xfrm>
            <a:off x="609441" y="4860334"/>
            <a:ext cx="11199971" cy="1384995"/>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A PDK is …</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In general, the layers for layout in a PDK represent …</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For our particular PDK we find the following layers, with number and label/description: </a:t>
            </a:r>
          </a:p>
          <a:p>
            <a:pPr algn="just"/>
            <a:endParaRPr lang="en-US" sz="1200" dirty="0">
              <a:latin typeface="Arial" panose="020B0604020202020204" pitchFamily="34" charset="0"/>
              <a:cs typeface="Arial" panose="020B0604020202020204" pitchFamily="34" charset="0"/>
            </a:endParaRPr>
          </a:p>
        </p:txBody>
      </p:sp>
      <p:sp>
        <p:nvSpPr>
          <p:cNvPr id="6" name="Rectángulo 5">
            <a:extLst>
              <a:ext uri="{FF2B5EF4-FFF2-40B4-BE49-F238E27FC236}">
                <a16:creationId xmlns:a16="http://schemas.microsoft.com/office/drawing/2014/main" id="{82AE4A84-532D-D50D-F368-79FF1C11E97A}"/>
              </a:ext>
            </a:extLst>
          </p:cNvPr>
          <p:cNvSpPr/>
          <p:nvPr/>
        </p:nvSpPr>
        <p:spPr>
          <a:xfrm>
            <a:off x="609441" y="1418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024B9AF7-5B09-CE7C-68D9-8620B8F4F607}"/>
              </a:ext>
            </a:extLst>
          </p:cNvPr>
          <p:cNvSpPr txBox="1"/>
          <p:nvPr/>
        </p:nvSpPr>
        <p:spPr>
          <a:xfrm>
            <a:off x="763342" y="2494306"/>
            <a:ext cx="5024773" cy="646331"/>
          </a:xfrm>
          <a:prstGeom prst="rect">
            <a:avLst/>
          </a:prstGeom>
          <a:noFill/>
        </p:spPr>
        <p:txBody>
          <a:bodyPr wrap="none" rtlCol="0">
            <a:spAutoFit/>
          </a:bodyPr>
          <a:lstStyle/>
          <a:p>
            <a:pPr algn="ctr"/>
            <a:r>
              <a:rPr lang="en-US" dirty="0"/>
              <a:t>Paste code to vie the layer distribution of this PDK</a:t>
            </a:r>
          </a:p>
          <a:p>
            <a:pPr algn="ctr"/>
            <a:endParaRPr lang="en-US" dirty="0"/>
          </a:p>
        </p:txBody>
      </p:sp>
      <p:sp>
        <p:nvSpPr>
          <p:cNvPr id="8" name="Rectángulo 7">
            <a:extLst>
              <a:ext uri="{FF2B5EF4-FFF2-40B4-BE49-F238E27FC236}">
                <a16:creationId xmlns:a16="http://schemas.microsoft.com/office/drawing/2014/main" id="{8BEC3D78-C227-4F8E-7F5D-F398FB043D20}"/>
              </a:ext>
            </a:extLst>
          </p:cNvPr>
          <p:cNvSpPr/>
          <p:nvPr/>
        </p:nvSpPr>
        <p:spPr>
          <a:xfrm>
            <a:off x="6476841" y="1420406"/>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B5806D5A-9C65-5DDA-AF7C-30CC28E9C38F}"/>
              </a:ext>
            </a:extLst>
          </p:cNvPr>
          <p:cNvSpPr txBox="1"/>
          <p:nvPr/>
        </p:nvSpPr>
        <p:spPr>
          <a:xfrm>
            <a:off x="7925522" y="2496339"/>
            <a:ext cx="2435218" cy="369332"/>
          </a:xfrm>
          <a:prstGeom prst="rect">
            <a:avLst/>
          </a:prstGeom>
          <a:noFill/>
        </p:spPr>
        <p:txBody>
          <a:bodyPr wrap="none" rtlCol="0">
            <a:spAutoFit/>
          </a:bodyPr>
          <a:lstStyle/>
          <a:p>
            <a:pPr algn="ctr"/>
            <a:r>
              <a:rPr lang="es-ES" dirty="0"/>
              <a:t>Paste </a:t>
            </a:r>
            <a:r>
              <a:rPr lang="es-ES" dirty="0" err="1"/>
              <a:t>plot</a:t>
            </a:r>
            <a:r>
              <a:rPr lang="es-ES" dirty="0"/>
              <a:t> </a:t>
            </a:r>
            <a:r>
              <a:rPr lang="es-ES" dirty="0" err="1"/>
              <a:t>of</a:t>
            </a:r>
            <a:r>
              <a:rPr lang="es-ES" dirty="0"/>
              <a:t> </a:t>
            </a:r>
            <a:r>
              <a:rPr lang="es-ES" dirty="0" err="1"/>
              <a:t>layers</a:t>
            </a:r>
            <a:r>
              <a:rPr lang="es-ES" dirty="0"/>
              <a:t> </a:t>
            </a:r>
            <a:r>
              <a:rPr lang="es-ES" dirty="0" err="1"/>
              <a:t>here</a:t>
            </a:r>
            <a:endParaRPr lang="en-US" dirty="0"/>
          </a:p>
        </p:txBody>
      </p:sp>
    </p:spTree>
    <p:extLst>
      <p:ext uri="{BB962C8B-B14F-4D97-AF65-F5344CB8AC3E}">
        <p14:creationId xmlns:p14="http://schemas.microsoft.com/office/powerpoint/2010/main" val="7305013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B50ADB-4593-A354-D2C8-48E7F15E368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89A56616-C32B-5FF9-839C-4EB4EB9DD888}"/>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#1a – Notebook section 1. Technology</a:t>
            </a:r>
            <a:br>
              <a:rPr lang="es-ES" sz="2500" spc="-5" dirty="0">
                <a:latin typeface="+mj-lt"/>
                <a:cs typeface="Lucida Sans"/>
              </a:rPr>
            </a:br>
            <a:endParaRPr sz="2500" b="0" i="1" dirty="0">
              <a:latin typeface="+mj-lt"/>
              <a:cs typeface="Lucida Sans"/>
            </a:endParaRPr>
          </a:p>
        </p:txBody>
      </p:sp>
      <p:pic>
        <p:nvPicPr>
          <p:cNvPr id="83" name="Gráfico 82">
            <a:extLst>
              <a:ext uri="{FF2B5EF4-FFF2-40B4-BE49-F238E27FC236}">
                <a16:creationId xmlns:a16="http://schemas.microsoft.com/office/drawing/2014/main" id="{729E1EB2-F551-3C82-ED90-C281D6C95F3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127731C8-A2FE-300E-24AD-11FF3610C999}"/>
              </a:ext>
            </a:extLst>
          </p:cNvPr>
          <p:cNvSpPr>
            <a:spLocks noGrp="1"/>
          </p:cNvSpPr>
          <p:nvPr>
            <p:ph type="sldNum" sz="quarter" idx="7"/>
          </p:nvPr>
        </p:nvSpPr>
        <p:spPr/>
        <p:txBody>
          <a:bodyPr/>
          <a:lstStyle/>
          <a:p>
            <a:fld id="{B6F15528-21DE-4FAA-801E-634DDDAF4B2B}" type="slidenum">
              <a:rPr lang="es-ES" smtClean="0"/>
              <a:t>4</a:t>
            </a:fld>
            <a:endParaRPr lang="es-ES"/>
          </a:p>
        </p:txBody>
      </p:sp>
      <p:sp>
        <p:nvSpPr>
          <p:cNvPr id="3" name="Marcador de pie de página 2">
            <a:extLst>
              <a:ext uri="{FF2B5EF4-FFF2-40B4-BE49-F238E27FC236}">
                <a16:creationId xmlns:a16="http://schemas.microsoft.com/office/drawing/2014/main" id="{CEE622BD-0439-2100-6EFC-F0511A78BA72}"/>
              </a:ext>
            </a:extLst>
          </p:cNvPr>
          <p:cNvSpPr>
            <a:spLocks noGrp="1"/>
          </p:cNvSpPr>
          <p:nvPr>
            <p:ph type="ftr" sz="quarter" idx="5"/>
          </p:nvPr>
        </p:nvSpPr>
        <p:spPr/>
        <p:txBody>
          <a:bodyPr/>
          <a:lstStyle/>
          <a:p>
            <a:pPr marL="12700">
              <a:spcBef>
                <a:spcPts val="15"/>
              </a:spcBef>
            </a:pPr>
            <a:r>
              <a:rPr lang="es-ES" spc="-5"/>
              <a:t>LAB 4.0. LAYOUT</a:t>
            </a:r>
            <a:endParaRPr lang="es-ES" spc="-5" dirty="0"/>
          </a:p>
        </p:txBody>
      </p:sp>
      <p:pic>
        <p:nvPicPr>
          <p:cNvPr id="11" name="Imagen 10">
            <a:extLst>
              <a:ext uri="{FF2B5EF4-FFF2-40B4-BE49-F238E27FC236}">
                <a16:creationId xmlns:a16="http://schemas.microsoft.com/office/drawing/2014/main" id="{206A1735-6323-3925-6AC4-5A73412E3CB3}"/>
              </a:ext>
            </a:extLst>
          </p:cNvPr>
          <p:cNvPicPr>
            <a:picLocks noChangeAspect="1"/>
          </p:cNvPicPr>
          <p:nvPr/>
        </p:nvPicPr>
        <p:blipFill>
          <a:blip r:embed="rId4"/>
          <a:stretch>
            <a:fillRect/>
          </a:stretch>
        </p:blipFill>
        <p:spPr>
          <a:xfrm>
            <a:off x="457200" y="1548557"/>
            <a:ext cx="5390849" cy="4069563"/>
          </a:xfrm>
          <a:prstGeom prst="rect">
            <a:avLst/>
          </a:prstGeom>
        </p:spPr>
      </p:pic>
      <p:sp>
        <p:nvSpPr>
          <p:cNvPr id="14" name="CuadroTexto 13">
            <a:extLst>
              <a:ext uri="{FF2B5EF4-FFF2-40B4-BE49-F238E27FC236}">
                <a16:creationId xmlns:a16="http://schemas.microsoft.com/office/drawing/2014/main" id="{7FA6C974-7E75-A3D3-6C8E-69F45E74BD1E}"/>
              </a:ext>
            </a:extLst>
          </p:cNvPr>
          <p:cNvSpPr txBox="1"/>
          <p:nvPr/>
        </p:nvSpPr>
        <p:spPr>
          <a:xfrm>
            <a:off x="6064701" y="4787124"/>
            <a:ext cx="2590800" cy="1661993"/>
          </a:xfrm>
          <a:prstGeom prst="rect">
            <a:avLst/>
          </a:prstGeom>
          <a:noFill/>
        </p:spPr>
        <p:txBody>
          <a:bodyPr wrap="square" rtlCol="0">
            <a:spAutoFit/>
          </a:bodyPr>
          <a:lstStyle/>
          <a:p>
            <a:r>
              <a:rPr lang="es-ES" sz="1200" dirty="0"/>
              <a:t>LAYER_VIEWS = </a:t>
            </a:r>
            <a:r>
              <a:rPr lang="es-ES" sz="1200" dirty="0" err="1"/>
              <a:t>PDK.layer_views</a:t>
            </a:r>
            <a:endParaRPr lang="es-ES" sz="1200" dirty="0"/>
          </a:p>
          <a:p>
            <a:r>
              <a:rPr lang="es-ES" sz="1200" dirty="0"/>
              <a:t>c = </a:t>
            </a:r>
            <a:r>
              <a:rPr lang="es-ES" sz="1200" dirty="0" err="1"/>
              <a:t>LAYER_VIEWS.preview_layerset</a:t>
            </a:r>
            <a:r>
              <a:rPr lang="es-ES" sz="1200" dirty="0"/>
              <a:t>()</a:t>
            </a:r>
          </a:p>
          <a:p>
            <a:r>
              <a:rPr lang="es-ES" sz="1200" dirty="0" err="1"/>
              <a:t>c.show</a:t>
            </a:r>
            <a:r>
              <a:rPr lang="es-ES" sz="1200" dirty="0"/>
              <a:t>()</a:t>
            </a:r>
          </a:p>
          <a:p>
            <a:r>
              <a:rPr lang="es-ES" sz="1200" dirty="0" err="1"/>
              <a:t>c.plot</a:t>
            </a:r>
            <a:r>
              <a:rPr lang="es-ES" sz="1200" dirty="0"/>
              <a:t>()</a:t>
            </a:r>
          </a:p>
          <a:p>
            <a:br>
              <a:rPr lang="es-ES" dirty="0"/>
            </a:br>
            <a:endParaRPr lang="es-ES" dirty="0"/>
          </a:p>
          <a:p>
            <a:endParaRPr lang="es-ES" dirty="0"/>
          </a:p>
        </p:txBody>
      </p:sp>
      <p:sp>
        <p:nvSpPr>
          <p:cNvPr id="2" name="CuadroTexto 1">
            <a:extLst>
              <a:ext uri="{FF2B5EF4-FFF2-40B4-BE49-F238E27FC236}">
                <a16:creationId xmlns:a16="http://schemas.microsoft.com/office/drawing/2014/main" id="{00079907-777C-F989-2408-30E4325562DA}"/>
              </a:ext>
            </a:extLst>
          </p:cNvPr>
          <p:cNvSpPr txBox="1"/>
          <p:nvPr/>
        </p:nvSpPr>
        <p:spPr>
          <a:xfrm>
            <a:off x="6035040" y="1524000"/>
            <a:ext cx="6172200" cy="3416320"/>
          </a:xfrm>
          <a:prstGeom prst="rect">
            <a:avLst/>
          </a:prstGeom>
          <a:noFill/>
        </p:spPr>
        <p:txBody>
          <a:bodyPr wrap="square" rtlCol="0">
            <a:spAutoFit/>
          </a:bodyPr>
          <a:lstStyle/>
          <a:p>
            <a:r>
              <a:rPr lang="es-ES" dirty="0"/>
              <a:t>Un PDK (Process </a:t>
            </a:r>
            <a:r>
              <a:rPr lang="es-ES" dirty="0" err="1"/>
              <a:t>Design</a:t>
            </a:r>
            <a:r>
              <a:rPr lang="es-ES" dirty="0"/>
              <a:t> kit) es el conjunto de herramientas, archivos y documentación proporcionados por una fundición que permite a los diseñadores crear circuitos fabricables en un proceso específico.</a:t>
            </a:r>
          </a:p>
          <a:p>
            <a:r>
              <a:rPr lang="es-ES" dirty="0"/>
              <a:t>Las capas en un PDK representan la jerarquía física y lógica del proceso de fabricación. Cada número de la capa representa el material que se grabará en esa parte específica del chip.</a:t>
            </a:r>
          </a:p>
          <a:p>
            <a:r>
              <a:rPr lang="es-ES" dirty="0"/>
              <a:t>Para nuestro PDK tenemos las siguientes capas: (WG) 1/0, (Heather) 4/0, (SLAB) 21/0, (PAD) 41/0, (FLOORPLAN) 99/0. </a:t>
            </a:r>
          </a:p>
          <a:p>
            <a:endParaRPr lang="es-ES" dirty="0"/>
          </a:p>
          <a:p>
            <a:r>
              <a:rPr lang="es-ES" dirty="0"/>
              <a:t>Código:</a:t>
            </a:r>
          </a:p>
          <a:p>
            <a:endParaRPr lang="es-ES" dirty="0"/>
          </a:p>
        </p:txBody>
      </p:sp>
    </p:spTree>
    <p:extLst>
      <p:ext uri="{BB962C8B-B14F-4D97-AF65-F5344CB8AC3E}">
        <p14:creationId xmlns:p14="http://schemas.microsoft.com/office/powerpoint/2010/main" val="13328217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721758-3D0C-3510-194A-4075C73D458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74F925C6-A9EE-0450-6CF3-EB5E905BE7E0}"/>
              </a:ext>
            </a:extLst>
          </p:cNvPr>
          <p:cNvSpPr txBox="1">
            <a:spLocks noGrp="1"/>
          </p:cNvSpPr>
          <p:nvPr>
            <p:ph type="title"/>
          </p:nvPr>
        </p:nvSpPr>
        <p:spPr>
          <a:xfrm>
            <a:off x="685800" y="408883"/>
            <a:ext cx="10994410" cy="951543"/>
          </a:xfrm>
          <a:prstGeom prst="rect">
            <a:avLst/>
          </a:prstGeom>
        </p:spPr>
        <p:txBody>
          <a:bodyPr vert="horz" wrap="square" lIns="0" tIns="12700" rIns="0" bIns="0" rtlCol="0">
            <a:spAutoFit/>
          </a:bodyPr>
          <a:lstStyle/>
          <a:p>
            <a:pPr marL="12700" algn="just">
              <a:lnSpc>
                <a:spcPct val="100000"/>
              </a:lnSpc>
              <a:spcBef>
                <a:spcPts val="100"/>
              </a:spcBef>
            </a:pPr>
            <a:r>
              <a:rPr lang="en-US" sz="2500" dirty="0"/>
              <a:t>Learning outcome #1b – Notebook section 1. Technology – </a:t>
            </a:r>
            <a:r>
              <a:rPr lang="en-US" sz="2500" dirty="0">
                <a:solidFill>
                  <a:srgbClr val="FF0000"/>
                </a:solidFill>
              </a:rPr>
              <a:t>1 slide per component</a:t>
            </a:r>
            <a:br>
              <a:rPr lang="en-US" sz="2500" dirty="0"/>
            </a:br>
            <a:r>
              <a:rPr lang="en-US" sz="1800" b="0" i="1" dirty="0"/>
              <a:t>“Use your design results from Lab2 and Lab3 to create layout instances of your designed components: DCs, MMIs, MZIs &amp; Ring Resonators”</a:t>
            </a:r>
            <a:endParaRPr sz="2500" b="0" i="1" dirty="0">
              <a:latin typeface="+mj-lt"/>
              <a:cs typeface="Lucida Sans"/>
            </a:endParaRPr>
          </a:p>
        </p:txBody>
      </p:sp>
      <p:pic>
        <p:nvPicPr>
          <p:cNvPr id="83" name="Gráfico 82">
            <a:extLst>
              <a:ext uri="{FF2B5EF4-FFF2-40B4-BE49-F238E27FC236}">
                <a16:creationId xmlns:a16="http://schemas.microsoft.com/office/drawing/2014/main" id="{61751C67-979A-7D64-9474-F594568485E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5A815B6-7BA3-E2CF-377E-EACA0F621FAA}"/>
              </a:ext>
            </a:extLst>
          </p:cNvPr>
          <p:cNvSpPr>
            <a:spLocks noGrp="1"/>
          </p:cNvSpPr>
          <p:nvPr>
            <p:ph type="sldNum" sz="quarter" idx="7"/>
          </p:nvPr>
        </p:nvSpPr>
        <p:spPr/>
        <p:txBody>
          <a:bodyPr/>
          <a:lstStyle/>
          <a:p>
            <a:fld id="{B6F15528-21DE-4FAA-801E-634DDDAF4B2B}" type="slidenum">
              <a:rPr lang="es-ES" smtClean="0"/>
              <a:t>5</a:t>
            </a:fld>
            <a:endParaRPr lang="es-ES"/>
          </a:p>
        </p:txBody>
      </p:sp>
      <p:sp>
        <p:nvSpPr>
          <p:cNvPr id="3" name="Marcador de pie de página 2">
            <a:extLst>
              <a:ext uri="{FF2B5EF4-FFF2-40B4-BE49-F238E27FC236}">
                <a16:creationId xmlns:a16="http://schemas.microsoft.com/office/drawing/2014/main" id="{018AEC9F-5174-0EEA-5CD3-65515392F16F}"/>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2" name="CuadroTexto 1">
            <a:extLst>
              <a:ext uri="{FF2B5EF4-FFF2-40B4-BE49-F238E27FC236}">
                <a16:creationId xmlns:a16="http://schemas.microsoft.com/office/drawing/2014/main" id="{A1BE4500-9BE4-025B-9167-E8AC6466B028}"/>
              </a:ext>
            </a:extLst>
          </p:cNvPr>
          <p:cNvSpPr txBox="1"/>
          <p:nvPr/>
        </p:nvSpPr>
        <p:spPr>
          <a:xfrm>
            <a:off x="609441" y="4860334"/>
            <a:ext cx="11199971" cy="646331"/>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Describe component. </a:t>
            </a:r>
            <a:r>
              <a:rPr lang="en-US" sz="1200" dirty="0">
                <a:solidFill>
                  <a:srgbClr val="FF0000"/>
                </a:solidFill>
                <a:latin typeface="Arial" panose="020B0604020202020204" pitchFamily="34" charset="0"/>
                <a:cs typeface="Arial" panose="020B0604020202020204" pitchFamily="34" charset="0"/>
              </a:rPr>
              <a:t>Example</a:t>
            </a:r>
            <a:r>
              <a:rPr lang="en-US" sz="1200" dirty="0">
                <a:latin typeface="Arial" panose="020B0604020202020204" pitchFamily="34" charset="0"/>
                <a:cs typeface="Arial" panose="020B0604020202020204" pitchFamily="34" charset="0"/>
              </a:rPr>
              <a:t>: this is the MMI we designed in Lab2, it is a 2x2 with paired interference, target coupling constant K = 0.5. The relevant dimensions are W_MMI = XX µm L_MMI = YY µm and the I/O positions with respect to center are at +/- </a:t>
            </a:r>
            <a:r>
              <a:rPr lang="en-US" sz="1200" dirty="0" err="1">
                <a:latin typeface="Arial" panose="020B0604020202020204" pitchFamily="34" charset="0"/>
                <a:cs typeface="Arial" panose="020B0604020202020204" pitchFamily="34" charset="0"/>
              </a:rPr>
              <a:t>dY</a:t>
            </a:r>
            <a:r>
              <a:rPr lang="en-US" sz="1200" dirty="0">
                <a:latin typeface="Arial" panose="020B0604020202020204" pitchFamily="34" charset="0"/>
                <a:cs typeface="Arial" panose="020B0604020202020204" pitchFamily="34" charset="0"/>
              </a:rPr>
              <a:t> µm</a:t>
            </a:r>
          </a:p>
          <a:p>
            <a:pPr algn="just"/>
            <a:endParaRPr lang="en-US" sz="1200" dirty="0">
              <a:latin typeface="Arial" panose="020B0604020202020204" pitchFamily="34" charset="0"/>
              <a:cs typeface="Arial" panose="020B0604020202020204" pitchFamily="34" charset="0"/>
            </a:endParaRPr>
          </a:p>
        </p:txBody>
      </p:sp>
      <p:sp>
        <p:nvSpPr>
          <p:cNvPr id="6" name="Rectángulo 5">
            <a:extLst>
              <a:ext uri="{FF2B5EF4-FFF2-40B4-BE49-F238E27FC236}">
                <a16:creationId xmlns:a16="http://schemas.microsoft.com/office/drawing/2014/main" id="{FB364273-7E07-9E83-F4A6-1AFD1AEFE243}"/>
              </a:ext>
            </a:extLst>
          </p:cNvPr>
          <p:cNvSpPr/>
          <p:nvPr/>
        </p:nvSpPr>
        <p:spPr>
          <a:xfrm>
            <a:off x="609441" y="1418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96224819-75AC-EB82-A160-7A3DE5BF0740}"/>
              </a:ext>
            </a:extLst>
          </p:cNvPr>
          <p:cNvSpPr txBox="1"/>
          <p:nvPr/>
        </p:nvSpPr>
        <p:spPr>
          <a:xfrm>
            <a:off x="2375901" y="2494306"/>
            <a:ext cx="1799660" cy="646331"/>
          </a:xfrm>
          <a:prstGeom prst="rect">
            <a:avLst/>
          </a:prstGeom>
          <a:noFill/>
        </p:spPr>
        <p:txBody>
          <a:bodyPr wrap="none" rtlCol="0">
            <a:spAutoFit/>
          </a:bodyPr>
          <a:lstStyle/>
          <a:p>
            <a:pPr algn="ctr"/>
            <a:r>
              <a:rPr lang="en-US" dirty="0"/>
              <a:t>Component code</a:t>
            </a:r>
          </a:p>
          <a:p>
            <a:pPr algn="ctr"/>
            <a:endParaRPr lang="en-US" dirty="0"/>
          </a:p>
        </p:txBody>
      </p:sp>
      <p:sp>
        <p:nvSpPr>
          <p:cNvPr id="8" name="Rectángulo 7">
            <a:extLst>
              <a:ext uri="{FF2B5EF4-FFF2-40B4-BE49-F238E27FC236}">
                <a16:creationId xmlns:a16="http://schemas.microsoft.com/office/drawing/2014/main" id="{8C1E968B-0AE0-37CB-7468-A50896329E70}"/>
              </a:ext>
            </a:extLst>
          </p:cNvPr>
          <p:cNvSpPr/>
          <p:nvPr/>
        </p:nvSpPr>
        <p:spPr>
          <a:xfrm>
            <a:off x="6476841" y="1420406"/>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89877566-4E2F-8CE5-3749-EB4B91552614}"/>
              </a:ext>
            </a:extLst>
          </p:cNvPr>
          <p:cNvSpPr txBox="1"/>
          <p:nvPr/>
        </p:nvSpPr>
        <p:spPr>
          <a:xfrm>
            <a:off x="7956912" y="2496339"/>
            <a:ext cx="2372445" cy="369332"/>
          </a:xfrm>
          <a:prstGeom prst="rect">
            <a:avLst/>
          </a:prstGeom>
          <a:noFill/>
        </p:spPr>
        <p:txBody>
          <a:bodyPr wrap="none" rtlCol="0">
            <a:spAutoFit/>
          </a:bodyPr>
          <a:lstStyle/>
          <a:p>
            <a:pPr algn="ctr"/>
            <a:r>
              <a:rPr lang="es-ES" dirty="0" err="1"/>
              <a:t>Component</a:t>
            </a:r>
            <a:r>
              <a:rPr lang="es-ES" dirty="0"/>
              <a:t> </a:t>
            </a:r>
            <a:r>
              <a:rPr lang="es-ES" dirty="0" err="1"/>
              <a:t>screenshot</a:t>
            </a:r>
            <a:endParaRPr lang="en-US" dirty="0"/>
          </a:p>
        </p:txBody>
      </p:sp>
    </p:spTree>
    <p:extLst>
      <p:ext uri="{BB962C8B-B14F-4D97-AF65-F5344CB8AC3E}">
        <p14:creationId xmlns:p14="http://schemas.microsoft.com/office/powerpoint/2010/main" val="11964245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69B700-08B9-0058-506B-713CB1F79A93}"/>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2D19FAD0-7739-8980-7C4D-098261A8822B}"/>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gn="just">
              <a:lnSpc>
                <a:spcPct val="100000"/>
              </a:lnSpc>
              <a:spcBef>
                <a:spcPts val="100"/>
              </a:spcBef>
            </a:pPr>
            <a:r>
              <a:rPr lang="en-US" sz="2500" dirty="0"/>
              <a:t>Learning outcome #1b – Notebook section 1. Technology – DC</a:t>
            </a:r>
            <a:endParaRPr sz="2500" b="0" i="1" dirty="0">
              <a:latin typeface="+mj-lt"/>
              <a:cs typeface="Lucida Sans"/>
            </a:endParaRPr>
          </a:p>
        </p:txBody>
      </p:sp>
      <p:pic>
        <p:nvPicPr>
          <p:cNvPr id="83" name="Gráfico 82">
            <a:extLst>
              <a:ext uri="{FF2B5EF4-FFF2-40B4-BE49-F238E27FC236}">
                <a16:creationId xmlns:a16="http://schemas.microsoft.com/office/drawing/2014/main" id="{6D212E56-5C8C-245E-A8BD-31AF2D6B419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77022B1C-C2C4-1836-9162-1E122B278E5D}"/>
              </a:ext>
            </a:extLst>
          </p:cNvPr>
          <p:cNvSpPr>
            <a:spLocks noGrp="1"/>
          </p:cNvSpPr>
          <p:nvPr>
            <p:ph type="sldNum" sz="quarter" idx="7"/>
          </p:nvPr>
        </p:nvSpPr>
        <p:spPr/>
        <p:txBody>
          <a:bodyPr/>
          <a:lstStyle/>
          <a:p>
            <a:fld id="{B6F15528-21DE-4FAA-801E-634DDDAF4B2B}" type="slidenum">
              <a:rPr lang="es-ES" smtClean="0"/>
              <a:t>6</a:t>
            </a:fld>
            <a:endParaRPr lang="es-ES"/>
          </a:p>
        </p:txBody>
      </p:sp>
      <p:sp>
        <p:nvSpPr>
          <p:cNvPr id="3" name="Marcador de pie de página 2">
            <a:extLst>
              <a:ext uri="{FF2B5EF4-FFF2-40B4-BE49-F238E27FC236}">
                <a16:creationId xmlns:a16="http://schemas.microsoft.com/office/drawing/2014/main" id="{FCD378D8-8399-131B-C34C-BD45A805F821}"/>
              </a:ext>
            </a:extLst>
          </p:cNvPr>
          <p:cNvSpPr>
            <a:spLocks noGrp="1"/>
          </p:cNvSpPr>
          <p:nvPr>
            <p:ph type="ftr" sz="quarter" idx="5"/>
          </p:nvPr>
        </p:nvSpPr>
        <p:spPr/>
        <p:txBody>
          <a:bodyPr/>
          <a:lstStyle/>
          <a:p>
            <a:pPr marL="12700">
              <a:spcBef>
                <a:spcPts val="15"/>
              </a:spcBef>
            </a:pPr>
            <a:r>
              <a:rPr lang="es-ES" spc="-5"/>
              <a:t>LAB 4.0. LAYOUT</a:t>
            </a:r>
            <a:endParaRPr lang="es-ES" spc="-5" dirty="0"/>
          </a:p>
        </p:txBody>
      </p:sp>
      <p:pic>
        <p:nvPicPr>
          <p:cNvPr id="5" name="Imagen 4">
            <a:extLst>
              <a:ext uri="{FF2B5EF4-FFF2-40B4-BE49-F238E27FC236}">
                <a16:creationId xmlns:a16="http://schemas.microsoft.com/office/drawing/2014/main" id="{A62C4F1E-EA8D-BBAF-90CF-22F9C1BA7A7F}"/>
              </a:ext>
            </a:extLst>
          </p:cNvPr>
          <p:cNvPicPr>
            <a:picLocks noChangeAspect="1"/>
          </p:cNvPicPr>
          <p:nvPr/>
        </p:nvPicPr>
        <p:blipFill>
          <a:blip r:embed="rId4"/>
          <a:stretch>
            <a:fillRect/>
          </a:stretch>
        </p:blipFill>
        <p:spPr>
          <a:xfrm>
            <a:off x="228600" y="1544609"/>
            <a:ext cx="5562600" cy="4199218"/>
          </a:xfrm>
          <a:prstGeom prst="rect">
            <a:avLst/>
          </a:prstGeom>
        </p:spPr>
      </p:pic>
      <p:sp>
        <p:nvSpPr>
          <p:cNvPr id="6" name="CuadroTexto 5">
            <a:extLst>
              <a:ext uri="{FF2B5EF4-FFF2-40B4-BE49-F238E27FC236}">
                <a16:creationId xmlns:a16="http://schemas.microsoft.com/office/drawing/2014/main" id="{D1C8EB7C-B3DE-D627-E8B6-48B302A1EF0A}"/>
              </a:ext>
            </a:extLst>
          </p:cNvPr>
          <p:cNvSpPr txBox="1"/>
          <p:nvPr/>
        </p:nvSpPr>
        <p:spPr>
          <a:xfrm>
            <a:off x="6040120" y="4875651"/>
            <a:ext cx="3886200" cy="1661993"/>
          </a:xfrm>
          <a:prstGeom prst="rect">
            <a:avLst/>
          </a:prstGeom>
          <a:noFill/>
        </p:spPr>
        <p:txBody>
          <a:bodyPr wrap="square" rtlCol="0">
            <a:spAutoFit/>
          </a:bodyPr>
          <a:lstStyle/>
          <a:p>
            <a:r>
              <a:rPr lang="es-ES" sz="1200" dirty="0" err="1"/>
              <a:t>gf.gpdk.PDK.activate</a:t>
            </a:r>
            <a:r>
              <a:rPr lang="es-ES" sz="1200" dirty="0"/>
              <a:t>()</a:t>
            </a:r>
          </a:p>
          <a:p>
            <a:r>
              <a:rPr lang="es-ES" sz="1200" dirty="0" err="1"/>
              <a:t>xs_io</a:t>
            </a:r>
            <a:r>
              <a:rPr lang="es-ES" sz="1200" dirty="0"/>
              <a:t> = </a:t>
            </a:r>
            <a:r>
              <a:rPr lang="es-ES" sz="1200" dirty="0" err="1"/>
              <a:t>gf.cross_section.strip</a:t>
            </a:r>
            <a:r>
              <a:rPr lang="es-ES" sz="1200" dirty="0"/>
              <a:t>(</a:t>
            </a:r>
            <a:r>
              <a:rPr lang="es-ES" sz="1200" dirty="0" err="1"/>
              <a:t>width</a:t>
            </a:r>
            <a:r>
              <a:rPr lang="es-ES" sz="1200" dirty="0"/>
              <a:t>=1.2, </a:t>
            </a:r>
            <a:r>
              <a:rPr lang="es-ES" sz="1200" dirty="0" err="1"/>
              <a:t>layer</a:t>
            </a:r>
            <a:r>
              <a:rPr lang="es-ES" sz="1200" dirty="0"/>
              <a:t>=(1, 0))</a:t>
            </a:r>
          </a:p>
          <a:p>
            <a:r>
              <a:rPr lang="es-ES" sz="1200" dirty="0"/>
              <a:t>c = </a:t>
            </a:r>
            <a:r>
              <a:rPr lang="es-ES" sz="1200" dirty="0" err="1"/>
              <a:t>gf.components.coupler</a:t>
            </a:r>
            <a:r>
              <a:rPr lang="es-ES" sz="1200" dirty="0"/>
              <a:t>(gap=0.6, </a:t>
            </a:r>
            <a:r>
              <a:rPr lang="es-ES" sz="1200" dirty="0" err="1"/>
              <a:t>length</a:t>
            </a:r>
            <a:r>
              <a:rPr lang="es-ES" sz="1200" dirty="0"/>
              <a:t>=20, </a:t>
            </a:r>
            <a:r>
              <a:rPr lang="es-ES" sz="1200" dirty="0" err="1"/>
              <a:t>dy</a:t>
            </a:r>
            <a:r>
              <a:rPr lang="es-ES" sz="1200" dirty="0"/>
              <a:t>=4, </a:t>
            </a:r>
            <a:r>
              <a:rPr lang="es-ES" sz="1200" dirty="0" err="1"/>
              <a:t>dx</a:t>
            </a:r>
            <a:r>
              <a:rPr lang="es-ES" sz="1200" dirty="0"/>
              <a:t>=10, </a:t>
            </a:r>
            <a:r>
              <a:rPr lang="es-ES" sz="1200" dirty="0" err="1"/>
              <a:t>cross_section</a:t>
            </a:r>
            <a:r>
              <a:rPr lang="es-ES" sz="1200" dirty="0"/>
              <a:t>=</a:t>
            </a:r>
            <a:r>
              <a:rPr lang="es-ES" sz="1200" dirty="0" err="1"/>
              <a:t>xs_io</a:t>
            </a:r>
            <a:r>
              <a:rPr lang="es-ES" sz="1200" dirty="0"/>
              <a:t>, </a:t>
            </a:r>
            <a:r>
              <a:rPr lang="es-ES" sz="1200" dirty="0" err="1"/>
              <a:t>allow_min_radius_violation</a:t>
            </a:r>
            <a:r>
              <a:rPr lang="es-ES" sz="1200" dirty="0"/>
              <a:t>=False, </a:t>
            </a:r>
            <a:r>
              <a:rPr lang="es-ES" sz="1200" dirty="0" err="1"/>
              <a:t>bend</a:t>
            </a:r>
            <a:r>
              <a:rPr lang="es-ES" sz="1200" dirty="0"/>
              <a:t>='</a:t>
            </a:r>
            <a:r>
              <a:rPr lang="es-ES" sz="1200" dirty="0" err="1"/>
              <a:t>bend_s</a:t>
            </a:r>
            <a:r>
              <a:rPr lang="es-ES" sz="1200" dirty="0"/>
              <a:t>').</a:t>
            </a:r>
            <a:r>
              <a:rPr lang="es-ES" sz="1200" dirty="0" err="1"/>
              <a:t>copy</a:t>
            </a:r>
            <a:r>
              <a:rPr lang="es-ES" sz="1200" dirty="0"/>
              <a:t>()</a:t>
            </a:r>
          </a:p>
          <a:p>
            <a:r>
              <a:rPr lang="es-ES" sz="1200" dirty="0" err="1"/>
              <a:t>c.draw_ports</a:t>
            </a:r>
            <a:r>
              <a:rPr lang="es-ES" sz="1200" dirty="0"/>
              <a:t>()</a:t>
            </a:r>
          </a:p>
          <a:p>
            <a:r>
              <a:rPr lang="es-ES" sz="1200" dirty="0" err="1"/>
              <a:t>c.plot</a:t>
            </a:r>
            <a:r>
              <a:rPr lang="es-ES" sz="1200" dirty="0"/>
              <a:t>()</a:t>
            </a:r>
          </a:p>
          <a:p>
            <a:endParaRPr lang="es-ES" dirty="0"/>
          </a:p>
        </p:txBody>
      </p:sp>
      <p:sp>
        <p:nvSpPr>
          <p:cNvPr id="7" name="CuadroTexto 6">
            <a:extLst>
              <a:ext uri="{FF2B5EF4-FFF2-40B4-BE49-F238E27FC236}">
                <a16:creationId xmlns:a16="http://schemas.microsoft.com/office/drawing/2014/main" id="{CD492E22-E7EA-110F-35C6-1AA4039523C3}"/>
              </a:ext>
            </a:extLst>
          </p:cNvPr>
          <p:cNvSpPr txBox="1"/>
          <p:nvPr/>
        </p:nvSpPr>
        <p:spPr>
          <a:xfrm>
            <a:off x="6040120" y="1360426"/>
            <a:ext cx="5791200" cy="4124206"/>
          </a:xfrm>
          <a:prstGeom prst="rect">
            <a:avLst/>
          </a:prstGeom>
          <a:noFill/>
        </p:spPr>
        <p:txBody>
          <a:bodyPr wrap="square" rtlCol="0">
            <a:spAutoFit/>
          </a:bodyPr>
          <a:lstStyle/>
          <a:p>
            <a:r>
              <a:rPr lang="es-ES" b="1" dirty="0"/>
              <a:t>Descripción del componente:</a:t>
            </a:r>
            <a:r>
              <a:rPr lang="es-ES" dirty="0"/>
              <a:t> </a:t>
            </a:r>
          </a:p>
          <a:p>
            <a:r>
              <a:rPr lang="es-ES" sz="1600" dirty="0"/>
              <a:t>Este componente es un </a:t>
            </a:r>
            <a:r>
              <a:rPr lang="es-ES" sz="1600" b="1" dirty="0"/>
              <a:t>acoplador direccional (</a:t>
            </a:r>
            <a:r>
              <a:rPr lang="es-ES" sz="1600" b="1" dirty="0" err="1"/>
              <a:t>coupler</a:t>
            </a:r>
            <a:r>
              <a:rPr lang="es-ES" sz="1600" b="1" dirty="0"/>
              <a:t>)</a:t>
            </a:r>
            <a:r>
              <a:rPr lang="es-ES" sz="1600" dirty="0"/>
              <a:t> diseñado mediante el uso de la librería de </a:t>
            </a:r>
            <a:r>
              <a:rPr lang="es-ES" sz="1600" dirty="0" err="1"/>
              <a:t>GDSfactory</a:t>
            </a:r>
            <a:r>
              <a:rPr lang="es-ES" sz="1600" dirty="0"/>
              <a:t>. Es un dispositivo de acoplamiento óptico de tipo </a:t>
            </a:r>
            <a:r>
              <a:rPr lang="es-ES" sz="1600" i="1" dirty="0"/>
              <a:t>S-</a:t>
            </a:r>
            <a:r>
              <a:rPr lang="es-ES" sz="1600" i="1" dirty="0" err="1"/>
              <a:t>bend</a:t>
            </a:r>
            <a:r>
              <a:rPr lang="es-ES" sz="1600" dirty="0"/>
              <a:t> que permite la transferencia de potencia entre dos guías de onda paralelas. Las dimensiones relevantes son una longitud de acoplamiento de L = 20 µm, un espacio entre guías (</a:t>
            </a:r>
            <a:r>
              <a:rPr lang="es-ES" sz="1600" i="1" dirty="0"/>
              <a:t>gap</a:t>
            </a:r>
            <a:r>
              <a:rPr lang="es-ES" sz="1600" dirty="0"/>
              <a:t>) de 0.6 µm, y una separación lateral de los puertos de </a:t>
            </a:r>
            <a:r>
              <a:rPr lang="es-ES" sz="1600" dirty="0" err="1"/>
              <a:t>dy</a:t>
            </a:r>
            <a:r>
              <a:rPr lang="es-ES" sz="1600" dirty="0"/>
              <a:t> = 4 µm. El componente utiliza una sección transversal de tipo </a:t>
            </a:r>
            <a:r>
              <a:rPr lang="es-ES" sz="1600" i="1" dirty="0" err="1"/>
              <a:t>strip</a:t>
            </a:r>
            <a:r>
              <a:rPr lang="es-ES" sz="1600" dirty="0"/>
              <a:t> con una anchura de 1.2 µm en la capa (1, 0). Se ha configurado con una curvatura de tipo </a:t>
            </a:r>
            <a:r>
              <a:rPr lang="es-ES" sz="1600" i="1" dirty="0"/>
              <a:t>S-</a:t>
            </a:r>
            <a:r>
              <a:rPr lang="es-ES" sz="1600" i="1" dirty="0" err="1"/>
              <a:t>bend</a:t>
            </a:r>
            <a:r>
              <a:rPr lang="es-ES" sz="1600" dirty="0"/>
              <a:t> para garantizar una transición suave y minimizar las pérdidas por radiación durante la separación de los puertos.</a:t>
            </a:r>
          </a:p>
          <a:p>
            <a:endParaRPr lang="es-ES" sz="1600" dirty="0"/>
          </a:p>
          <a:p>
            <a:r>
              <a:rPr lang="es-ES" sz="1600" dirty="0"/>
              <a:t>Código:</a:t>
            </a:r>
          </a:p>
          <a:p>
            <a:endParaRPr lang="es-ES" dirty="0"/>
          </a:p>
          <a:p>
            <a:endParaRPr lang="es-ES" dirty="0"/>
          </a:p>
        </p:txBody>
      </p:sp>
    </p:spTree>
    <p:extLst>
      <p:ext uri="{BB962C8B-B14F-4D97-AF65-F5344CB8AC3E}">
        <p14:creationId xmlns:p14="http://schemas.microsoft.com/office/powerpoint/2010/main" val="25643127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18187D-65BC-F801-00E6-1745D84C14D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ADC5D878-072B-B10D-E472-5E4DA9F248D1}"/>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gn="just">
              <a:lnSpc>
                <a:spcPct val="100000"/>
              </a:lnSpc>
              <a:spcBef>
                <a:spcPts val="100"/>
              </a:spcBef>
            </a:pPr>
            <a:r>
              <a:rPr lang="en-US" sz="2500" dirty="0"/>
              <a:t>Learning outcome #1b – Notebook section 1. Technology – MMI 2x2</a:t>
            </a:r>
            <a:endParaRPr sz="2500" b="0" i="1" dirty="0">
              <a:latin typeface="+mj-lt"/>
              <a:cs typeface="Lucida Sans"/>
            </a:endParaRPr>
          </a:p>
        </p:txBody>
      </p:sp>
      <p:pic>
        <p:nvPicPr>
          <p:cNvPr id="83" name="Gráfico 82">
            <a:extLst>
              <a:ext uri="{FF2B5EF4-FFF2-40B4-BE49-F238E27FC236}">
                <a16:creationId xmlns:a16="http://schemas.microsoft.com/office/drawing/2014/main" id="{21A6A77A-8706-E430-B8E6-2D16B595F06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BB88F211-A273-072D-85FF-5917748C94B9}"/>
              </a:ext>
            </a:extLst>
          </p:cNvPr>
          <p:cNvSpPr>
            <a:spLocks noGrp="1"/>
          </p:cNvSpPr>
          <p:nvPr>
            <p:ph type="sldNum" sz="quarter" idx="7"/>
          </p:nvPr>
        </p:nvSpPr>
        <p:spPr/>
        <p:txBody>
          <a:bodyPr/>
          <a:lstStyle/>
          <a:p>
            <a:fld id="{B6F15528-21DE-4FAA-801E-634DDDAF4B2B}" type="slidenum">
              <a:rPr lang="es-ES" smtClean="0"/>
              <a:t>7</a:t>
            </a:fld>
            <a:endParaRPr lang="es-ES"/>
          </a:p>
        </p:txBody>
      </p:sp>
      <p:sp>
        <p:nvSpPr>
          <p:cNvPr id="3" name="Marcador de pie de página 2">
            <a:extLst>
              <a:ext uri="{FF2B5EF4-FFF2-40B4-BE49-F238E27FC236}">
                <a16:creationId xmlns:a16="http://schemas.microsoft.com/office/drawing/2014/main" id="{66B42132-B537-82D5-6EE5-6B1F010F0F68}"/>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6" name="CuadroTexto 5">
            <a:extLst>
              <a:ext uri="{FF2B5EF4-FFF2-40B4-BE49-F238E27FC236}">
                <a16:creationId xmlns:a16="http://schemas.microsoft.com/office/drawing/2014/main" id="{A272091B-2E95-11B4-0088-78FA05E45C41}"/>
              </a:ext>
            </a:extLst>
          </p:cNvPr>
          <p:cNvSpPr txBox="1"/>
          <p:nvPr/>
        </p:nvSpPr>
        <p:spPr>
          <a:xfrm>
            <a:off x="6040120" y="4875651"/>
            <a:ext cx="3886200" cy="1661993"/>
          </a:xfrm>
          <a:prstGeom prst="rect">
            <a:avLst/>
          </a:prstGeom>
          <a:noFill/>
        </p:spPr>
        <p:txBody>
          <a:bodyPr wrap="square" rtlCol="0">
            <a:spAutoFit/>
          </a:bodyPr>
          <a:lstStyle/>
          <a:p>
            <a:r>
              <a:rPr lang="es-ES" sz="1200" dirty="0"/>
              <a:t>c = </a:t>
            </a:r>
            <a:r>
              <a:rPr lang="es-ES" sz="1200" dirty="0" err="1"/>
              <a:t>gf.components.mmi</a:t>
            </a:r>
            <a:r>
              <a:rPr lang="es-ES" sz="1200" dirty="0"/>
              <a:t>(inputs=2, outputs=2, </a:t>
            </a:r>
            <a:r>
              <a:rPr lang="es-ES" sz="1200" dirty="0" err="1"/>
              <a:t>width</a:t>
            </a:r>
            <a:r>
              <a:rPr lang="es-ES" sz="1200" dirty="0"/>
              <a:t>=1.2, </a:t>
            </a:r>
            <a:r>
              <a:rPr lang="es-ES" sz="1200" dirty="0" err="1"/>
              <a:t>width_taper</a:t>
            </a:r>
            <a:r>
              <a:rPr lang="es-ES" sz="1200" dirty="0"/>
              <a:t>=1, </a:t>
            </a:r>
            <a:r>
              <a:rPr lang="es-ES" sz="1200" dirty="0" err="1"/>
              <a:t>length_taper</a:t>
            </a:r>
            <a:r>
              <a:rPr lang="es-ES" sz="1200" dirty="0"/>
              <a:t>=10, </a:t>
            </a:r>
            <a:r>
              <a:rPr lang="es-ES" sz="1200" dirty="0" err="1"/>
              <a:t>length_mmi</a:t>
            </a:r>
            <a:r>
              <a:rPr lang="es-ES" sz="1200" dirty="0"/>
              <a:t>=34.518, </a:t>
            </a:r>
            <a:r>
              <a:rPr lang="es-ES" sz="1200" dirty="0" err="1"/>
              <a:t>width_mmi</a:t>
            </a:r>
            <a:r>
              <a:rPr lang="es-ES" sz="1200" dirty="0"/>
              <a:t>=6.6, </a:t>
            </a:r>
            <a:r>
              <a:rPr lang="es-ES" sz="1200" dirty="0" err="1"/>
              <a:t>gap_input_tapers</a:t>
            </a:r>
            <a:r>
              <a:rPr lang="es-ES" sz="1200" dirty="0"/>
              <a:t>=1, </a:t>
            </a:r>
            <a:r>
              <a:rPr lang="es-ES" sz="1200" dirty="0" err="1"/>
              <a:t>gap_output_tapers</a:t>
            </a:r>
            <a:r>
              <a:rPr lang="es-ES" sz="1200" dirty="0"/>
              <a:t>=1, </a:t>
            </a:r>
            <a:r>
              <a:rPr lang="es-ES" sz="1200" dirty="0" err="1"/>
              <a:t>taper</a:t>
            </a:r>
            <a:r>
              <a:rPr lang="es-ES" sz="1200" dirty="0"/>
              <a:t>='</a:t>
            </a:r>
            <a:r>
              <a:rPr lang="es-ES" sz="1200" dirty="0" err="1"/>
              <a:t>taper</a:t>
            </a:r>
            <a:r>
              <a:rPr lang="es-ES" sz="1200" dirty="0"/>
              <a:t>', </a:t>
            </a:r>
            <a:r>
              <a:rPr lang="es-ES" sz="1200" dirty="0" err="1"/>
              <a:t>straight</a:t>
            </a:r>
            <a:r>
              <a:rPr lang="es-ES" sz="1200" dirty="0"/>
              <a:t>='</a:t>
            </a:r>
            <a:r>
              <a:rPr lang="es-ES" sz="1200" dirty="0" err="1"/>
              <a:t>straight</a:t>
            </a:r>
            <a:r>
              <a:rPr lang="es-ES" sz="1200" dirty="0"/>
              <a:t>', </a:t>
            </a:r>
            <a:r>
              <a:rPr lang="es-ES" sz="1200" dirty="0" err="1"/>
              <a:t>cross_section</a:t>
            </a:r>
            <a:r>
              <a:rPr lang="es-ES" sz="1200" dirty="0"/>
              <a:t>='</a:t>
            </a:r>
            <a:r>
              <a:rPr lang="es-ES" sz="1200" dirty="0" err="1"/>
              <a:t>strip</a:t>
            </a:r>
            <a:r>
              <a:rPr lang="es-ES" sz="1200" dirty="0"/>
              <a:t>').</a:t>
            </a:r>
            <a:r>
              <a:rPr lang="es-ES" sz="1200" dirty="0" err="1"/>
              <a:t>copy</a:t>
            </a:r>
            <a:r>
              <a:rPr lang="es-ES" sz="1200" dirty="0"/>
              <a:t>()</a:t>
            </a:r>
          </a:p>
          <a:p>
            <a:r>
              <a:rPr lang="es-ES" sz="1200" dirty="0" err="1"/>
              <a:t>c.draw_ports</a:t>
            </a:r>
            <a:r>
              <a:rPr lang="es-ES" sz="1200" dirty="0"/>
              <a:t>()</a:t>
            </a:r>
          </a:p>
          <a:p>
            <a:r>
              <a:rPr lang="es-ES" sz="1200" dirty="0" err="1"/>
              <a:t>c.plot</a:t>
            </a:r>
            <a:r>
              <a:rPr lang="es-ES" sz="1200" dirty="0"/>
              <a:t>()</a:t>
            </a:r>
          </a:p>
          <a:p>
            <a:endParaRPr lang="es-ES" dirty="0"/>
          </a:p>
        </p:txBody>
      </p:sp>
      <p:sp>
        <p:nvSpPr>
          <p:cNvPr id="7" name="CuadroTexto 6">
            <a:extLst>
              <a:ext uri="{FF2B5EF4-FFF2-40B4-BE49-F238E27FC236}">
                <a16:creationId xmlns:a16="http://schemas.microsoft.com/office/drawing/2014/main" id="{3D8CCCE2-5868-4F8B-0FC2-620EA78659AD}"/>
              </a:ext>
            </a:extLst>
          </p:cNvPr>
          <p:cNvSpPr txBox="1"/>
          <p:nvPr/>
        </p:nvSpPr>
        <p:spPr>
          <a:xfrm>
            <a:off x="6040120" y="1360426"/>
            <a:ext cx="5791200" cy="4093428"/>
          </a:xfrm>
          <a:prstGeom prst="rect">
            <a:avLst/>
          </a:prstGeom>
          <a:noFill/>
        </p:spPr>
        <p:txBody>
          <a:bodyPr wrap="square" rtlCol="0">
            <a:spAutoFit/>
          </a:bodyPr>
          <a:lstStyle/>
          <a:p>
            <a:r>
              <a:rPr lang="es-ES" sz="1600" b="1" dirty="0"/>
              <a:t>Descripción del componente:</a:t>
            </a:r>
            <a:r>
              <a:rPr lang="es-ES" sz="1600" dirty="0"/>
              <a:t> Este es el </a:t>
            </a:r>
            <a:r>
              <a:rPr lang="es-ES" sz="1600" b="1" dirty="0"/>
              <a:t>MMI (Interferómetro Multimodo) 2x2</a:t>
            </a:r>
            <a:r>
              <a:rPr lang="es-ES" sz="1600" dirty="0"/>
              <a:t> diseñado para la división y recombinación equitativa de potencia óptica. El dispositivo opera mediante el principio de interferencia de modos acoplados dentro de una región central de confinamiento, con una longitud de acoplamiento </a:t>
            </a:r>
            <a:r>
              <a:rPr lang="es-ES" sz="1600" dirty="0" err="1"/>
              <a:t>L_mmi</a:t>
            </a:r>
            <a:r>
              <a:rPr lang="es-ES" sz="1600" dirty="0"/>
              <a:t> = 34.518 µm y una anchura de </a:t>
            </a:r>
            <a:r>
              <a:rPr lang="es-ES" sz="1600" dirty="0" err="1"/>
              <a:t>W_mmi</a:t>
            </a:r>
            <a:r>
              <a:rPr lang="es-ES" sz="1600" dirty="0"/>
              <a:t> = 6.6 µm. El diseño incluye </a:t>
            </a:r>
            <a:r>
              <a:rPr lang="es-ES" sz="1600" i="1" dirty="0" err="1"/>
              <a:t>tapers</a:t>
            </a:r>
            <a:r>
              <a:rPr lang="es-ES" sz="1600" dirty="0"/>
              <a:t> (o adaptadores adiabáticos) de 10 µm de longitud con una anchura de 1 µm para minimizar las pérdidas por reflexión en la transición entre las guías de entrada/salida y la región multimodo. La separación entre los </a:t>
            </a:r>
            <a:r>
              <a:rPr lang="es-ES" sz="1600" i="1" dirty="0" err="1"/>
              <a:t>tapers</a:t>
            </a:r>
            <a:r>
              <a:rPr lang="es-ES" sz="1600" dirty="0"/>
              <a:t> (</a:t>
            </a:r>
            <a:r>
              <a:rPr lang="es-ES" sz="1600" i="1" dirty="0"/>
              <a:t>gap</a:t>
            </a:r>
            <a:r>
              <a:rPr lang="es-ES" sz="1600" dirty="0"/>
              <a:t>) es de 1 µm, utilizando una sección transversal de tipo </a:t>
            </a:r>
            <a:r>
              <a:rPr lang="es-ES" sz="1600" i="1" dirty="0" err="1"/>
              <a:t>strip</a:t>
            </a:r>
            <a:r>
              <a:rPr lang="es-ES" sz="1600" dirty="0"/>
              <a:t> con una anchura de guía de 1.2 µm en la capa (1, 0).</a:t>
            </a:r>
          </a:p>
          <a:p>
            <a:endParaRPr lang="es-ES" sz="1600" dirty="0"/>
          </a:p>
          <a:p>
            <a:r>
              <a:rPr lang="es-ES" sz="1600" dirty="0"/>
              <a:t>Código:</a:t>
            </a:r>
          </a:p>
          <a:p>
            <a:endParaRPr lang="es-ES" dirty="0"/>
          </a:p>
          <a:p>
            <a:endParaRPr lang="es-ES" dirty="0"/>
          </a:p>
        </p:txBody>
      </p:sp>
      <p:pic>
        <p:nvPicPr>
          <p:cNvPr id="4" name="Imagen 3">
            <a:extLst>
              <a:ext uri="{FF2B5EF4-FFF2-40B4-BE49-F238E27FC236}">
                <a16:creationId xmlns:a16="http://schemas.microsoft.com/office/drawing/2014/main" id="{7425BFB5-E658-CCCE-B2BB-6C30148CFF65}"/>
              </a:ext>
            </a:extLst>
          </p:cNvPr>
          <p:cNvPicPr>
            <a:picLocks noChangeAspect="1"/>
          </p:cNvPicPr>
          <p:nvPr/>
        </p:nvPicPr>
        <p:blipFill>
          <a:blip r:embed="rId4"/>
          <a:stretch>
            <a:fillRect/>
          </a:stretch>
        </p:blipFill>
        <p:spPr>
          <a:xfrm>
            <a:off x="228600" y="1517289"/>
            <a:ext cx="5642304" cy="4259386"/>
          </a:xfrm>
          <a:prstGeom prst="rect">
            <a:avLst/>
          </a:prstGeom>
        </p:spPr>
      </p:pic>
    </p:spTree>
    <p:extLst>
      <p:ext uri="{BB962C8B-B14F-4D97-AF65-F5344CB8AC3E}">
        <p14:creationId xmlns:p14="http://schemas.microsoft.com/office/powerpoint/2010/main" val="11328535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DB6B0C-7DF7-1A72-4912-391A692CCCD6}"/>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203DD390-6F92-3EFC-95F2-7F4178633CCE}"/>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gn="just">
              <a:lnSpc>
                <a:spcPct val="100000"/>
              </a:lnSpc>
              <a:spcBef>
                <a:spcPts val="100"/>
              </a:spcBef>
            </a:pPr>
            <a:r>
              <a:rPr lang="en-US" sz="2500" dirty="0"/>
              <a:t>Learning outcome #1b – Notebook section 1. Technology – MMI 1x4</a:t>
            </a:r>
            <a:endParaRPr sz="2500" b="0" i="1" dirty="0">
              <a:latin typeface="+mj-lt"/>
              <a:cs typeface="Lucida Sans"/>
            </a:endParaRPr>
          </a:p>
        </p:txBody>
      </p:sp>
      <p:pic>
        <p:nvPicPr>
          <p:cNvPr id="83" name="Gráfico 82">
            <a:extLst>
              <a:ext uri="{FF2B5EF4-FFF2-40B4-BE49-F238E27FC236}">
                <a16:creationId xmlns:a16="http://schemas.microsoft.com/office/drawing/2014/main" id="{94752D19-512B-FF55-F447-4AEAED90432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BDE5BC75-4AD6-F330-17CF-38C4A61B7B8B}"/>
              </a:ext>
            </a:extLst>
          </p:cNvPr>
          <p:cNvSpPr>
            <a:spLocks noGrp="1"/>
          </p:cNvSpPr>
          <p:nvPr>
            <p:ph type="sldNum" sz="quarter" idx="7"/>
          </p:nvPr>
        </p:nvSpPr>
        <p:spPr/>
        <p:txBody>
          <a:bodyPr/>
          <a:lstStyle/>
          <a:p>
            <a:fld id="{B6F15528-21DE-4FAA-801E-634DDDAF4B2B}" type="slidenum">
              <a:rPr lang="es-ES" smtClean="0"/>
              <a:t>8</a:t>
            </a:fld>
            <a:endParaRPr lang="es-ES"/>
          </a:p>
        </p:txBody>
      </p:sp>
      <p:sp>
        <p:nvSpPr>
          <p:cNvPr id="3" name="Marcador de pie de página 2">
            <a:extLst>
              <a:ext uri="{FF2B5EF4-FFF2-40B4-BE49-F238E27FC236}">
                <a16:creationId xmlns:a16="http://schemas.microsoft.com/office/drawing/2014/main" id="{7172FF5B-6625-1D67-8D62-80455E55FF3A}"/>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6" name="CuadroTexto 5">
            <a:extLst>
              <a:ext uri="{FF2B5EF4-FFF2-40B4-BE49-F238E27FC236}">
                <a16:creationId xmlns:a16="http://schemas.microsoft.com/office/drawing/2014/main" id="{99F4B801-D894-E9B9-63AF-DDB234A41BB8}"/>
              </a:ext>
            </a:extLst>
          </p:cNvPr>
          <p:cNvSpPr txBox="1"/>
          <p:nvPr/>
        </p:nvSpPr>
        <p:spPr>
          <a:xfrm>
            <a:off x="6040120" y="4875651"/>
            <a:ext cx="3886200" cy="1661993"/>
          </a:xfrm>
          <a:prstGeom prst="rect">
            <a:avLst/>
          </a:prstGeom>
          <a:noFill/>
        </p:spPr>
        <p:txBody>
          <a:bodyPr wrap="square" rtlCol="0">
            <a:spAutoFit/>
          </a:bodyPr>
          <a:lstStyle/>
          <a:p>
            <a:r>
              <a:rPr lang="es-ES" sz="1200" dirty="0"/>
              <a:t>c = </a:t>
            </a:r>
            <a:r>
              <a:rPr lang="es-ES" sz="1200" dirty="0" err="1"/>
              <a:t>gf.components.mmi</a:t>
            </a:r>
            <a:r>
              <a:rPr lang="es-ES" sz="1200" dirty="0"/>
              <a:t>(inputs=1, outputs=4, </a:t>
            </a:r>
            <a:r>
              <a:rPr lang="es-ES" sz="1200" dirty="0" err="1"/>
              <a:t>width</a:t>
            </a:r>
            <a:r>
              <a:rPr lang="es-ES" sz="1200" dirty="0"/>
              <a:t>=1.2, </a:t>
            </a:r>
            <a:r>
              <a:rPr lang="es-ES" sz="1200" dirty="0" err="1"/>
              <a:t>width_taper</a:t>
            </a:r>
            <a:r>
              <a:rPr lang="es-ES" sz="1200" dirty="0"/>
              <a:t>=1, </a:t>
            </a:r>
            <a:r>
              <a:rPr lang="es-ES" sz="1200" dirty="0" err="1"/>
              <a:t>length_taper</a:t>
            </a:r>
            <a:r>
              <a:rPr lang="es-ES" sz="1200" dirty="0"/>
              <a:t>=10, </a:t>
            </a:r>
            <a:r>
              <a:rPr lang="es-ES" sz="1200" dirty="0" err="1"/>
              <a:t>length_mmi</a:t>
            </a:r>
            <a:r>
              <a:rPr lang="es-ES" sz="1200" dirty="0"/>
              <a:t>=41.0886, </a:t>
            </a:r>
            <a:r>
              <a:rPr lang="es-ES" sz="1200" dirty="0" err="1"/>
              <a:t>width_mmi</a:t>
            </a:r>
            <a:r>
              <a:rPr lang="es-ES" sz="1200" dirty="0"/>
              <a:t>=12, </a:t>
            </a:r>
            <a:r>
              <a:rPr lang="es-ES" sz="1200" dirty="0" err="1"/>
              <a:t>gap_input_tapers</a:t>
            </a:r>
            <a:r>
              <a:rPr lang="es-ES" sz="1200" dirty="0"/>
              <a:t>=1, </a:t>
            </a:r>
            <a:r>
              <a:rPr lang="es-ES" sz="1200" dirty="0" err="1"/>
              <a:t>gap_output_tapers</a:t>
            </a:r>
            <a:r>
              <a:rPr lang="es-ES" sz="1200" dirty="0"/>
              <a:t>=1, </a:t>
            </a:r>
            <a:r>
              <a:rPr lang="es-ES" sz="1200" dirty="0" err="1"/>
              <a:t>taper</a:t>
            </a:r>
            <a:r>
              <a:rPr lang="es-ES" sz="1200" dirty="0"/>
              <a:t>='</a:t>
            </a:r>
            <a:r>
              <a:rPr lang="es-ES" sz="1200" dirty="0" err="1"/>
              <a:t>taper</a:t>
            </a:r>
            <a:r>
              <a:rPr lang="es-ES" sz="1200" dirty="0"/>
              <a:t>', </a:t>
            </a:r>
            <a:r>
              <a:rPr lang="es-ES" sz="1200" dirty="0" err="1"/>
              <a:t>straight</a:t>
            </a:r>
            <a:r>
              <a:rPr lang="es-ES" sz="1200" dirty="0"/>
              <a:t>='</a:t>
            </a:r>
            <a:r>
              <a:rPr lang="es-ES" sz="1200" dirty="0" err="1"/>
              <a:t>straight</a:t>
            </a:r>
            <a:r>
              <a:rPr lang="es-ES" sz="1200" dirty="0"/>
              <a:t>', </a:t>
            </a:r>
            <a:r>
              <a:rPr lang="es-ES" sz="1200" dirty="0" err="1"/>
              <a:t>cross_section</a:t>
            </a:r>
            <a:r>
              <a:rPr lang="es-ES" sz="1200" dirty="0"/>
              <a:t>='</a:t>
            </a:r>
            <a:r>
              <a:rPr lang="es-ES" sz="1200" dirty="0" err="1"/>
              <a:t>strip</a:t>
            </a:r>
            <a:r>
              <a:rPr lang="es-ES" sz="1200" dirty="0"/>
              <a:t>').</a:t>
            </a:r>
            <a:r>
              <a:rPr lang="es-ES" sz="1200" dirty="0" err="1"/>
              <a:t>copy</a:t>
            </a:r>
            <a:r>
              <a:rPr lang="es-ES" sz="1200" dirty="0"/>
              <a:t>()</a:t>
            </a:r>
          </a:p>
          <a:p>
            <a:r>
              <a:rPr lang="es-ES" sz="1200" dirty="0" err="1"/>
              <a:t>c.draw_ports</a:t>
            </a:r>
            <a:r>
              <a:rPr lang="es-ES" sz="1200" dirty="0"/>
              <a:t>()</a:t>
            </a:r>
          </a:p>
          <a:p>
            <a:r>
              <a:rPr lang="es-ES" sz="1200" dirty="0" err="1"/>
              <a:t>c.plot</a:t>
            </a:r>
            <a:r>
              <a:rPr lang="es-ES" sz="1200" dirty="0"/>
              <a:t>()</a:t>
            </a:r>
          </a:p>
          <a:p>
            <a:endParaRPr lang="es-ES" dirty="0"/>
          </a:p>
        </p:txBody>
      </p:sp>
      <p:sp>
        <p:nvSpPr>
          <p:cNvPr id="7" name="CuadroTexto 6">
            <a:extLst>
              <a:ext uri="{FF2B5EF4-FFF2-40B4-BE49-F238E27FC236}">
                <a16:creationId xmlns:a16="http://schemas.microsoft.com/office/drawing/2014/main" id="{D714BA74-7BB5-9F58-69F2-E0157EF27B4A}"/>
              </a:ext>
            </a:extLst>
          </p:cNvPr>
          <p:cNvSpPr txBox="1"/>
          <p:nvPr/>
        </p:nvSpPr>
        <p:spPr>
          <a:xfrm>
            <a:off x="6040120" y="1360426"/>
            <a:ext cx="5791200" cy="4093428"/>
          </a:xfrm>
          <a:prstGeom prst="rect">
            <a:avLst/>
          </a:prstGeom>
          <a:noFill/>
        </p:spPr>
        <p:txBody>
          <a:bodyPr wrap="square" rtlCol="0">
            <a:spAutoFit/>
          </a:bodyPr>
          <a:lstStyle/>
          <a:p>
            <a:r>
              <a:rPr lang="es-ES" sz="1600" b="1" dirty="0"/>
              <a:t>Descripción del componente:</a:t>
            </a:r>
            <a:r>
              <a:rPr lang="es-ES" sz="1600" dirty="0"/>
              <a:t> Este componente es un </a:t>
            </a:r>
            <a:r>
              <a:rPr lang="es-ES" sz="1600" b="1" dirty="0"/>
              <a:t>divisor de potencia MMI 1x4</a:t>
            </a:r>
            <a:r>
              <a:rPr lang="es-ES" sz="1600" dirty="0"/>
              <a:t> (o </a:t>
            </a:r>
            <a:r>
              <a:rPr lang="es-ES" sz="1600" i="1" dirty="0" err="1"/>
              <a:t>splitter</a:t>
            </a:r>
            <a:r>
              <a:rPr lang="es-ES" sz="1600" dirty="0"/>
              <a:t> de 1 a 4), diseñado para distribuir una señal óptica de entrada hacia cuatro salidas independientes con igual reparto de intensidad. El dispositivo basa su funcionamiento en la interferencia de múltiples modos ópticos dentro de una región de confinamiento de </a:t>
            </a:r>
            <a:r>
              <a:rPr lang="es-ES" sz="1600" dirty="0" err="1"/>
              <a:t>L_mmi</a:t>
            </a:r>
            <a:r>
              <a:rPr lang="es-ES" sz="1600" dirty="0"/>
              <a:t> = 41.0886 µm de longitud y </a:t>
            </a:r>
            <a:r>
              <a:rPr lang="es-ES" sz="1600" dirty="0" err="1"/>
              <a:t>W_mmi</a:t>
            </a:r>
            <a:r>
              <a:rPr lang="es-ES" sz="1600" dirty="0"/>
              <a:t> = 12 µm de anchura. Para asegurar una transición eficiente y minimizar las pérdidas, se han incorporado adaptadores (</a:t>
            </a:r>
            <a:r>
              <a:rPr lang="es-ES" sz="1600" i="1" dirty="0" err="1"/>
              <a:t>tapers</a:t>
            </a:r>
            <a:r>
              <a:rPr lang="es-ES" sz="1600" dirty="0"/>
              <a:t>) de 10 µm de longitud y 1 µm de anchura, manteniendo una separación (</a:t>
            </a:r>
            <a:r>
              <a:rPr lang="es-ES" sz="1600" i="1" dirty="0"/>
              <a:t>gap</a:t>
            </a:r>
            <a:r>
              <a:rPr lang="es-ES" sz="1600" dirty="0"/>
              <a:t>) de 1 µm entre los </a:t>
            </a:r>
            <a:r>
              <a:rPr lang="es-ES" sz="1600" i="1" dirty="0" err="1"/>
              <a:t>tapers</a:t>
            </a:r>
            <a:r>
              <a:rPr lang="es-ES" sz="1600" dirty="0"/>
              <a:t> de salida. El diseño utiliza una sección transversal tipo </a:t>
            </a:r>
            <a:r>
              <a:rPr lang="es-ES" sz="1600" i="1" dirty="0" err="1"/>
              <a:t>strip</a:t>
            </a:r>
            <a:r>
              <a:rPr lang="es-ES" sz="1600" dirty="0"/>
              <a:t> con una anchura de guía de 1.2 µm en la capa (1, 0).</a:t>
            </a:r>
          </a:p>
          <a:p>
            <a:endParaRPr lang="es-ES" sz="1600" dirty="0"/>
          </a:p>
          <a:p>
            <a:r>
              <a:rPr lang="es-ES" sz="1600" dirty="0"/>
              <a:t>Código:</a:t>
            </a:r>
          </a:p>
          <a:p>
            <a:endParaRPr lang="es-ES" dirty="0"/>
          </a:p>
          <a:p>
            <a:endParaRPr lang="es-ES" dirty="0"/>
          </a:p>
        </p:txBody>
      </p:sp>
      <p:pic>
        <p:nvPicPr>
          <p:cNvPr id="5" name="Imagen 4">
            <a:extLst>
              <a:ext uri="{FF2B5EF4-FFF2-40B4-BE49-F238E27FC236}">
                <a16:creationId xmlns:a16="http://schemas.microsoft.com/office/drawing/2014/main" id="{809DD018-4657-A883-50D1-7664D90BC695}"/>
              </a:ext>
            </a:extLst>
          </p:cNvPr>
          <p:cNvPicPr>
            <a:picLocks noChangeAspect="1"/>
          </p:cNvPicPr>
          <p:nvPr/>
        </p:nvPicPr>
        <p:blipFill>
          <a:blip r:embed="rId4"/>
          <a:stretch>
            <a:fillRect/>
          </a:stretch>
        </p:blipFill>
        <p:spPr>
          <a:xfrm>
            <a:off x="228600" y="1672773"/>
            <a:ext cx="5602184" cy="4229100"/>
          </a:xfrm>
          <a:prstGeom prst="rect">
            <a:avLst/>
          </a:prstGeom>
        </p:spPr>
      </p:pic>
    </p:spTree>
    <p:extLst>
      <p:ext uri="{BB962C8B-B14F-4D97-AF65-F5344CB8AC3E}">
        <p14:creationId xmlns:p14="http://schemas.microsoft.com/office/powerpoint/2010/main" val="23649825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9EEDEC-CBE3-6085-A32A-6E32A4E3338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F7E3AF7F-4F17-8816-C1DE-E9AF673C142F}"/>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gn="just">
              <a:lnSpc>
                <a:spcPct val="100000"/>
              </a:lnSpc>
              <a:spcBef>
                <a:spcPts val="100"/>
              </a:spcBef>
            </a:pPr>
            <a:r>
              <a:rPr lang="en-US" sz="2500" dirty="0"/>
              <a:t>Learning outcome #1b – Notebook section 1. Technology – MZI 2x2</a:t>
            </a:r>
            <a:endParaRPr sz="2500" b="0" i="1" dirty="0">
              <a:latin typeface="+mj-lt"/>
              <a:cs typeface="Lucida Sans"/>
            </a:endParaRPr>
          </a:p>
        </p:txBody>
      </p:sp>
      <p:pic>
        <p:nvPicPr>
          <p:cNvPr id="83" name="Gráfico 82">
            <a:extLst>
              <a:ext uri="{FF2B5EF4-FFF2-40B4-BE49-F238E27FC236}">
                <a16:creationId xmlns:a16="http://schemas.microsoft.com/office/drawing/2014/main" id="{46A3CB74-1BFF-6F4E-06F7-A093B7D1DEA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9FC48E88-71A1-B083-E29C-9184A05FA17F}"/>
              </a:ext>
            </a:extLst>
          </p:cNvPr>
          <p:cNvSpPr>
            <a:spLocks noGrp="1"/>
          </p:cNvSpPr>
          <p:nvPr>
            <p:ph type="sldNum" sz="quarter" idx="7"/>
          </p:nvPr>
        </p:nvSpPr>
        <p:spPr/>
        <p:txBody>
          <a:bodyPr/>
          <a:lstStyle/>
          <a:p>
            <a:fld id="{B6F15528-21DE-4FAA-801E-634DDDAF4B2B}" type="slidenum">
              <a:rPr lang="es-ES" smtClean="0"/>
              <a:t>9</a:t>
            </a:fld>
            <a:endParaRPr lang="es-ES"/>
          </a:p>
        </p:txBody>
      </p:sp>
      <p:sp>
        <p:nvSpPr>
          <p:cNvPr id="3" name="Marcador de pie de página 2">
            <a:extLst>
              <a:ext uri="{FF2B5EF4-FFF2-40B4-BE49-F238E27FC236}">
                <a16:creationId xmlns:a16="http://schemas.microsoft.com/office/drawing/2014/main" id="{42AB58C1-1390-24E2-9216-B7AA78D4D927}"/>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6" name="CuadroTexto 5">
            <a:extLst>
              <a:ext uri="{FF2B5EF4-FFF2-40B4-BE49-F238E27FC236}">
                <a16:creationId xmlns:a16="http://schemas.microsoft.com/office/drawing/2014/main" id="{E1C09E25-DFB1-4DE8-8315-6925A9C85269}"/>
              </a:ext>
            </a:extLst>
          </p:cNvPr>
          <p:cNvSpPr txBox="1"/>
          <p:nvPr/>
        </p:nvSpPr>
        <p:spPr>
          <a:xfrm>
            <a:off x="6040120" y="4690985"/>
            <a:ext cx="6304280" cy="1846659"/>
          </a:xfrm>
          <a:prstGeom prst="rect">
            <a:avLst/>
          </a:prstGeom>
          <a:noFill/>
        </p:spPr>
        <p:txBody>
          <a:bodyPr wrap="square" rtlCol="0">
            <a:spAutoFit/>
          </a:bodyPr>
          <a:lstStyle/>
          <a:p>
            <a:endParaRPr lang="es-ES" sz="1200" dirty="0"/>
          </a:p>
          <a:p>
            <a:r>
              <a:rPr lang="es-ES" sz="1200" dirty="0"/>
              <a:t>c = </a:t>
            </a:r>
            <a:r>
              <a:rPr lang="es-ES" sz="1200" dirty="0" err="1"/>
              <a:t>gf.components.mzi_lattice_mmi</a:t>
            </a:r>
            <a:r>
              <a:rPr lang="es-ES" sz="1200" dirty="0"/>
              <a:t>(</a:t>
            </a:r>
            <a:r>
              <a:rPr lang="es-ES" sz="1200" dirty="0" err="1"/>
              <a:t>coupler_widths</a:t>
            </a:r>
            <a:r>
              <a:rPr lang="es-ES" sz="1200" dirty="0"/>
              <a:t>=(None, None), </a:t>
            </a:r>
            <a:r>
              <a:rPr lang="es-ES" sz="1200" dirty="0" err="1"/>
              <a:t>coupler_widths_tapers</a:t>
            </a:r>
            <a:r>
              <a:rPr lang="es-ES" sz="1200" dirty="0"/>
              <a:t>=(1, 1), </a:t>
            </a:r>
            <a:r>
              <a:rPr lang="es-ES" sz="1200" dirty="0" err="1"/>
              <a:t>coupler_lengths_tapers</a:t>
            </a:r>
            <a:r>
              <a:rPr lang="es-ES" sz="1200" dirty="0"/>
              <a:t>=(10, 10), </a:t>
            </a:r>
            <a:r>
              <a:rPr lang="es-ES" sz="1200" dirty="0" err="1"/>
              <a:t>coupler_lengths_mmis</a:t>
            </a:r>
            <a:r>
              <a:rPr lang="es-ES" sz="1200" dirty="0"/>
              <a:t>=(5.5, 5.5), </a:t>
            </a:r>
            <a:r>
              <a:rPr lang="es-ES" sz="1200" dirty="0" err="1"/>
              <a:t>coupler_widths_mmis</a:t>
            </a:r>
            <a:r>
              <a:rPr lang="es-ES" sz="1200" dirty="0"/>
              <a:t>=(2.5, 2.5), </a:t>
            </a:r>
            <a:r>
              <a:rPr lang="es-ES" sz="1200" dirty="0" err="1"/>
              <a:t>coupler_gaps_mmis</a:t>
            </a:r>
            <a:r>
              <a:rPr lang="es-ES" sz="1200" dirty="0"/>
              <a:t>=(0.25, 0.25), </a:t>
            </a:r>
            <a:r>
              <a:rPr lang="es-ES" sz="1200" dirty="0" err="1"/>
              <a:t>taper_functions_mmis</a:t>
            </a:r>
            <a:r>
              <a:rPr lang="es-ES" sz="1200" dirty="0"/>
              <a:t>=('</a:t>
            </a:r>
            <a:r>
              <a:rPr lang="es-ES" sz="1200" dirty="0" err="1"/>
              <a:t>taper</a:t>
            </a:r>
            <a:r>
              <a:rPr lang="es-ES" sz="1200" dirty="0"/>
              <a:t>', '</a:t>
            </a:r>
            <a:r>
              <a:rPr lang="es-ES" sz="1200" dirty="0" err="1"/>
              <a:t>taper</a:t>
            </a:r>
            <a:r>
              <a:rPr lang="es-ES" sz="1200" dirty="0"/>
              <a:t>'), </a:t>
            </a:r>
            <a:r>
              <a:rPr lang="es-ES" sz="1200" dirty="0" err="1"/>
              <a:t>straight_functions_mmis</a:t>
            </a:r>
            <a:r>
              <a:rPr lang="es-ES" sz="1200" dirty="0"/>
              <a:t>=('</a:t>
            </a:r>
            <a:r>
              <a:rPr lang="es-ES" sz="1200" dirty="0" err="1"/>
              <a:t>straight</a:t>
            </a:r>
            <a:r>
              <a:rPr lang="es-ES" sz="1200" dirty="0"/>
              <a:t>', '</a:t>
            </a:r>
            <a:r>
              <a:rPr lang="es-ES" sz="1200" dirty="0" err="1"/>
              <a:t>straight</a:t>
            </a:r>
            <a:r>
              <a:rPr lang="es-ES" sz="1200" dirty="0"/>
              <a:t>'), </a:t>
            </a:r>
            <a:r>
              <a:rPr lang="es-ES" sz="1200" dirty="0" err="1"/>
              <a:t>cross_sections_mmis</a:t>
            </a:r>
            <a:r>
              <a:rPr lang="es-ES" sz="1200" dirty="0"/>
              <a:t>=('</a:t>
            </a:r>
            <a:r>
              <a:rPr lang="es-ES" sz="1200" dirty="0" err="1"/>
              <a:t>strip</a:t>
            </a:r>
            <a:r>
              <a:rPr lang="es-ES" sz="1200" dirty="0"/>
              <a:t>', '</a:t>
            </a:r>
            <a:r>
              <a:rPr lang="es-ES" sz="1200" dirty="0" err="1"/>
              <a:t>strip</a:t>
            </a:r>
            <a:r>
              <a:rPr lang="es-ES" sz="1200" dirty="0"/>
              <a:t>'), </a:t>
            </a:r>
            <a:r>
              <a:rPr lang="es-ES" sz="1200" dirty="0" err="1"/>
              <a:t>delta_lengths</a:t>
            </a:r>
            <a:r>
              <a:rPr lang="es-ES" sz="1200" dirty="0"/>
              <a:t>=(0,), </a:t>
            </a:r>
            <a:r>
              <a:rPr lang="es-ES" sz="1200" dirty="0" err="1"/>
              <a:t>mzi</a:t>
            </a:r>
            <a:r>
              <a:rPr lang="es-ES" sz="1200" dirty="0"/>
              <a:t>='mzi2x2_2x2', </a:t>
            </a:r>
            <a:r>
              <a:rPr lang="es-ES" sz="1200" dirty="0" err="1"/>
              <a:t>splitter</a:t>
            </a:r>
            <a:r>
              <a:rPr lang="es-ES" sz="1200" dirty="0"/>
              <a:t>='mmi2x2').</a:t>
            </a:r>
            <a:r>
              <a:rPr lang="es-ES" sz="1200" dirty="0" err="1"/>
              <a:t>copy</a:t>
            </a:r>
            <a:r>
              <a:rPr lang="es-ES" sz="1200" dirty="0"/>
              <a:t>()</a:t>
            </a:r>
          </a:p>
          <a:p>
            <a:r>
              <a:rPr lang="es-ES" sz="1200" dirty="0" err="1"/>
              <a:t>c.draw_ports</a:t>
            </a:r>
            <a:r>
              <a:rPr lang="es-ES" sz="1200" dirty="0"/>
              <a:t>()</a:t>
            </a:r>
          </a:p>
          <a:p>
            <a:r>
              <a:rPr lang="es-ES" sz="1200" dirty="0" err="1"/>
              <a:t>c.plot</a:t>
            </a:r>
            <a:r>
              <a:rPr lang="es-ES" sz="1200" dirty="0"/>
              <a:t>()</a:t>
            </a:r>
          </a:p>
          <a:p>
            <a:endParaRPr lang="es-ES" dirty="0"/>
          </a:p>
        </p:txBody>
      </p:sp>
      <p:sp>
        <p:nvSpPr>
          <p:cNvPr id="7" name="CuadroTexto 6">
            <a:extLst>
              <a:ext uri="{FF2B5EF4-FFF2-40B4-BE49-F238E27FC236}">
                <a16:creationId xmlns:a16="http://schemas.microsoft.com/office/drawing/2014/main" id="{C40D698C-43D9-ACA4-BFF8-B61059BE3C78}"/>
              </a:ext>
            </a:extLst>
          </p:cNvPr>
          <p:cNvSpPr txBox="1"/>
          <p:nvPr/>
        </p:nvSpPr>
        <p:spPr>
          <a:xfrm>
            <a:off x="6040120" y="1360426"/>
            <a:ext cx="5999480" cy="3785652"/>
          </a:xfrm>
          <a:prstGeom prst="rect">
            <a:avLst/>
          </a:prstGeom>
          <a:noFill/>
        </p:spPr>
        <p:txBody>
          <a:bodyPr wrap="square" rtlCol="0">
            <a:spAutoFit/>
          </a:bodyPr>
          <a:lstStyle/>
          <a:p>
            <a:r>
              <a:rPr lang="es-ES" sz="1600" b="1" dirty="0"/>
              <a:t>Descripción del componente:</a:t>
            </a:r>
            <a:r>
              <a:rPr lang="es-ES" sz="1600" dirty="0"/>
              <a:t> Este componente es un </a:t>
            </a:r>
            <a:r>
              <a:rPr lang="es-ES" sz="1600" b="1" dirty="0"/>
              <a:t>Interferómetro Mach-Zehnder (MZI) basado en una red de acopladores (</a:t>
            </a:r>
            <a:r>
              <a:rPr lang="es-ES" sz="1600" b="1" dirty="0" err="1"/>
              <a:t>lattice</a:t>
            </a:r>
            <a:r>
              <a:rPr lang="es-ES" sz="1600" b="1" dirty="0"/>
              <a:t>)</a:t>
            </a:r>
            <a:r>
              <a:rPr lang="es-ES" sz="1600" dirty="0"/>
              <a:t>, configurado para funcionar como un filtro óptico sintonizable o un interruptor. El diseño utiliza dos acopladores MMI de 2x2 como divisores y combinadores de potencia, con una longitud de acoplamiento </a:t>
            </a:r>
            <a:r>
              <a:rPr lang="es-ES" sz="1600" dirty="0" err="1"/>
              <a:t>L_mmi</a:t>
            </a:r>
            <a:r>
              <a:rPr lang="es-ES" sz="1600" dirty="0"/>
              <a:t> = 5.5 µm y una anchura de </a:t>
            </a:r>
            <a:r>
              <a:rPr lang="es-ES" sz="1600" dirty="0" err="1"/>
              <a:t>W_mmi</a:t>
            </a:r>
            <a:r>
              <a:rPr lang="es-ES" sz="1600" dirty="0"/>
              <a:t> = 2.5 µm. Los puertos de entrada y salida emplean </a:t>
            </a:r>
            <a:r>
              <a:rPr lang="es-ES" sz="1600" i="1" dirty="0" err="1"/>
              <a:t>tapers</a:t>
            </a:r>
            <a:r>
              <a:rPr lang="es-ES" sz="1600" dirty="0"/>
              <a:t> de 10 µm de longitud para garantizar una transición adiabática hacia las guías de onda de tipo </a:t>
            </a:r>
            <a:r>
              <a:rPr lang="es-ES" sz="1600" i="1" dirty="0" err="1"/>
              <a:t>strip</a:t>
            </a:r>
            <a:r>
              <a:rPr lang="es-ES" sz="1600" dirty="0"/>
              <a:t> (anchura de 1.2 µm). El diseño incluye un desfase (</a:t>
            </a:r>
            <a:r>
              <a:rPr lang="es-ES" sz="1600" i="1" dirty="0"/>
              <a:t>delta </a:t>
            </a:r>
            <a:r>
              <a:rPr lang="es-ES" sz="1600" i="1" dirty="0" err="1"/>
              <a:t>length</a:t>
            </a:r>
            <a:r>
              <a:rPr lang="es-ES" sz="1600" dirty="0"/>
              <a:t>) de 0 µm en esta configuración base, lo que permite su uso como bloque fundamental en estructuras de interferometría más complejas. La sección transversal utilizada es de tipo </a:t>
            </a:r>
            <a:r>
              <a:rPr lang="es-ES" sz="1600" i="1" dirty="0" err="1"/>
              <a:t>strip</a:t>
            </a:r>
            <a:r>
              <a:rPr lang="es-ES" sz="1600" dirty="0"/>
              <a:t> en la capa (1, 0).</a:t>
            </a:r>
          </a:p>
          <a:p>
            <a:endParaRPr lang="es-ES" sz="1600" dirty="0"/>
          </a:p>
          <a:p>
            <a:r>
              <a:rPr lang="es-ES" sz="1600" dirty="0"/>
              <a:t>Código:</a:t>
            </a:r>
          </a:p>
          <a:p>
            <a:endParaRPr lang="es-ES" sz="1600" dirty="0"/>
          </a:p>
        </p:txBody>
      </p:sp>
      <p:pic>
        <p:nvPicPr>
          <p:cNvPr id="4" name="Imagen 3">
            <a:extLst>
              <a:ext uri="{FF2B5EF4-FFF2-40B4-BE49-F238E27FC236}">
                <a16:creationId xmlns:a16="http://schemas.microsoft.com/office/drawing/2014/main" id="{2BD4F045-BBF2-F97F-7837-1241EF3278E9}"/>
              </a:ext>
            </a:extLst>
          </p:cNvPr>
          <p:cNvPicPr>
            <a:picLocks noChangeAspect="1"/>
          </p:cNvPicPr>
          <p:nvPr/>
        </p:nvPicPr>
        <p:blipFill>
          <a:blip r:embed="rId4"/>
          <a:stretch>
            <a:fillRect/>
          </a:stretch>
        </p:blipFill>
        <p:spPr>
          <a:xfrm>
            <a:off x="360680" y="1732732"/>
            <a:ext cx="5505230" cy="4155909"/>
          </a:xfrm>
          <a:prstGeom prst="rect">
            <a:avLst/>
          </a:prstGeom>
        </p:spPr>
      </p:pic>
    </p:spTree>
    <p:extLst>
      <p:ext uri="{BB962C8B-B14F-4D97-AF65-F5344CB8AC3E}">
        <p14:creationId xmlns:p14="http://schemas.microsoft.com/office/powerpoint/2010/main" val="12370514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2359CC-B264-9F8C-FE36-E010E9267F9E}"/>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D54EB6F-EA91-D478-1EA5-D2D66D3C1C13}"/>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gn="just">
              <a:lnSpc>
                <a:spcPct val="100000"/>
              </a:lnSpc>
              <a:spcBef>
                <a:spcPts val="100"/>
              </a:spcBef>
            </a:pPr>
            <a:r>
              <a:rPr lang="en-US" sz="2500" dirty="0"/>
              <a:t>Learning outcome #1b – Notebook section 1. Technology – Single RR</a:t>
            </a:r>
            <a:endParaRPr sz="2500" b="0" i="1" dirty="0">
              <a:latin typeface="+mj-lt"/>
              <a:cs typeface="Lucida Sans"/>
            </a:endParaRPr>
          </a:p>
        </p:txBody>
      </p:sp>
      <p:pic>
        <p:nvPicPr>
          <p:cNvPr id="83" name="Gráfico 82">
            <a:extLst>
              <a:ext uri="{FF2B5EF4-FFF2-40B4-BE49-F238E27FC236}">
                <a16:creationId xmlns:a16="http://schemas.microsoft.com/office/drawing/2014/main" id="{2F1032C4-8198-3E04-790C-78D508E9D4D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E879413E-56D1-8A0B-4B54-4890F4EA6D5F}"/>
              </a:ext>
            </a:extLst>
          </p:cNvPr>
          <p:cNvSpPr>
            <a:spLocks noGrp="1"/>
          </p:cNvSpPr>
          <p:nvPr>
            <p:ph type="sldNum" sz="quarter" idx="7"/>
          </p:nvPr>
        </p:nvSpPr>
        <p:spPr/>
        <p:txBody>
          <a:bodyPr/>
          <a:lstStyle/>
          <a:p>
            <a:fld id="{B6F15528-21DE-4FAA-801E-634DDDAF4B2B}" type="slidenum">
              <a:rPr lang="es-ES" smtClean="0"/>
              <a:t>10</a:t>
            </a:fld>
            <a:endParaRPr lang="es-ES"/>
          </a:p>
        </p:txBody>
      </p:sp>
      <p:sp>
        <p:nvSpPr>
          <p:cNvPr id="3" name="Marcador de pie de página 2">
            <a:extLst>
              <a:ext uri="{FF2B5EF4-FFF2-40B4-BE49-F238E27FC236}">
                <a16:creationId xmlns:a16="http://schemas.microsoft.com/office/drawing/2014/main" id="{01E0CBE1-4A0F-8EC9-32EA-5CB809E4B34D}"/>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6" name="CuadroTexto 5">
            <a:extLst>
              <a:ext uri="{FF2B5EF4-FFF2-40B4-BE49-F238E27FC236}">
                <a16:creationId xmlns:a16="http://schemas.microsoft.com/office/drawing/2014/main" id="{E52FB276-DF3B-9D0C-DADE-7F688DF86FBD}"/>
              </a:ext>
            </a:extLst>
          </p:cNvPr>
          <p:cNvSpPr txBox="1"/>
          <p:nvPr/>
        </p:nvSpPr>
        <p:spPr>
          <a:xfrm>
            <a:off x="6040120" y="4875651"/>
            <a:ext cx="3886200" cy="1292662"/>
          </a:xfrm>
          <a:prstGeom prst="rect">
            <a:avLst/>
          </a:prstGeom>
          <a:noFill/>
        </p:spPr>
        <p:txBody>
          <a:bodyPr wrap="square" rtlCol="0">
            <a:spAutoFit/>
          </a:bodyPr>
          <a:lstStyle/>
          <a:p>
            <a:r>
              <a:rPr lang="es-ES" sz="1200" dirty="0"/>
              <a:t>c = </a:t>
            </a:r>
            <a:r>
              <a:rPr lang="es-ES" sz="1200" dirty="0" err="1"/>
              <a:t>gf.components.ring_single</a:t>
            </a:r>
            <a:r>
              <a:rPr lang="es-ES" sz="1200" dirty="0"/>
              <a:t>(gap=0.2, </a:t>
            </a:r>
            <a:r>
              <a:rPr lang="es-ES" sz="1200" dirty="0" err="1"/>
              <a:t>length_x</a:t>
            </a:r>
            <a:r>
              <a:rPr lang="es-ES" sz="1200" dirty="0"/>
              <a:t>=4, </a:t>
            </a:r>
            <a:r>
              <a:rPr lang="es-ES" sz="1200" dirty="0" err="1"/>
              <a:t>length_y</a:t>
            </a:r>
            <a:r>
              <a:rPr lang="es-ES" sz="1200" dirty="0"/>
              <a:t>=0.6, </a:t>
            </a:r>
            <a:r>
              <a:rPr lang="es-ES" sz="1200" dirty="0" err="1"/>
              <a:t>bend</a:t>
            </a:r>
            <a:r>
              <a:rPr lang="es-ES" sz="1200" dirty="0"/>
              <a:t>='</a:t>
            </a:r>
            <a:r>
              <a:rPr lang="es-ES" sz="1200" dirty="0" err="1"/>
              <a:t>bend_euler</a:t>
            </a:r>
            <a:r>
              <a:rPr lang="es-ES" sz="1200" dirty="0"/>
              <a:t>', </a:t>
            </a:r>
            <a:r>
              <a:rPr lang="es-ES" sz="1200" dirty="0" err="1"/>
              <a:t>straight</a:t>
            </a:r>
            <a:r>
              <a:rPr lang="es-ES" sz="1200" dirty="0"/>
              <a:t>='</a:t>
            </a:r>
            <a:r>
              <a:rPr lang="es-ES" sz="1200" dirty="0" err="1"/>
              <a:t>straight</a:t>
            </a:r>
            <a:r>
              <a:rPr lang="es-ES" sz="1200" dirty="0"/>
              <a:t>', </a:t>
            </a:r>
            <a:r>
              <a:rPr lang="es-ES" sz="1200" dirty="0" err="1"/>
              <a:t>coupler_ring</a:t>
            </a:r>
            <a:r>
              <a:rPr lang="es-ES" sz="1200" dirty="0"/>
              <a:t>='</a:t>
            </a:r>
            <a:r>
              <a:rPr lang="es-ES" sz="1200" dirty="0" err="1"/>
              <a:t>coupler_ring</a:t>
            </a:r>
            <a:r>
              <a:rPr lang="es-ES" sz="1200" dirty="0"/>
              <a:t>', </a:t>
            </a:r>
            <a:r>
              <a:rPr lang="es-ES" sz="1200" dirty="0" err="1"/>
              <a:t>cross_section</a:t>
            </a:r>
            <a:r>
              <a:rPr lang="es-ES" sz="1200" dirty="0"/>
              <a:t>='</a:t>
            </a:r>
            <a:r>
              <a:rPr lang="es-ES" sz="1200" dirty="0" err="1"/>
              <a:t>strip</a:t>
            </a:r>
            <a:r>
              <a:rPr lang="es-ES" sz="1200" dirty="0"/>
              <a:t>').</a:t>
            </a:r>
            <a:r>
              <a:rPr lang="es-ES" sz="1200" dirty="0" err="1"/>
              <a:t>copy</a:t>
            </a:r>
            <a:r>
              <a:rPr lang="es-ES" sz="1200" dirty="0"/>
              <a:t>()</a:t>
            </a:r>
          </a:p>
          <a:p>
            <a:r>
              <a:rPr lang="es-ES" sz="1200" dirty="0" err="1"/>
              <a:t>c.draw_ports</a:t>
            </a:r>
            <a:r>
              <a:rPr lang="es-ES" sz="1200" dirty="0"/>
              <a:t>()</a:t>
            </a:r>
          </a:p>
          <a:p>
            <a:r>
              <a:rPr lang="es-ES" sz="1200" dirty="0" err="1"/>
              <a:t>c.plot</a:t>
            </a:r>
            <a:r>
              <a:rPr lang="es-ES" sz="1200" dirty="0"/>
              <a:t>()</a:t>
            </a:r>
          </a:p>
          <a:p>
            <a:pPr algn="ctr"/>
            <a:endParaRPr lang="es-ES" dirty="0"/>
          </a:p>
        </p:txBody>
      </p:sp>
      <p:sp>
        <p:nvSpPr>
          <p:cNvPr id="7" name="CuadroTexto 6">
            <a:extLst>
              <a:ext uri="{FF2B5EF4-FFF2-40B4-BE49-F238E27FC236}">
                <a16:creationId xmlns:a16="http://schemas.microsoft.com/office/drawing/2014/main" id="{1175737F-F2B4-603F-C0EA-F51279320F37}"/>
              </a:ext>
            </a:extLst>
          </p:cNvPr>
          <p:cNvSpPr txBox="1"/>
          <p:nvPr/>
        </p:nvSpPr>
        <p:spPr>
          <a:xfrm>
            <a:off x="6040120" y="1360426"/>
            <a:ext cx="5999480" cy="3816429"/>
          </a:xfrm>
          <a:prstGeom prst="rect">
            <a:avLst/>
          </a:prstGeom>
          <a:noFill/>
        </p:spPr>
        <p:txBody>
          <a:bodyPr wrap="square" rtlCol="0">
            <a:spAutoFit/>
          </a:bodyPr>
          <a:lstStyle/>
          <a:p>
            <a:r>
              <a:rPr lang="es-ES" sz="1600" b="1" dirty="0"/>
              <a:t>Descripción del componente:</a:t>
            </a:r>
            <a:r>
              <a:rPr lang="es-ES" sz="1600" dirty="0"/>
              <a:t> Este componente es un </a:t>
            </a:r>
            <a:r>
              <a:rPr lang="es-ES" sz="1600" b="1" dirty="0"/>
              <a:t>resonador de anillo simple (Ring </a:t>
            </a:r>
            <a:r>
              <a:rPr lang="es-ES" sz="1600" b="1" dirty="0" err="1"/>
              <a:t>Resonator</a:t>
            </a:r>
            <a:r>
              <a:rPr lang="es-ES" sz="1600" b="1" dirty="0"/>
              <a:t>)</a:t>
            </a:r>
            <a:r>
              <a:rPr lang="es-ES" sz="1600" dirty="0"/>
              <a:t>, utilizado como filtro óptico de alta selectividad o modulador. El diseño consta de una guía de onda circular (anillo) acoplada a una guía de onda recta bus mediante una región de acoplamiento con un </a:t>
            </a:r>
            <a:r>
              <a:rPr lang="es-ES" sz="1600" i="1" dirty="0"/>
              <a:t>gap</a:t>
            </a:r>
            <a:r>
              <a:rPr lang="es-ES" sz="1600" dirty="0"/>
              <a:t> de 0.2 µm. Las dimensiones del anillo están definidas por una longitud horizontal </a:t>
            </a:r>
            <a:r>
              <a:rPr lang="es-ES" sz="1600" dirty="0" err="1"/>
              <a:t>length_x</a:t>
            </a:r>
            <a:r>
              <a:rPr lang="es-ES" sz="1600" dirty="0"/>
              <a:t> = 4 µm y una longitud vertical </a:t>
            </a:r>
            <a:r>
              <a:rPr lang="es-ES" sz="1600" dirty="0" err="1"/>
              <a:t>length_y</a:t>
            </a:r>
            <a:r>
              <a:rPr lang="es-ES" sz="1600" dirty="0"/>
              <a:t> = 0.6 µm, lo que determina el radio de curvatura y, por tanto, el radio de resonancia del dispositivo. Se ha empleado una configuración de curvatura tipo </a:t>
            </a:r>
            <a:r>
              <a:rPr lang="es-ES" sz="1600" i="1" dirty="0" err="1"/>
              <a:t>bend_euler</a:t>
            </a:r>
            <a:r>
              <a:rPr lang="es-ES" sz="1600" dirty="0"/>
              <a:t> para asegurar una transición suave y reducir las pérdidas por dispersión en las curvas. El diseño utiliza una sección transversal de tipo </a:t>
            </a:r>
            <a:r>
              <a:rPr lang="es-ES" sz="1600" i="1" dirty="0" err="1"/>
              <a:t>strip</a:t>
            </a:r>
            <a:r>
              <a:rPr lang="es-ES" sz="1600" dirty="0"/>
              <a:t> con una anchura de guía de 1.2 µm en la capa (1, 0).</a:t>
            </a:r>
          </a:p>
          <a:p>
            <a:endParaRPr lang="es-ES" sz="1600" dirty="0"/>
          </a:p>
          <a:p>
            <a:r>
              <a:rPr lang="es-ES" sz="1600" dirty="0"/>
              <a:t>Código:</a:t>
            </a:r>
          </a:p>
          <a:p>
            <a:endParaRPr lang="es-ES" dirty="0"/>
          </a:p>
        </p:txBody>
      </p:sp>
      <p:pic>
        <p:nvPicPr>
          <p:cNvPr id="5" name="Imagen 4">
            <a:extLst>
              <a:ext uri="{FF2B5EF4-FFF2-40B4-BE49-F238E27FC236}">
                <a16:creationId xmlns:a16="http://schemas.microsoft.com/office/drawing/2014/main" id="{D512A708-7FBE-817E-FBA8-8B1DF3873AF0}"/>
              </a:ext>
            </a:extLst>
          </p:cNvPr>
          <p:cNvPicPr>
            <a:picLocks noChangeAspect="1"/>
          </p:cNvPicPr>
          <p:nvPr/>
        </p:nvPicPr>
        <p:blipFill>
          <a:blip r:embed="rId4"/>
          <a:stretch>
            <a:fillRect/>
          </a:stretch>
        </p:blipFill>
        <p:spPr>
          <a:xfrm>
            <a:off x="304800" y="1735377"/>
            <a:ext cx="5579461" cy="4211946"/>
          </a:xfrm>
          <a:prstGeom prst="rect">
            <a:avLst/>
          </a:prstGeom>
        </p:spPr>
      </p:pic>
    </p:spTree>
    <p:extLst>
      <p:ext uri="{BB962C8B-B14F-4D97-AF65-F5344CB8AC3E}">
        <p14:creationId xmlns:p14="http://schemas.microsoft.com/office/powerpoint/2010/main" val="33386096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CCBD7E-9725-2DD1-6E4A-6DF01947CCA3}"/>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919C1957-B537-AA58-116C-3BE87889D9EE}"/>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gn="just">
              <a:lnSpc>
                <a:spcPct val="100000"/>
              </a:lnSpc>
              <a:spcBef>
                <a:spcPts val="100"/>
              </a:spcBef>
            </a:pPr>
            <a:r>
              <a:rPr lang="en-US" sz="2500" dirty="0"/>
              <a:t>Learning outcome #1b – Notebook section 1. Technology – Double RR</a:t>
            </a:r>
            <a:endParaRPr sz="2500" b="0" i="1" dirty="0">
              <a:latin typeface="+mj-lt"/>
              <a:cs typeface="Lucida Sans"/>
            </a:endParaRPr>
          </a:p>
        </p:txBody>
      </p:sp>
      <p:pic>
        <p:nvPicPr>
          <p:cNvPr id="83" name="Gráfico 82">
            <a:extLst>
              <a:ext uri="{FF2B5EF4-FFF2-40B4-BE49-F238E27FC236}">
                <a16:creationId xmlns:a16="http://schemas.microsoft.com/office/drawing/2014/main" id="{9100B1D2-30AD-7A6B-6997-441CA32987B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91862BF5-ACD5-DBE2-66D4-1DF8804C990A}"/>
              </a:ext>
            </a:extLst>
          </p:cNvPr>
          <p:cNvSpPr>
            <a:spLocks noGrp="1"/>
          </p:cNvSpPr>
          <p:nvPr>
            <p:ph type="sldNum" sz="quarter" idx="7"/>
          </p:nvPr>
        </p:nvSpPr>
        <p:spPr/>
        <p:txBody>
          <a:bodyPr/>
          <a:lstStyle/>
          <a:p>
            <a:fld id="{B6F15528-21DE-4FAA-801E-634DDDAF4B2B}" type="slidenum">
              <a:rPr lang="es-ES" smtClean="0"/>
              <a:t>11</a:t>
            </a:fld>
            <a:endParaRPr lang="es-ES"/>
          </a:p>
        </p:txBody>
      </p:sp>
      <p:sp>
        <p:nvSpPr>
          <p:cNvPr id="3" name="Marcador de pie de página 2">
            <a:extLst>
              <a:ext uri="{FF2B5EF4-FFF2-40B4-BE49-F238E27FC236}">
                <a16:creationId xmlns:a16="http://schemas.microsoft.com/office/drawing/2014/main" id="{46FE0455-F6A1-16F1-79A8-FD8821945C58}"/>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6" name="CuadroTexto 5">
            <a:extLst>
              <a:ext uri="{FF2B5EF4-FFF2-40B4-BE49-F238E27FC236}">
                <a16:creationId xmlns:a16="http://schemas.microsoft.com/office/drawing/2014/main" id="{7228557C-278B-BC1E-053B-47A2A1856263}"/>
              </a:ext>
            </a:extLst>
          </p:cNvPr>
          <p:cNvSpPr txBox="1"/>
          <p:nvPr/>
        </p:nvSpPr>
        <p:spPr>
          <a:xfrm>
            <a:off x="6040120" y="4875651"/>
            <a:ext cx="3886200" cy="1292662"/>
          </a:xfrm>
          <a:prstGeom prst="rect">
            <a:avLst/>
          </a:prstGeom>
          <a:noFill/>
        </p:spPr>
        <p:txBody>
          <a:bodyPr wrap="square" rtlCol="0">
            <a:spAutoFit/>
          </a:bodyPr>
          <a:lstStyle/>
          <a:p>
            <a:r>
              <a:rPr lang="es-ES" sz="1200" dirty="0"/>
              <a:t>c = </a:t>
            </a:r>
            <a:r>
              <a:rPr lang="es-ES" sz="1200" dirty="0" err="1"/>
              <a:t>gf.components.ring_double</a:t>
            </a:r>
            <a:r>
              <a:rPr lang="es-ES" sz="1200" dirty="0"/>
              <a:t>(gap=0.2, </a:t>
            </a:r>
            <a:r>
              <a:rPr lang="es-ES" sz="1200" dirty="0" err="1"/>
              <a:t>length_x</a:t>
            </a:r>
            <a:r>
              <a:rPr lang="es-ES" sz="1200" dirty="0"/>
              <a:t>=0.01, </a:t>
            </a:r>
            <a:r>
              <a:rPr lang="es-ES" sz="1200" dirty="0" err="1"/>
              <a:t>length_y</a:t>
            </a:r>
            <a:r>
              <a:rPr lang="es-ES" sz="1200" dirty="0"/>
              <a:t>=0.01, </a:t>
            </a:r>
            <a:r>
              <a:rPr lang="es-ES" sz="1200" dirty="0" err="1"/>
              <a:t>bend</a:t>
            </a:r>
            <a:r>
              <a:rPr lang="es-ES" sz="1200" dirty="0"/>
              <a:t>='</a:t>
            </a:r>
            <a:r>
              <a:rPr lang="es-ES" sz="1200" dirty="0" err="1"/>
              <a:t>bend_euler</a:t>
            </a:r>
            <a:r>
              <a:rPr lang="es-ES" sz="1200" dirty="0"/>
              <a:t>', </a:t>
            </a:r>
            <a:r>
              <a:rPr lang="es-ES" sz="1200" dirty="0" err="1"/>
              <a:t>straight</a:t>
            </a:r>
            <a:r>
              <a:rPr lang="es-ES" sz="1200" dirty="0"/>
              <a:t>='</a:t>
            </a:r>
            <a:r>
              <a:rPr lang="es-ES" sz="1200" dirty="0" err="1"/>
              <a:t>straight</a:t>
            </a:r>
            <a:r>
              <a:rPr lang="es-ES" sz="1200" dirty="0"/>
              <a:t>', </a:t>
            </a:r>
            <a:r>
              <a:rPr lang="es-ES" sz="1200" dirty="0" err="1"/>
              <a:t>coupler_ring</a:t>
            </a:r>
            <a:r>
              <a:rPr lang="es-ES" sz="1200" dirty="0"/>
              <a:t>='</a:t>
            </a:r>
            <a:r>
              <a:rPr lang="es-ES" sz="1200" dirty="0" err="1"/>
              <a:t>coupler_ring</a:t>
            </a:r>
            <a:r>
              <a:rPr lang="es-ES" sz="1200" dirty="0"/>
              <a:t>', </a:t>
            </a:r>
            <a:r>
              <a:rPr lang="es-ES" sz="1200" dirty="0" err="1"/>
              <a:t>cross_section</a:t>
            </a:r>
            <a:r>
              <a:rPr lang="es-ES" sz="1200" dirty="0"/>
              <a:t>='</a:t>
            </a:r>
            <a:r>
              <a:rPr lang="es-ES" sz="1200" dirty="0" err="1"/>
              <a:t>strip</a:t>
            </a:r>
            <a:r>
              <a:rPr lang="es-ES" sz="1200" dirty="0"/>
              <a:t>').</a:t>
            </a:r>
            <a:r>
              <a:rPr lang="es-ES" sz="1200" dirty="0" err="1"/>
              <a:t>copy</a:t>
            </a:r>
            <a:r>
              <a:rPr lang="es-ES" sz="1200" dirty="0"/>
              <a:t>()</a:t>
            </a:r>
          </a:p>
          <a:p>
            <a:r>
              <a:rPr lang="es-ES" sz="1200" dirty="0" err="1"/>
              <a:t>c.draw_ports</a:t>
            </a:r>
            <a:r>
              <a:rPr lang="es-ES" sz="1200" dirty="0"/>
              <a:t>()</a:t>
            </a:r>
          </a:p>
          <a:p>
            <a:r>
              <a:rPr lang="es-ES" sz="1200" dirty="0" err="1"/>
              <a:t>c.plot</a:t>
            </a:r>
            <a:r>
              <a:rPr lang="es-ES" sz="1200" dirty="0"/>
              <a:t>()</a:t>
            </a:r>
          </a:p>
          <a:p>
            <a:endParaRPr lang="es-ES" dirty="0"/>
          </a:p>
        </p:txBody>
      </p:sp>
      <p:sp>
        <p:nvSpPr>
          <p:cNvPr id="7" name="CuadroTexto 6">
            <a:extLst>
              <a:ext uri="{FF2B5EF4-FFF2-40B4-BE49-F238E27FC236}">
                <a16:creationId xmlns:a16="http://schemas.microsoft.com/office/drawing/2014/main" id="{B12559AD-C514-072F-A1C9-6A240F68734E}"/>
              </a:ext>
            </a:extLst>
          </p:cNvPr>
          <p:cNvSpPr txBox="1"/>
          <p:nvPr/>
        </p:nvSpPr>
        <p:spPr>
          <a:xfrm>
            <a:off x="6040120" y="1360426"/>
            <a:ext cx="6075680" cy="4093428"/>
          </a:xfrm>
          <a:prstGeom prst="rect">
            <a:avLst/>
          </a:prstGeom>
          <a:noFill/>
        </p:spPr>
        <p:txBody>
          <a:bodyPr wrap="square" rtlCol="0">
            <a:spAutoFit/>
          </a:bodyPr>
          <a:lstStyle/>
          <a:p>
            <a:r>
              <a:rPr lang="es-ES" sz="1600" b="1" dirty="0"/>
              <a:t>Descripción del componente:</a:t>
            </a:r>
            <a:r>
              <a:rPr lang="es-ES" sz="1600" dirty="0"/>
              <a:t> Este componente es un </a:t>
            </a:r>
            <a:r>
              <a:rPr lang="es-ES" sz="1600" b="1" dirty="0"/>
              <a:t>resonador de anillo doble (Double Ring </a:t>
            </a:r>
            <a:r>
              <a:rPr lang="es-ES" sz="1600" b="1" dirty="0" err="1"/>
              <a:t>Resonator</a:t>
            </a:r>
            <a:r>
              <a:rPr lang="es-ES" sz="1600" b="1" dirty="0"/>
              <a:t>)</a:t>
            </a:r>
            <a:r>
              <a:rPr lang="es-ES" sz="1600" dirty="0"/>
              <a:t>, una configuración avanzada que consiste en dos anillos resonantes acoplados en serie (o en paralelo, dependiendo de la configuración del bus). Este diseño permite obtener una respuesta espectral de "banda plana" (</a:t>
            </a:r>
            <a:r>
              <a:rPr lang="es-ES" sz="1600" i="1" dirty="0"/>
              <a:t>flat-top</a:t>
            </a:r>
            <a:r>
              <a:rPr lang="es-ES" sz="1600" dirty="0"/>
              <a:t>) y una mayor supresión de los lóbulos laterales en comparación con un resonador de anillo simple, lo que lo hace ideal para filtros ópticos de alta precisión. El diseño utiliza un </a:t>
            </a:r>
            <a:r>
              <a:rPr lang="es-ES" sz="1600" i="1" dirty="0"/>
              <a:t>gap</a:t>
            </a:r>
            <a:r>
              <a:rPr lang="es-ES" sz="1600" dirty="0"/>
              <a:t> de acoplamiento de 0.2 µm y dimensiones de </a:t>
            </a:r>
            <a:r>
              <a:rPr lang="es-ES" sz="1600" dirty="0" err="1"/>
              <a:t>length_x</a:t>
            </a:r>
            <a:r>
              <a:rPr lang="es-ES" sz="1600" dirty="0"/>
              <a:t> = 0.01 µm y </a:t>
            </a:r>
            <a:r>
              <a:rPr lang="es-ES" sz="1600" dirty="0" err="1"/>
              <a:t>length_y</a:t>
            </a:r>
            <a:r>
              <a:rPr lang="es-ES" sz="1600" dirty="0"/>
              <a:t> = 0.01 µm para definir el área del anillo. Se emplea una geometría de curvatura tipo </a:t>
            </a:r>
            <a:r>
              <a:rPr lang="es-ES" sz="1600" i="1" dirty="0" err="1"/>
              <a:t>bend_euler</a:t>
            </a:r>
            <a:r>
              <a:rPr lang="es-ES" sz="1600" dirty="0"/>
              <a:t> para minimizar las pérdidas de propagación. La estructura está fabricada en una sección transversal tipo </a:t>
            </a:r>
            <a:r>
              <a:rPr lang="es-ES" sz="1600" i="1" dirty="0" err="1"/>
              <a:t>strip</a:t>
            </a:r>
            <a:r>
              <a:rPr lang="es-ES" sz="1600" dirty="0"/>
              <a:t> de 1.2 µm de anchura sobre la capa (1, 0).</a:t>
            </a:r>
          </a:p>
          <a:p>
            <a:endParaRPr lang="es-ES" sz="1600" dirty="0"/>
          </a:p>
          <a:p>
            <a:r>
              <a:rPr lang="es-ES" sz="1600" dirty="0"/>
              <a:t>Código:</a:t>
            </a:r>
          </a:p>
          <a:p>
            <a:endParaRPr lang="es-ES" dirty="0"/>
          </a:p>
          <a:p>
            <a:endParaRPr lang="es-ES" dirty="0"/>
          </a:p>
        </p:txBody>
      </p:sp>
      <p:pic>
        <p:nvPicPr>
          <p:cNvPr id="4" name="Imagen 3">
            <a:extLst>
              <a:ext uri="{FF2B5EF4-FFF2-40B4-BE49-F238E27FC236}">
                <a16:creationId xmlns:a16="http://schemas.microsoft.com/office/drawing/2014/main" id="{5246FAAC-A5D9-2521-2BFD-9FDF2E74AA4B}"/>
              </a:ext>
            </a:extLst>
          </p:cNvPr>
          <p:cNvPicPr>
            <a:picLocks noChangeAspect="1"/>
          </p:cNvPicPr>
          <p:nvPr/>
        </p:nvPicPr>
        <p:blipFill>
          <a:blip r:embed="rId4"/>
          <a:stretch>
            <a:fillRect/>
          </a:stretch>
        </p:blipFill>
        <p:spPr>
          <a:xfrm>
            <a:off x="217257" y="1677853"/>
            <a:ext cx="5619923" cy="4242491"/>
          </a:xfrm>
          <a:prstGeom prst="rect">
            <a:avLst/>
          </a:prstGeom>
        </p:spPr>
      </p:pic>
    </p:spTree>
    <p:extLst>
      <p:ext uri="{BB962C8B-B14F-4D97-AF65-F5344CB8AC3E}">
        <p14:creationId xmlns:p14="http://schemas.microsoft.com/office/powerpoint/2010/main" val="33870551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45B0A8-BCE1-AF65-5AFA-79184BEDA904}"/>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EDCA2EEE-70B8-D049-D7BD-B54DCCF3207D}"/>
              </a:ext>
            </a:extLst>
          </p:cNvPr>
          <p:cNvSpPr txBox="1">
            <a:spLocks noGrp="1"/>
          </p:cNvSpPr>
          <p:nvPr>
            <p:ph type="title"/>
          </p:nvPr>
        </p:nvSpPr>
        <p:spPr>
          <a:xfrm>
            <a:off x="685800" y="408883"/>
            <a:ext cx="10994410" cy="951543"/>
          </a:xfrm>
          <a:prstGeom prst="rect">
            <a:avLst/>
          </a:prstGeom>
        </p:spPr>
        <p:txBody>
          <a:bodyPr vert="horz" wrap="square" lIns="0" tIns="12700" rIns="0" bIns="0" rtlCol="0">
            <a:spAutoFit/>
          </a:bodyPr>
          <a:lstStyle/>
          <a:p>
            <a:pPr marL="12700" algn="l">
              <a:lnSpc>
                <a:spcPct val="100000"/>
              </a:lnSpc>
              <a:spcBef>
                <a:spcPts val="100"/>
              </a:spcBef>
            </a:pPr>
            <a:r>
              <a:rPr lang="en-US" sz="2500" dirty="0"/>
              <a:t>Learning outcome #2a – Notebook section 2. Layout Fundamentals</a:t>
            </a:r>
            <a:br>
              <a:rPr lang="en-US" sz="2500" dirty="0"/>
            </a:br>
            <a:r>
              <a:rPr lang="en-US" sz="1800" b="0" i="1" dirty="0"/>
              <a:t>“Once that we have a working 'new' component, we shall convert it into a Cell. This will allow us to have a hierarchical design”</a:t>
            </a:r>
            <a:endParaRPr sz="2500" b="0" i="1" dirty="0">
              <a:latin typeface="+mj-lt"/>
              <a:cs typeface="Lucida Sans"/>
            </a:endParaRPr>
          </a:p>
        </p:txBody>
      </p:sp>
      <p:pic>
        <p:nvPicPr>
          <p:cNvPr id="83" name="Gráfico 82">
            <a:extLst>
              <a:ext uri="{FF2B5EF4-FFF2-40B4-BE49-F238E27FC236}">
                <a16:creationId xmlns:a16="http://schemas.microsoft.com/office/drawing/2014/main" id="{DDB8C9DA-7093-6464-A7C1-20B2A585A1E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0102C027-A211-C670-7EF5-D7A4650EEA98}"/>
              </a:ext>
            </a:extLst>
          </p:cNvPr>
          <p:cNvSpPr>
            <a:spLocks noGrp="1"/>
          </p:cNvSpPr>
          <p:nvPr>
            <p:ph type="sldNum" sz="quarter" idx="7"/>
          </p:nvPr>
        </p:nvSpPr>
        <p:spPr/>
        <p:txBody>
          <a:bodyPr/>
          <a:lstStyle/>
          <a:p>
            <a:fld id="{B6F15528-21DE-4FAA-801E-634DDDAF4B2B}" type="slidenum">
              <a:rPr lang="es-ES" smtClean="0"/>
              <a:t>12</a:t>
            </a:fld>
            <a:endParaRPr lang="es-ES"/>
          </a:p>
        </p:txBody>
      </p:sp>
      <p:sp>
        <p:nvSpPr>
          <p:cNvPr id="3" name="Marcador de pie de página 2">
            <a:extLst>
              <a:ext uri="{FF2B5EF4-FFF2-40B4-BE49-F238E27FC236}">
                <a16:creationId xmlns:a16="http://schemas.microsoft.com/office/drawing/2014/main" id="{3BB5A66E-75F8-8688-0D68-26E0DDB3AC86}"/>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2" name="CuadroTexto 1">
            <a:extLst>
              <a:ext uri="{FF2B5EF4-FFF2-40B4-BE49-F238E27FC236}">
                <a16:creationId xmlns:a16="http://schemas.microsoft.com/office/drawing/2014/main" id="{35C0B36B-B4BD-C242-E1BB-26DD7AC56DB0}"/>
              </a:ext>
            </a:extLst>
          </p:cNvPr>
          <p:cNvSpPr txBox="1"/>
          <p:nvPr/>
        </p:nvSpPr>
        <p:spPr>
          <a:xfrm>
            <a:off x="609441" y="4860334"/>
            <a:ext cx="11199971" cy="276999"/>
          </a:xfrm>
          <a:prstGeom prst="rect">
            <a:avLst/>
          </a:prstGeom>
          <a:solidFill>
            <a:schemeClr val="bg1">
              <a:lumMod val="95000"/>
            </a:schemeClr>
          </a:solidFill>
          <a:ln w="28575">
            <a:solidFill>
              <a:srgbClr val="E0700D"/>
            </a:solidFill>
          </a:ln>
        </p:spPr>
        <p:txBody>
          <a:bodyPr wrap="square" rtlCol="0">
            <a:spAutoFit/>
          </a:bodyPr>
          <a:lstStyle/>
          <a:p>
            <a:pPr algn="just"/>
            <a:r>
              <a:rPr lang="en-US" sz="1200" dirty="0">
                <a:latin typeface="Arial" panose="020B0604020202020204" pitchFamily="34" charset="0"/>
                <a:cs typeface="Arial" panose="020B0604020202020204" pitchFamily="34" charset="0"/>
              </a:rPr>
              <a:t>Describe component: </a:t>
            </a:r>
          </a:p>
        </p:txBody>
      </p:sp>
      <p:sp>
        <p:nvSpPr>
          <p:cNvPr id="6" name="Rectángulo 5">
            <a:extLst>
              <a:ext uri="{FF2B5EF4-FFF2-40B4-BE49-F238E27FC236}">
                <a16:creationId xmlns:a16="http://schemas.microsoft.com/office/drawing/2014/main" id="{399364F4-A34A-5161-07CB-E12F9FFCB400}"/>
              </a:ext>
            </a:extLst>
          </p:cNvPr>
          <p:cNvSpPr/>
          <p:nvPr/>
        </p:nvSpPr>
        <p:spPr>
          <a:xfrm>
            <a:off x="609441" y="1418373"/>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62A2AA3F-CE55-C50B-CB18-2C8D2061FDB9}"/>
              </a:ext>
            </a:extLst>
          </p:cNvPr>
          <p:cNvSpPr txBox="1"/>
          <p:nvPr/>
        </p:nvSpPr>
        <p:spPr>
          <a:xfrm>
            <a:off x="1531412" y="2494306"/>
            <a:ext cx="3488647" cy="923330"/>
          </a:xfrm>
          <a:prstGeom prst="rect">
            <a:avLst/>
          </a:prstGeom>
          <a:noFill/>
        </p:spPr>
        <p:txBody>
          <a:bodyPr wrap="none" rtlCol="0">
            <a:spAutoFit/>
          </a:bodyPr>
          <a:lstStyle/>
          <a:p>
            <a:pPr algn="ctr"/>
            <a:r>
              <a:rPr lang="en-US" dirty="0"/>
              <a:t>Example code for</a:t>
            </a:r>
          </a:p>
          <a:p>
            <a:pPr algn="ctr"/>
            <a:r>
              <a:rPr lang="en-US" dirty="0"/>
              <a:t>“A die (chip) for a photonic layout”</a:t>
            </a:r>
          </a:p>
          <a:p>
            <a:pPr algn="ctr"/>
            <a:endParaRPr lang="en-US" dirty="0"/>
          </a:p>
        </p:txBody>
      </p:sp>
      <p:sp>
        <p:nvSpPr>
          <p:cNvPr id="8" name="Rectángulo 7">
            <a:extLst>
              <a:ext uri="{FF2B5EF4-FFF2-40B4-BE49-F238E27FC236}">
                <a16:creationId xmlns:a16="http://schemas.microsoft.com/office/drawing/2014/main" id="{4DFC788C-53E2-83E7-3D9E-EBD582171C71}"/>
              </a:ext>
            </a:extLst>
          </p:cNvPr>
          <p:cNvSpPr/>
          <p:nvPr/>
        </p:nvSpPr>
        <p:spPr>
          <a:xfrm>
            <a:off x="6476841" y="1420406"/>
            <a:ext cx="5332571" cy="3306028"/>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2C44A1ED-9D94-1354-DB46-756E574E2C7E}"/>
              </a:ext>
            </a:extLst>
          </p:cNvPr>
          <p:cNvSpPr txBox="1"/>
          <p:nvPr/>
        </p:nvSpPr>
        <p:spPr>
          <a:xfrm>
            <a:off x="8483018" y="2496339"/>
            <a:ext cx="1320234" cy="646331"/>
          </a:xfrm>
          <a:prstGeom prst="rect">
            <a:avLst/>
          </a:prstGeom>
          <a:noFill/>
        </p:spPr>
        <p:txBody>
          <a:bodyPr wrap="none" rtlCol="0">
            <a:spAutoFit/>
          </a:bodyPr>
          <a:lstStyle/>
          <a:p>
            <a:pPr algn="ctr"/>
            <a:r>
              <a:rPr lang="es-ES" dirty="0" err="1"/>
              <a:t>Example</a:t>
            </a:r>
            <a:r>
              <a:rPr lang="es-ES" dirty="0"/>
              <a:t> die</a:t>
            </a:r>
          </a:p>
          <a:p>
            <a:pPr algn="ctr"/>
            <a:r>
              <a:rPr lang="es-ES" dirty="0"/>
              <a:t> </a:t>
            </a:r>
            <a:r>
              <a:rPr lang="es-ES" dirty="0" err="1"/>
              <a:t>screenshot</a:t>
            </a:r>
            <a:endParaRPr lang="en-US" dirty="0"/>
          </a:p>
        </p:txBody>
      </p:sp>
    </p:spTree>
    <p:extLst>
      <p:ext uri="{BB962C8B-B14F-4D97-AF65-F5344CB8AC3E}">
        <p14:creationId xmlns:p14="http://schemas.microsoft.com/office/powerpoint/2010/main" val="12032410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4059FA-FBEC-E9F2-B007-00DC52BF6EC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90FC649-D74E-6231-6962-55A314587DE9}"/>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gn="just">
              <a:lnSpc>
                <a:spcPct val="100000"/>
              </a:lnSpc>
              <a:spcBef>
                <a:spcPts val="100"/>
              </a:spcBef>
            </a:pPr>
            <a:r>
              <a:rPr lang="en-US" sz="2500" dirty="0"/>
              <a:t>Learning outcome #2a – Notebook section 2. Layout Fundamentals</a:t>
            </a:r>
            <a:endParaRPr sz="2500" b="0" i="1" dirty="0">
              <a:latin typeface="+mj-lt"/>
              <a:cs typeface="Lucida Sans"/>
            </a:endParaRPr>
          </a:p>
        </p:txBody>
      </p:sp>
      <p:pic>
        <p:nvPicPr>
          <p:cNvPr id="83" name="Gráfico 82">
            <a:extLst>
              <a:ext uri="{FF2B5EF4-FFF2-40B4-BE49-F238E27FC236}">
                <a16:creationId xmlns:a16="http://schemas.microsoft.com/office/drawing/2014/main" id="{A271E623-CA1C-85FA-F7D9-3B02C973DC2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C477B990-7764-C7C5-3C3D-2F0817D1CDCA}"/>
              </a:ext>
            </a:extLst>
          </p:cNvPr>
          <p:cNvSpPr>
            <a:spLocks noGrp="1"/>
          </p:cNvSpPr>
          <p:nvPr>
            <p:ph type="sldNum" sz="quarter" idx="7"/>
          </p:nvPr>
        </p:nvSpPr>
        <p:spPr/>
        <p:txBody>
          <a:bodyPr/>
          <a:lstStyle/>
          <a:p>
            <a:fld id="{B6F15528-21DE-4FAA-801E-634DDDAF4B2B}" type="slidenum">
              <a:rPr lang="es-ES" smtClean="0"/>
              <a:t>13</a:t>
            </a:fld>
            <a:endParaRPr lang="es-ES"/>
          </a:p>
        </p:txBody>
      </p:sp>
      <p:sp>
        <p:nvSpPr>
          <p:cNvPr id="3" name="Marcador de pie de página 2">
            <a:extLst>
              <a:ext uri="{FF2B5EF4-FFF2-40B4-BE49-F238E27FC236}">
                <a16:creationId xmlns:a16="http://schemas.microsoft.com/office/drawing/2014/main" id="{DC95EE1C-B3A5-8266-6F86-82B0152F5920}"/>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7" name="CuadroTexto 6">
            <a:extLst>
              <a:ext uri="{FF2B5EF4-FFF2-40B4-BE49-F238E27FC236}">
                <a16:creationId xmlns:a16="http://schemas.microsoft.com/office/drawing/2014/main" id="{D4656043-FADD-BBD4-1536-10FD3E2E7B7D}"/>
              </a:ext>
            </a:extLst>
          </p:cNvPr>
          <p:cNvSpPr txBox="1"/>
          <p:nvPr/>
        </p:nvSpPr>
        <p:spPr>
          <a:xfrm>
            <a:off x="609600" y="1764232"/>
            <a:ext cx="6533007" cy="4093428"/>
          </a:xfrm>
          <a:prstGeom prst="rect">
            <a:avLst/>
          </a:prstGeom>
          <a:noFill/>
        </p:spPr>
        <p:txBody>
          <a:bodyPr wrap="square" rtlCol="0">
            <a:spAutoFit/>
          </a:bodyPr>
          <a:lstStyle/>
          <a:p>
            <a:r>
              <a:rPr lang="es-ES" sz="1600" b="1" dirty="0"/>
              <a:t>Descripción del componente:</a:t>
            </a:r>
            <a:r>
              <a:rPr lang="es-ES" sz="1600" dirty="0"/>
              <a:t> Este componente, denominado die, es una estructura de </a:t>
            </a:r>
            <a:r>
              <a:rPr lang="es-ES" sz="1600" b="1" dirty="0" err="1"/>
              <a:t>floorplanning</a:t>
            </a:r>
            <a:r>
              <a:rPr lang="es-ES" sz="1600" b="1" dirty="0"/>
              <a:t> paramétrica</a:t>
            </a:r>
            <a:r>
              <a:rPr lang="es-ES" sz="1600" dirty="0"/>
              <a:t> diseñada para definir los límites físicos y el área de trabajo útil de un chip fotónico. La celda utiliza una operación booleana de resta (A-B) para crear un marco (borde) de anchura 250 µm sobre una capa definida como FLOORPLAN, permitiendo separar visualmente la zona de diseño interno del borde del </a:t>
            </a:r>
            <a:r>
              <a:rPr lang="es-ES" sz="1600" i="1" dirty="0"/>
              <a:t>die</a:t>
            </a:r>
            <a:r>
              <a:rPr lang="es-ES" sz="1600" dirty="0"/>
              <a:t>. El componente es altamente escalable, permitiendo configurar dimensiones personalizadas de longitud (</a:t>
            </a:r>
            <a:r>
              <a:rPr lang="es-ES" sz="1600" dirty="0" err="1"/>
              <a:t>dieL</a:t>
            </a:r>
            <a:r>
              <a:rPr lang="es-ES" sz="1600" dirty="0"/>
              <a:t>) y anchura (</a:t>
            </a:r>
            <a:r>
              <a:rPr lang="es-ES" sz="1600" dirty="0" err="1"/>
              <a:t>dieW</a:t>
            </a:r>
            <a:r>
              <a:rPr lang="es-ES" sz="1600" dirty="0"/>
              <a:t>). Adicionalmente, incluye un puerto de referencia denominado "</a:t>
            </a:r>
            <a:r>
              <a:rPr lang="es-ES" sz="1600" dirty="0" err="1"/>
              <a:t>block@org</a:t>
            </a:r>
            <a:r>
              <a:rPr lang="es-ES" sz="1600" dirty="0"/>
              <a:t>" situado en la coordenada de origen interna (</a:t>
            </a:r>
            <a:r>
              <a:rPr lang="es-ES" sz="1600" dirty="0" err="1"/>
              <a:t>border</a:t>
            </a:r>
            <a:r>
              <a:rPr lang="es-ES" sz="1600" dirty="0"/>
              <a:t>, </a:t>
            </a:r>
            <a:r>
              <a:rPr lang="es-ES" sz="1600" dirty="0" err="1"/>
              <a:t>border</a:t>
            </a:r>
            <a:r>
              <a:rPr lang="es-ES" sz="1600" dirty="0"/>
              <a:t>), lo cual facilita el posicionamiento relativo de otros dispositivos fotónicos dentro del área de trabajo. En la implementación actual, se han instanciado tres referencias de esta celda con distintas dimensiones para formar un conjunto de áreas de trabajo integradas sobre un </a:t>
            </a:r>
            <a:r>
              <a:rPr lang="es-ES" sz="1600" i="1" dirty="0" err="1"/>
              <a:t>wafer</a:t>
            </a:r>
            <a:r>
              <a:rPr lang="es-ES" sz="1600" dirty="0"/>
              <a:t> o plano de diseño común.</a:t>
            </a:r>
          </a:p>
          <a:p>
            <a:endParaRPr lang="es-ES" dirty="0"/>
          </a:p>
          <a:p>
            <a:endParaRPr lang="es-ES" dirty="0"/>
          </a:p>
        </p:txBody>
      </p:sp>
      <p:pic>
        <p:nvPicPr>
          <p:cNvPr id="5" name="Imagen 4">
            <a:extLst>
              <a:ext uri="{FF2B5EF4-FFF2-40B4-BE49-F238E27FC236}">
                <a16:creationId xmlns:a16="http://schemas.microsoft.com/office/drawing/2014/main" id="{451597C7-EA5C-3528-8DD5-F0DF3787EF51}"/>
              </a:ext>
            </a:extLst>
          </p:cNvPr>
          <p:cNvPicPr>
            <a:picLocks noChangeAspect="1"/>
          </p:cNvPicPr>
          <p:nvPr/>
        </p:nvPicPr>
        <p:blipFill>
          <a:blip r:embed="rId4"/>
          <a:stretch>
            <a:fillRect/>
          </a:stretch>
        </p:blipFill>
        <p:spPr>
          <a:xfrm>
            <a:off x="7805978" y="3459480"/>
            <a:ext cx="3539414" cy="2671911"/>
          </a:xfrm>
          <a:prstGeom prst="rect">
            <a:avLst/>
          </a:prstGeom>
        </p:spPr>
      </p:pic>
      <p:pic>
        <p:nvPicPr>
          <p:cNvPr id="9" name="Imagen 8">
            <a:extLst>
              <a:ext uri="{FF2B5EF4-FFF2-40B4-BE49-F238E27FC236}">
                <a16:creationId xmlns:a16="http://schemas.microsoft.com/office/drawing/2014/main" id="{461C44E0-22E0-052E-B6C5-E841A2751B0E}"/>
              </a:ext>
            </a:extLst>
          </p:cNvPr>
          <p:cNvPicPr>
            <a:picLocks noChangeAspect="1"/>
          </p:cNvPicPr>
          <p:nvPr/>
        </p:nvPicPr>
        <p:blipFill>
          <a:blip r:embed="rId5"/>
          <a:stretch>
            <a:fillRect/>
          </a:stretch>
        </p:blipFill>
        <p:spPr>
          <a:xfrm>
            <a:off x="7805978" y="1006720"/>
            <a:ext cx="3539414" cy="2344819"/>
          </a:xfrm>
          <a:prstGeom prst="rect">
            <a:avLst/>
          </a:prstGeom>
        </p:spPr>
      </p:pic>
    </p:spTree>
    <p:extLst>
      <p:ext uri="{BB962C8B-B14F-4D97-AF65-F5344CB8AC3E}">
        <p14:creationId xmlns:p14="http://schemas.microsoft.com/office/powerpoint/2010/main" val="34777481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86822B-5338-45BA-93B5-6B72734757E5}"/>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04FC645-8A46-4F84-4981-BB1A4084CD5B}"/>
              </a:ext>
            </a:extLst>
          </p:cNvPr>
          <p:cNvSpPr txBox="1">
            <a:spLocks noGrp="1"/>
          </p:cNvSpPr>
          <p:nvPr>
            <p:ph type="title"/>
          </p:nvPr>
        </p:nvSpPr>
        <p:spPr>
          <a:xfrm>
            <a:off x="685800" y="408883"/>
            <a:ext cx="10994410" cy="874598"/>
          </a:xfrm>
          <a:prstGeom prst="rect">
            <a:avLst/>
          </a:prstGeom>
        </p:spPr>
        <p:txBody>
          <a:bodyPr vert="horz" wrap="square" lIns="0" tIns="12700" rIns="0" bIns="0" rtlCol="0">
            <a:spAutoFit/>
          </a:bodyPr>
          <a:lstStyle/>
          <a:p>
            <a:pPr marL="12700" algn="just">
              <a:lnSpc>
                <a:spcPct val="100000"/>
              </a:lnSpc>
              <a:spcBef>
                <a:spcPts val="100"/>
              </a:spcBef>
            </a:pPr>
            <a:r>
              <a:rPr lang="en-US" dirty="0"/>
              <a:t>Learning outcome #2a – Notebook section 2. Layout Fundamentals – </a:t>
            </a:r>
            <a:r>
              <a:rPr lang="en-US" dirty="0">
                <a:solidFill>
                  <a:srgbClr val="FF0000"/>
                </a:solidFill>
              </a:rPr>
              <a:t>1 slide per component</a:t>
            </a:r>
            <a:br>
              <a:rPr lang="en-US" sz="2500" dirty="0"/>
            </a:br>
            <a:r>
              <a:rPr lang="en-US" sz="1800" b="0" i="1" dirty="0"/>
              <a:t>“Use your design results from Lab2 and Lab3 to create layout instances of your designed components: DCs, MMIs, MZIs &amp; Ring Resonators” </a:t>
            </a:r>
            <a:r>
              <a:rPr lang="en-US" sz="1800" b="0" i="1" dirty="0">
                <a:solidFill>
                  <a:srgbClr val="FF0000"/>
                </a:solidFill>
                <a:sym typeface="Wingdings" pitchFamily="2" charset="2"/>
              </a:rPr>
              <a:t> Make cells for all your components</a:t>
            </a:r>
            <a:endParaRPr sz="2500" b="0" i="1" dirty="0">
              <a:solidFill>
                <a:srgbClr val="FF0000"/>
              </a:solidFill>
              <a:latin typeface="+mj-lt"/>
              <a:cs typeface="Lucida Sans"/>
            </a:endParaRPr>
          </a:p>
        </p:txBody>
      </p:sp>
      <p:pic>
        <p:nvPicPr>
          <p:cNvPr id="83" name="Gráfico 82">
            <a:extLst>
              <a:ext uri="{FF2B5EF4-FFF2-40B4-BE49-F238E27FC236}">
                <a16:creationId xmlns:a16="http://schemas.microsoft.com/office/drawing/2014/main" id="{12694B7F-4A81-5976-DF39-B2D1467ABD3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9B90F42C-CB60-7597-2181-7AFD5CA0265F}"/>
              </a:ext>
            </a:extLst>
          </p:cNvPr>
          <p:cNvSpPr>
            <a:spLocks noGrp="1"/>
          </p:cNvSpPr>
          <p:nvPr>
            <p:ph type="sldNum" sz="quarter" idx="7"/>
          </p:nvPr>
        </p:nvSpPr>
        <p:spPr/>
        <p:txBody>
          <a:bodyPr/>
          <a:lstStyle/>
          <a:p>
            <a:fld id="{B6F15528-21DE-4FAA-801E-634DDDAF4B2B}" type="slidenum">
              <a:rPr lang="es-ES" smtClean="0"/>
              <a:t>14</a:t>
            </a:fld>
            <a:endParaRPr lang="es-ES"/>
          </a:p>
        </p:txBody>
      </p:sp>
      <p:sp>
        <p:nvSpPr>
          <p:cNvPr id="3" name="Marcador de pie de página 2">
            <a:extLst>
              <a:ext uri="{FF2B5EF4-FFF2-40B4-BE49-F238E27FC236}">
                <a16:creationId xmlns:a16="http://schemas.microsoft.com/office/drawing/2014/main" id="{C90D9B96-41DD-A8DA-B6BE-83D304251864}"/>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6" name="Rectángulo 5">
            <a:extLst>
              <a:ext uri="{FF2B5EF4-FFF2-40B4-BE49-F238E27FC236}">
                <a16:creationId xmlns:a16="http://schemas.microsoft.com/office/drawing/2014/main" id="{F4D24514-A03D-4441-5CF5-F1A45F512508}"/>
              </a:ext>
            </a:extLst>
          </p:cNvPr>
          <p:cNvSpPr/>
          <p:nvPr/>
        </p:nvSpPr>
        <p:spPr>
          <a:xfrm>
            <a:off x="609441" y="1418373"/>
            <a:ext cx="5332571" cy="4751794"/>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uadroTexto 6">
            <a:extLst>
              <a:ext uri="{FF2B5EF4-FFF2-40B4-BE49-F238E27FC236}">
                <a16:creationId xmlns:a16="http://schemas.microsoft.com/office/drawing/2014/main" id="{F4C109C5-59D5-630A-2D2D-A8F91A42BC9F}"/>
              </a:ext>
            </a:extLst>
          </p:cNvPr>
          <p:cNvSpPr txBox="1"/>
          <p:nvPr/>
        </p:nvSpPr>
        <p:spPr>
          <a:xfrm>
            <a:off x="2063316" y="2494306"/>
            <a:ext cx="2424831" cy="646331"/>
          </a:xfrm>
          <a:prstGeom prst="rect">
            <a:avLst/>
          </a:prstGeom>
          <a:noFill/>
        </p:spPr>
        <p:txBody>
          <a:bodyPr wrap="none" rtlCol="0">
            <a:spAutoFit/>
          </a:bodyPr>
          <a:lstStyle/>
          <a:p>
            <a:pPr algn="ctr"/>
            <a:r>
              <a:rPr lang="en-US" dirty="0"/>
              <a:t>Component as cell code</a:t>
            </a:r>
          </a:p>
          <a:p>
            <a:pPr algn="ctr"/>
            <a:endParaRPr lang="en-US" dirty="0"/>
          </a:p>
        </p:txBody>
      </p:sp>
      <p:sp>
        <p:nvSpPr>
          <p:cNvPr id="8" name="Rectángulo 7">
            <a:extLst>
              <a:ext uri="{FF2B5EF4-FFF2-40B4-BE49-F238E27FC236}">
                <a16:creationId xmlns:a16="http://schemas.microsoft.com/office/drawing/2014/main" id="{E94193E1-EC5D-32EE-87DA-4028ED0884AC}"/>
              </a:ext>
            </a:extLst>
          </p:cNvPr>
          <p:cNvSpPr/>
          <p:nvPr/>
        </p:nvSpPr>
        <p:spPr>
          <a:xfrm>
            <a:off x="6476841" y="1420406"/>
            <a:ext cx="5332571" cy="4751794"/>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C02C6F39-E5C3-C462-F3B7-A83CE70D398A}"/>
              </a:ext>
            </a:extLst>
          </p:cNvPr>
          <p:cNvSpPr txBox="1"/>
          <p:nvPr/>
        </p:nvSpPr>
        <p:spPr>
          <a:xfrm>
            <a:off x="7644330" y="2496339"/>
            <a:ext cx="2997616" cy="369332"/>
          </a:xfrm>
          <a:prstGeom prst="rect">
            <a:avLst/>
          </a:prstGeom>
          <a:noFill/>
        </p:spPr>
        <p:txBody>
          <a:bodyPr wrap="none" rtlCol="0">
            <a:spAutoFit/>
          </a:bodyPr>
          <a:lstStyle/>
          <a:p>
            <a:pPr algn="ctr"/>
            <a:r>
              <a:rPr lang="es-ES" dirty="0" err="1"/>
              <a:t>Component</a:t>
            </a:r>
            <a:r>
              <a:rPr lang="es-ES" dirty="0"/>
              <a:t> as </a:t>
            </a:r>
            <a:r>
              <a:rPr lang="es-ES" dirty="0" err="1"/>
              <a:t>cell</a:t>
            </a:r>
            <a:r>
              <a:rPr lang="es-ES" dirty="0"/>
              <a:t> </a:t>
            </a:r>
            <a:r>
              <a:rPr lang="es-ES" dirty="0" err="1"/>
              <a:t>screenshot</a:t>
            </a:r>
            <a:endParaRPr lang="en-US" dirty="0"/>
          </a:p>
        </p:txBody>
      </p:sp>
    </p:spTree>
    <p:extLst>
      <p:ext uri="{BB962C8B-B14F-4D97-AF65-F5344CB8AC3E}">
        <p14:creationId xmlns:p14="http://schemas.microsoft.com/office/powerpoint/2010/main" val="35704027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8D281E-4B83-CADF-E05C-2779A19E8BE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3C614703-AB72-E989-42B5-849A55E9B3E2}"/>
              </a:ext>
            </a:extLst>
          </p:cNvPr>
          <p:cNvSpPr txBox="1">
            <a:spLocks noGrp="1"/>
          </p:cNvSpPr>
          <p:nvPr>
            <p:ph type="title"/>
          </p:nvPr>
        </p:nvSpPr>
        <p:spPr>
          <a:xfrm>
            <a:off x="685800" y="408883"/>
            <a:ext cx="10994410" cy="320601"/>
          </a:xfrm>
          <a:prstGeom prst="rect">
            <a:avLst/>
          </a:prstGeom>
        </p:spPr>
        <p:txBody>
          <a:bodyPr vert="horz" wrap="square" lIns="0" tIns="12700" rIns="0" bIns="0" rtlCol="0">
            <a:spAutoFit/>
          </a:bodyPr>
          <a:lstStyle/>
          <a:p>
            <a:pPr marL="12700" algn="just">
              <a:lnSpc>
                <a:spcPct val="100000"/>
              </a:lnSpc>
              <a:spcBef>
                <a:spcPts val="100"/>
              </a:spcBef>
            </a:pPr>
            <a:r>
              <a:rPr lang="en-US" dirty="0"/>
              <a:t>Learning outcome #2a – Notebook section 2. Layout Fundamentals – CELL DC</a:t>
            </a:r>
            <a:endParaRPr sz="2500" b="0" i="1" dirty="0">
              <a:solidFill>
                <a:srgbClr val="FF0000"/>
              </a:solidFill>
              <a:latin typeface="+mj-lt"/>
              <a:cs typeface="Lucida Sans"/>
            </a:endParaRPr>
          </a:p>
        </p:txBody>
      </p:sp>
      <p:pic>
        <p:nvPicPr>
          <p:cNvPr id="83" name="Gráfico 82">
            <a:extLst>
              <a:ext uri="{FF2B5EF4-FFF2-40B4-BE49-F238E27FC236}">
                <a16:creationId xmlns:a16="http://schemas.microsoft.com/office/drawing/2014/main" id="{B2356666-601E-2F0B-B414-AFB7213C2F5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6398BF1-A4DD-D652-E241-5E9DB50DD57A}"/>
              </a:ext>
            </a:extLst>
          </p:cNvPr>
          <p:cNvSpPr>
            <a:spLocks noGrp="1"/>
          </p:cNvSpPr>
          <p:nvPr>
            <p:ph type="sldNum" sz="quarter" idx="7"/>
          </p:nvPr>
        </p:nvSpPr>
        <p:spPr/>
        <p:txBody>
          <a:bodyPr/>
          <a:lstStyle/>
          <a:p>
            <a:fld id="{B6F15528-21DE-4FAA-801E-634DDDAF4B2B}" type="slidenum">
              <a:rPr lang="es-ES" smtClean="0"/>
              <a:t>15</a:t>
            </a:fld>
            <a:endParaRPr lang="es-ES"/>
          </a:p>
        </p:txBody>
      </p:sp>
      <p:sp>
        <p:nvSpPr>
          <p:cNvPr id="3" name="Marcador de pie de página 2">
            <a:extLst>
              <a:ext uri="{FF2B5EF4-FFF2-40B4-BE49-F238E27FC236}">
                <a16:creationId xmlns:a16="http://schemas.microsoft.com/office/drawing/2014/main" id="{CEC070D5-9297-7D8B-73E0-DC21D7D5CE09}"/>
              </a:ext>
            </a:extLst>
          </p:cNvPr>
          <p:cNvSpPr>
            <a:spLocks noGrp="1"/>
          </p:cNvSpPr>
          <p:nvPr>
            <p:ph type="ftr" sz="quarter" idx="5"/>
          </p:nvPr>
        </p:nvSpPr>
        <p:spPr/>
        <p:txBody>
          <a:bodyPr/>
          <a:lstStyle/>
          <a:p>
            <a:pPr marL="12700">
              <a:spcBef>
                <a:spcPts val="15"/>
              </a:spcBef>
            </a:pPr>
            <a:r>
              <a:rPr lang="es-ES" spc="-5"/>
              <a:t>LAB 4.0. LAYOUT</a:t>
            </a:r>
            <a:endParaRPr lang="es-ES" spc="-5" dirty="0"/>
          </a:p>
        </p:txBody>
      </p:sp>
      <p:pic>
        <p:nvPicPr>
          <p:cNvPr id="4" name="Imagen 3">
            <a:extLst>
              <a:ext uri="{FF2B5EF4-FFF2-40B4-BE49-F238E27FC236}">
                <a16:creationId xmlns:a16="http://schemas.microsoft.com/office/drawing/2014/main" id="{3246B6F3-AA8E-914B-AE5A-B264FC67CA47}"/>
              </a:ext>
            </a:extLst>
          </p:cNvPr>
          <p:cNvPicPr>
            <a:picLocks noChangeAspect="1"/>
          </p:cNvPicPr>
          <p:nvPr/>
        </p:nvPicPr>
        <p:blipFill>
          <a:blip r:embed="rId4"/>
          <a:stretch>
            <a:fillRect/>
          </a:stretch>
        </p:blipFill>
        <p:spPr>
          <a:xfrm>
            <a:off x="422666" y="1262507"/>
            <a:ext cx="5029200" cy="4472169"/>
          </a:xfrm>
          <a:prstGeom prst="rect">
            <a:avLst/>
          </a:prstGeom>
        </p:spPr>
      </p:pic>
      <p:pic>
        <p:nvPicPr>
          <p:cNvPr id="10" name="Imagen 9">
            <a:extLst>
              <a:ext uri="{FF2B5EF4-FFF2-40B4-BE49-F238E27FC236}">
                <a16:creationId xmlns:a16="http://schemas.microsoft.com/office/drawing/2014/main" id="{29D7C39B-69DE-D318-5864-7139CE1DAA52}"/>
              </a:ext>
            </a:extLst>
          </p:cNvPr>
          <p:cNvPicPr>
            <a:picLocks noChangeAspect="1"/>
          </p:cNvPicPr>
          <p:nvPr/>
        </p:nvPicPr>
        <p:blipFill>
          <a:blip r:embed="rId5"/>
          <a:stretch>
            <a:fillRect/>
          </a:stretch>
        </p:blipFill>
        <p:spPr>
          <a:xfrm>
            <a:off x="5845162" y="1262507"/>
            <a:ext cx="5924172" cy="4472169"/>
          </a:xfrm>
          <a:prstGeom prst="rect">
            <a:avLst/>
          </a:prstGeom>
        </p:spPr>
      </p:pic>
    </p:spTree>
    <p:extLst>
      <p:ext uri="{BB962C8B-B14F-4D97-AF65-F5344CB8AC3E}">
        <p14:creationId xmlns:p14="http://schemas.microsoft.com/office/powerpoint/2010/main" val="15040021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88C17-26C2-84DC-5BBE-C5D749ED2CA6}"/>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7435EDC-F625-83B1-2390-A16F6E564306}"/>
              </a:ext>
            </a:extLst>
          </p:cNvPr>
          <p:cNvSpPr txBox="1">
            <a:spLocks noGrp="1"/>
          </p:cNvSpPr>
          <p:nvPr>
            <p:ph type="title"/>
          </p:nvPr>
        </p:nvSpPr>
        <p:spPr>
          <a:xfrm>
            <a:off x="685800" y="408883"/>
            <a:ext cx="10994410" cy="320601"/>
          </a:xfrm>
          <a:prstGeom prst="rect">
            <a:avLst/>
          </a:prstGeom>
        </p:spPr>
        <p:txBody>
          <a:bodyPr vert="horz" wrap="square" lIns="0" tIns="12700" rIns="0" bIns="0" rtlCol="0">
            <a:spAutoFit/>
          </a:bodyPr>
          <a:lstStyle/>
          <a:p>
            <a:pPr marL="12700" algn="just">
              <a:lnSpc>
                <a:spcPct val="100000"/>
              </a:lnSpc>
              <a:spcBef>
                <a:spcPts val="100"/>
              </a:spcBef>
            </a:pPr>
            <a:r>
              <a:rPr lang="en-US" dirty="0"/>
              <a:t>Learning outcome #2a – Notebook section 2. Layout Fundamentals – CELL MMI2x2</a:t>
            </a:r>
            <a:endParaRPr sz="2500" b="0" i="1" dirty="0">
              <a:solidFill>
                <a:srgbClr val="FF0000"/>
              </a:solidFill>
              <a:latin typeface="+mj-lt"/>
              <a:cs typeface="Lucida Sans"/>
            </a:endParaRPr>
          </a:p>
        </p:txBody>
      </p:sp>
      <p:pic>
        <p:nvPicPr>
          <p:cNvPr id="83" name="Gráfico 82">
            <a:extLst>
              <a:ext uri="{FF2B5EF4-FFF2-40B4-BE49-F238E27FC236}">
                <a16:creationId xmlns:a16="http://schemas.microsoft.com/office/drawing/2014/main" id="{050A2116-58DE-4DB7-15E0-0FD0E87CB73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4079FF6-0532-9016-FF33-22F6FFB2BD20}"/>
              </a:ext>
            </a:extLst>
          </p:cNvPr>
          <p:cNvSpPr>
            <a:spLocks noGrp="1"/>
          </p:cNvSpPr>
          <p:nvPr>
            <p:ph type="sldNum" sz="quarter" idx="7"/>
          </p:nvPr>
        </p:nvSpPr>
        <p:spPr/>
        <p:txBody>
          <a:bodyPr/>
          <a:lstStyle/>
          <a:p>
            <a:fld id="{B6F15528-21DE-4FAA-801E-634DDDAF4B2B}" type="slidenum">
              <a:rPr lang="es-ES" smtClean="0"/>
              <a:t>16</a:t>
            </a:fld>
            <a:endParaRPr lang="es-ES"/>
          </a:p>
        </p:txBody>
      </p:sp>
      <p:sp>
        <p:nvSpPr>
          <p:cNvPr id="3" name="Marcador de pie de página 2">
            <a:extLst>
              <a:ext uri="{FF2B5EF4-FFF2-40B4-BE49-F238E27FC236}">
                <a16:creationId xmlns:a16="http://schemas.microsoft.com/office/drawing/2014/main" id="{34FAAD5B-1AFC-AF46-BB8F-7EA6B8F58AC3}"/>
              </a:ext>
            </a:extLst>
          </p:cNvPr>
          <p:cNvSpPr>
            <a:spLocks noGrp="1"/>
          </p:cNvSpPr>
          <p:nvPr>
            <p:ph type="ftr" sz="quarter" idx="5"/>
          </p:nvPr>
        </p:nvSpPr>
        <p:spPr/>
        <p:txBody>
          <a:bodyPr/>
          <a:lstStyle/>
          <a:p>
            <a:pPr marL="12700">
              <a:spcBef>
                <a:spcPts val="15"/>
              </a:spcBef>
            </a:pPr>
            <a:r>
              <a:rPr lang="es-ES" spc="-5"/>
              <a:t>LAB 4.0. LAYOUT</a:t>
            </a:r>
            <a:endParaRPr lang="es-ES" spc="-5" dirty="0"/>
          </a:p>
        </p:txBody>
      </p:sp>
      <p:pic>
        <p:nvPicPr>
          <p:cNvPr id="5" name="Imagen 4">
            <a:extLst>
              <a:ext uri="{FF2B5EF4-FFF2-40B4-BE49-F238E27FC236}">
                <a16:creationId xmlns:a16="http://schemas.microsoft.com/office/drawing/2014/main" id="{9DF98ECA-DE2E-53D2-5744-E7BA01D850F1}"/>
              </a:ext>
            </a:extLst>
          </p:cNvPr>
          <p:cNvPicPr>
            <a:picLocks noChangeAspect="1"/>
          </p:cNvPicPr>
          <p:nvPr/>
        </p:nvPicPr>
        <p:blipFill>
          <a:blip r:embed="rId4"/>
          <a:stretch>
            <a:fillRect/>
          </a:stretch>
        </p:blipFill>
        <p:spPr>
          <a:xfrm>
            <a:off x="5060246" y="913691"/>
            <a:ext cx="6663934" cy="5030617"/>
          </a:xfrm>
          <a:prstGeom prst="rect">
            <a:avLst/>
          </a:prstGeom>
        </p:spPr>
      </p:pic>
      <p:pic>
        <p:nvPicPr>
          <p:cNvPr id="7" name="Imagen 6">
            <a:extLst>
              <a:ext uri="{FF2B5EF4-FFF2-40B4-BE49-F238E27FC236}">
                <a16:creationId xmlns:a16="http://schemas.microsoft.com/office/drawing/2014/main" id="{C17A41D8-E000-4BA3-4117-41A0E8F48C6E}"/>
              </a:ext>
            </a:extLst>
          </p:cNvPr>
          <p:cNvPicPr>
            <a:picLocks noChangeAspect="1"/>
          </p:cNvPicPr>
          <p:nvPr/>
        </p:nvPicPr>
        <p:blipFill>
          <a:blip r:embed="rId5"/>
          <a:stretch>
            <a:fillRect/>
          </a:stretch>
        </p:blipFill>
        <p:spPr>
          <a:xfrm>
            <a:off x="670560" y="916439"/>
            <a:ext cx="3977640" cy="5027869"/>
          </a:xfrm>
          <a:prstGeom prst="rect">
            <a:avLst/>
          </a:prstGeom>
        </p:spPr>
      </p:pic>
    </p:spTree>
    <p:extLst>
      <p:ext uri="{BB962C8B-B14F-4D97-AF65-F5344CB8AC3E}">
        <p14:creationId xmlns:p14="http://schemas.microsoft.com/office/powerpoint/2010/main" val="6199039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180B19-9E90-7B22-5A60-F917206327DB}"/>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245AEC51-7369-6F07-3840-F571E42725E1}"/>
              </a:ext>
            </a:extLst>
          </p:cNvPr>
          <p:cNvSpPr txBox="1">
            <a:spLocks noGrp="1"/>
          </p:cNvSpPr>
          <p:nvPr>
            <p:ph type="title"/>
          </p:nvPr>
        </p:nvSpPr>
        <p:spPr>
          <a:xfrm>
            <a:off x="685800" y="408883"/>
            <a:ext cx="10994410" cy="320601"/>
          </a:xfrm>
          <a:prstGeom prst="rect">
            <a:avLst/>
          </a:prstGeom>
        </p:spPr>
        <p:txBody>
          <a:bodyPr vert="horz" wrap="square" lIns="0" tIns="12700" rIns="0" bIns="0" rtlCol="0">
            <a:spAutoFit/>
          </a:bodyPr>
          <a:lstStyle/>
          <a:p>
            <a:pPr marL="12700" algn="just">
              <a:lnSpc>
                <a:spcPct val="100000"/>
              </a:lnSpc>
              <a:spcBef>
                <a:spcPts val="100"/>
              </a:spcBef>
            </a:pPr>
            <a:r>
              <a:rPr lang="en-US" dirty="0"/>
              <a:t>Learning outcome #2a – Notebook section 2. Layout Fundamentals – CELL MMI2x2</a:t>
            </a:r>
            <a:endParaRPr sz="2500" b="0" i="1" dirty="0">
              <a:solidFill>
                <a:srgbClr val="FF0000"/>
              </a:solidFill>
              <a:latin typeface="+mj-lt"/>
              <a:cs typeface="Lucida Sans"/>
            </a:endParaRPr>
          </a:p>
        </p:txBody>
      </p:sp>
      <p:pic>
        <p:nvPicPr>
          <p:cNvPr id="83" name="Gráfico 82">
            <a:extLst>
              <a:ext uri="{FF2B5EF4-FFF2-40B4-BE49-F238E27FC236}">
                <a16:creationId xmlns:a16="http://schemas.microsoft.com/office/drawing/2014/main" id="{6233ACC3-A63A-4A02-EDA8-1AC21885281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8B9CB17-09FC-AF11-6CEB-ABF841CA14C8}"/>
              </a:ext>
            </a:extLst>
          </p:cNvPr>
          <p:cNvSpPr>
            <a:spLocks noGrp="1"/>
          </p:cNvSpPr>
          <p:nvPr>
            <p:ph type="sldNum" sz="quarter" idx="7"/>
          </p:nvPr>
        </p:nvSpPr>
        <p:spPr/>
        <p:txBody>
          <a:bodyPr/>
          <a:lstStyle/>
          <a:p>
            <a:fld id="{B6F15528-21DE-4FAA-801E-634DDDAF4B2B}" type="slidenum">
              <a:rPr lang="es-ES" smtClean="0"/>
              <a:t>17</a:t>
            </a:fld>
            <a:endParaRPr lang="es-ES"/>
          </a:p>
        </p:txBody>
      </p:sp>
      <p:sp>
        <p:nvSpPr>
          <p:cNvPr id="3" name="Marcador de pie de página 2">
            <a:extLst>
              <a:ext uri="{FF2B5EF4-FFF2-40B4-BE49-F238E27FC236}">
                <a16:creationId xmlns:a16="http://schemas.microsoft.com/office/drawing/2014/main" id="{E165490A-6D4A-6A62-9688-0E2D0B073E7B}"/>
              </a:ext>
            </a:extLst>
          </p:cNvPr>
          <p:cNvSpPr>
            <a:spLocks noGrp="1"/>
          </p:cNvSpPr>
          <p:nvPr>
            <p:ph type="ftr" sz="quarter" idx="5"/>
          </p:nvPr>
        </p:nvSpPr>
        <p:spPr/>
        <p:txBody>
          <a:bodyPr/>
          <a:lstStyle/>
          <a:p>
            <a:pPr marL="12700">
              <a:spcBef>
                <a:spcPts val="15"/>
              </a:spcBef>
            </a:pPr>
            <a:r>
              <a:rPr lang="es-ES" spc="-5"/>
              <a:t>LAB 4.0. LAYOUT</a:t>
            </a:r>
            <a:endParaRPr lang="es-ES" spc="-5" dirty="0"/>
          </a:p>
        </p:txBody>
      </p:sp>
      <p:pic>
        <p:nvPicPr>
          <p:cNvPr id="4" name="Imagen 3">
            <a:extLst>
              <a:ext uri="{FF2B5EF4-FFF2-40B4-BE49-F238E27FC236}">
                <a16:creationId xmlns:a16="http://schemas.microsoft.com/office/drawing/2014/main" id="{4724E523-72E4-F48E-4110-22E843C41526}"/>
              </a:ext>
            </a:extLst>
          </p:cNvPr>
          <p:cNvPicPr>
            <a:picLocks noChangeAspect="1"/>
          </p:cNvPicPr>
          <p:nvPr/>
        </p:nvPicPr>
        <p:blipFill>
          <a:blip r:embed="rId4"/>
          <a:stretch>
            <a:fillRect/>
          </a:stretch>
        </p:blipFill>
        <p:spPr>
          <a:xfrm>
            <a:off x="5019632" y="916440"/>
            <a:ext cx="6740107" cy="5088120"/>
          </a:xfrm>
          <a:prstGeom prst="rect">
            <a:avLst/>
          </a:prstGeom>
        </p:spPr>
      </p:pic>
      <p:pic>
        <p:nvPicPr>
          <p:cNvPr id="8" name="Imagen 7">
            <a:extLst>
              <a:ext uri="{FF2B5EF4-FFF2-40B4-BE49-F238E27FC236}">
                <a16:creationId xmlns:a16="http://schemas.microsoft.com/office/drawing/2014/main" id="{CECE02B3-B729-71DA-51E3-4F28C58F44D7}"/>
              </a:ext>
            </a:extLst>
          </p:cNvPr>
          <p:cNvPicPr>
            <a:picLocks noChangeAspect="1"/>
          </p:cNvPicPr>
          <p:nvPr/>
        </p:nvPicPr>
        <p:blipFill>
          <a:blip r:embed="rId5"/>
          <a:stretch>
            <a:fillRect/>
          </a:stretch>
        </p:blipFill>
        <p:spPr>
          <a:xfrm>
            <a:off x="990600" y="1023414"/>
            <a:ext cx="3672840" cy="4960826"/>
          </a:xfrm>
          <a:prstGeom prst="rect">
            <a:avLst/>
          </a:prstGeom>
        </p:spPr>
      </p:pic>
    </p:spTree>
    <p:extLst>
      <p:ext uri="{BB962C8B-B14F-4D97-AF65-F5344CB8AC3E}">
        <p14:creationId xmlns:p14="http://schemas.microsoft.com/office/powerpoint/2010/main" val="18821143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40E2F8-5511-3621-D90B-3AFA43FCDFF0}"/>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9BC717DC-C114-B817-0339-86B6D2672C1A}"/>
              </a:ext>
            </a:extLst>
          </p:cNvPr>
          <p:cNvSpPr txBox="1">
            <a:spLocks noGrp="1"/>
          </p:cNvSpPr>
          <p:nvPr>
            <p:ph type="title"/>
          </p:nvPr>
        </p:nvSpPr>
        <p:spPr>
          <a:xfrm>
            <a:off x="685800" y="408883"/>
            <a:ext cx="10994410" cy="320601"/>
          </a:xfrm>
          <a:prstGeom prst="rect">
            <a:avLst/>
          </a:prstGeom>
        </p:spPr>
        <p:txBody>
          <a:bodyPr vert="horz" wrap="square" lIns="0" tIns="12700" rIns="0" bIns="0" rtlCol="0">
            <a:spAutoFit/>
          </a:bodyPr>
          <a:lstStyle/>
          <a:p>
            <a:pPr marL="12700" algn="just">
              <a:lnSpc>
                <a:spcPct val="100000"/>
              </a:lnSpc>
              <a:spcBef>
                <a:spcPts val="100"/>
              </a:spcBef>
            </a:pPr>
            <a:r>
              <a:rPr lang="en-US" dirty="0"/>
              <a:t>Learning outcome #2a – Notebook section 2. Layout Fundamentals – CELL MZI</a:t>
            </a:r>
            <a:endParaRPr sz="2500" b="0" i="1" dirty="0">
              <a:solidFill>
                <a:srgbClr val="FF0000"/>
              </a:solidFill>
              <a:latin typeface="+mj-lt"/>
              <a:cs typeface="Lucida Sans"/>
            </a:endParaRPr>
          </a:p>
        </p:txBody>
      </p:sp>
      <p:pic>
        <p:nvPicPr>
          <p:cNvPr id="83" name="Gráfico 82">
            <a:extLst>
              <a:ext uri="{FF2B5EF4-FFF2-40B4-BE49-F238E27FC236}">
                <a16:creationId xmlns:a16="http://schemas.microsoft.com/office/drawing/2014/main" id="{9F174BBA-B647-137E-F022-22637D04F80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A73837D-E2B8-18D6-2149-8237FAFAC782}"/>
              </a:ext>
            </a:extLst>
          </p:cNvPr>
          <p:cNvSpPr>
            <a:spLocks noGrp="1"/>
          </p:cNvSpPr>
          <p:nvPr>
            <p:ph type="sldNum" sz="quarter" idx="7"/>
          </p:nvPr>
        </p:nvSpPr>
        <p:spPr/>
        <p:txBody>
          <a:bodyPr/>
          <a:lstStyle/>
          <a:p>
            <a:fld id="{B6F15528-21DE-4FAA-801E-634DDDAF4B2B}" type="slidenum">
              <a:rPr lang="es-ES" smtClean="0"/>
              <a:t>18</a:t>
            </a:fld>
            <a:endParaRPr lang="es-ES"/>
          </a:p>
        </p:txBody>
      </p:sp>
      <p:sp>
        <p:nvSpPr>
          <p:cNvPr id="3" name="Marcador de pie de página 2">
            <a:extLst>
              <a:ext uri="{FF2B5EF4-FFF2-40B4-BE49-F238E27FC236}">
                <a16:creationId xmlns:a16="http://schemas.microsoft.com/office/drawing/2014/main" id="{E62DE885-5208-740B-BCCC-0586F7C4FFD8}"/>
              </a:ext>
            </a:extLst>
          </p:cNvPr>
          <p:cNvSpPr>
            <a:spLocks noGrp="1"/>
          </p:cNvSpPr>
          <p:nvPr>
            <p:ph type="ftr" sz="quarter" idx="5"/>
          </p:nvPr>
        </p:nvSpPr>
        <p:spPr/>
        <p:txBody>
          <a:bodyPr/>
          <a:lstStyle/>
          <a:p>
            <a:pPr marL="12700">
              <a:spcBef>
                <a:spcPts val="15"/>
              </a:spcBef>
            </a:pPr>
            <a:r>
              <a:rPr lang="es-ES" spc="-5"/>
              <a:t>LAB 4.0. LAYOUT</a:t>
            </a:r>
            <a:endParaRPr lang="es-ES" spc="-5" dirty="0"/>
          </a:p>
        </p:txBody>
      </p:sp>
      <p:pic>
        <p:nvPicPr>
          <p:cNvPr id="5" name="Imagen 4">
            <a:extLst>
              <a:ext uri="{FF2B5EF4-FFF2-40B4-BE49-F238E27FC236}">
                <a16:creationId xmlns:a16="http://schemas.microsoft.com/office/drawing/2014/main" id="{995F3B05-491A-FEE7-BB26-BC846E985494}"/>
              </a:ext>
            </a:extLst>
          </p:cNvPr>
          <p:cNvPicPr>
            <a:picLocks noChangeAspect="1"/>
          </p:cNvPicPr>
          <p:nvPr/>
        </p:nvPicPr>
        <p:blipFill>
          <a:blip r:embed="rId4"/>
          <a:stretch>
            <a:fillRect/>
          </a:stretch>
        </p:blipFill>
        <p:spPr>
          <a:xfrm>
            <a:off x="5410201" y="1066801"/>
            <a:ext cx="6343894" cy="4789018"/>
          </a:xfrm>
          <a:prstGeom prst="rect">
            <a:avLst/>
          </a:prstGeom>
        </p:spPr>
      </p:pic>
      <p:pic>
        <p:nvPicPr>
          <p:cNvPr id="7" name="Imagen 6">
            <a:extLst>
              <a:ext uri="{FF2B5EF4-FFF2-40B4-BE49-F238E27FC236}">
                <a16:creationId xmlns:a16="http://schemas.microsoft.com/office/drawing/2014/main" id="{0B95CD5B-DD92-90F3-5B80-645F9D545D4C}"/>
              </a:ext>
            </a:extLst>
          </p:cNvPr>
          <p:cNvPicPr>
            <a:picLocks noChangeAspect="1"/>
          </p:cNvPicPr>
          <p:nvPr/>
        </p:nvPicPr>
        <p:blipFill>
          <a:blip r:embed="rId5"/>
          <a:stretch>
            <a:fillRect/>
          </a:stretch>
        </p:blipFill>
        <p:spPr>
          <a:xfrm>
            <a:off x="448066" y="1066799"/>
            <a:ext cx="4785409" cy="4800601"/>
          </a:xfrm>
          <a:prstGeom prst="rect">
            <a:avLst/>
          </a:prstGeom>
        </p:spPr>
      </p:pic>
    </p:spTree>
    <p:extLst>
      <p:ext uri="{BB962C8B-B14F-4D97-AF65-F5344CB8AC3E}">
        <p14:creationId xmlns:p14="http://schemas.microsoft.com/office/powerpoint/2010/main" val="32069223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B921E8-FBA7-C2C4-D4E1-1308577994D2}"/>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FED3ACA8-D4E7-5E4F-0AEC-B33DC107DD0A}"/>
              </a:ext>
            </a:extLst>
          </p:cNvPr>
          <p:cNvSpPr txBox="1">
            <a:spLocks noGrp="1"/>
          </p:cNvSpPr>
          <p:nvPr>
            <p:ph type="title"/>
          </p:nvPr>
        </p:nvSpPr>
        <p:spPr>
          <a:xfrm>
            <a:off x="685800" y="408883"/>
            <a:ext cx="10994410" cy="320601"/>
          </a:xfrm>
          <a:prstGeom prst="rect">
            <a:avLst/>
          </a:prstGeom>
        </p:spPr>
        <p:txBody>
          <a:bodyPr vert="horz" wrap="square" lIns="0" tIns="12700" rIns="0" bIns="0" rtlCol="0">
            <a:spAutoFit/>
          </a:bodyPr>
          <a:lstStyle/>
          <a:p>
            <a:pPr marL="12700" algn="just">
              <a:lnSpc>
                <a:spcPct val="100000"/>
              </a:lnSpc>
              <a:spcBef>
                <a:spcPts val="100"/>
              </a:spcBef>
            </a:pPr>
            <a:r>
              <a:rPr lang="en-US" dirty="0"/>
              <a:t>Learning outcome #2a – Notebook section 2. Layout Fundamentals – CELL Single RR</a:t>
            </a:r>
            <a:endParaRPr sz="2500" b="0" i="1" dirty="0">
              <a:solidFill>
                <a:srgbClr val="FF0000"/>
              </a:solidFill>
              <a:latin typeface="+mj-lt"/>
              <a:cs typeface="Lucida Sans"/>
            </a:endParaRPr>
          </a:p>
        </p:txBody>
      </p:sp>
      <p:pic>
        <p:nvPicPr>
          <p:cNvPr id="83" name="Gráfico 82">
            <a:extLst>
              <a:ext uri="{FF2B5EF4-FFF2-40B4-BE49-F238E27FC236}">
                <a16:creationId xmlns:a16="http://schemas.microsoft.com/office/drawing/2014/main" id="{09BBE011-78EA-8374-2BAD-7696D7B5499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56D1659F-7579-7EF8-5484-DF1807EC66F9}"/>
              </a:ext>
            </a:extLst>
          </p:cNvPr>
          <p:cNvSpPr>
            <a:spLocks noGrp="1"/>
          </p:cNvSpPr>
          <p:nvPr>
            <p:ph type="sldNum" sz="quarter" idx="7"/>
          </p:nvPr>
        </p:nvSpPr>
        <p:spPr/>
        <p:txBody>
          <a:bodyPr/>
          <a:lstStyle/>
          <a:p>
            <a:fld id="{B6F15528-21DE-4FAA-801E-634DDDAF4B2B}" type="slidenum">
              <a:rPr lang="es-ES" smtClean="0"/>
              <a:t>19</a:t>
            </a:fld>
            <a:endParaRPr lang="es-ES"/>
          </a:p>
        </p:txBody>
      </p:sp>
      <p:sp>
        <p:nvSpPr>
          <p:cNvPr id="3" name="Marcador de pie de página 2">
            <a:extLst>
              <a:ext uri="{FF2B5EF4-FFF2-40B4-BE49-F238E27FC236}">
                <a16:creationId xmlns:a16="http://schemas.microsoft.com/office/drawing/2014/main" id="{A1BDFB8A-9786-4776-F8D8-43F1885B6F84}"/>
              </a:ext>
            </a:extLst>
          </p:cNvPr>
          <p:cNvSpPr>
            <a:spLocks noGrp="1"/>
          </p:cNvSpPr>
          <p:nvPr>
            <p:ph type="ftr" sz="quarter" idx="5"/>
          </p:nvPr>
        </p:nvSpPr>
        <p:spPr/>
        <p:txBody>
          <a:bodyPr/>
          <a:lstStyle/>
          <a:p>
            <a:pPr marL="12700">
              <a:spcBef>
                <a:spcPts val="15"/>
              </a:spcBef>
            </a:pPr>
            <a:r>
              <a:rPr lang="es-ES" spc="-5"/>
              <a:t>LAB 4.0. LAYOUT</a:t>
            </a:r>
            <a:endParaRPr lang="es-ES" spc="-5" dirty="0"/>
          </a:p>
        </p:txBody>
      </p:sp>
      <p:pic>
        <p:nvPicPr>
          <p:cNvPr id="5" name="Imagen 4">
            <a:extLst>
              <a:ext uri="{FF2B5EF4-FFF2-40B4-BE49-F238E27FC236}">
                <a16:creationId xmlns:a16="http://schemas.microsoft.com/office/drawing/2014/main" id="{1CD9ED97-BBCA-E1BF-F8C9-29A2E944B933}"/>
              </a:ext>
            </a:extLst>
          </p:cNvPr>
          <p:cNvPicPr>
            <a:picLocks noChangeAspect="1"/>
          </p:cNvPicPr>
          <p:nvPr/>
        </p:nvPicPr>
        <p:blipFill>
          <a:blip r:embed="rId4"/>
          <a:stretch>
            <a:fillRect/>
          </a:stretch>
        </p:blipFill>
        <p:spPr>
          <a:xfrm>
            <a:off x="5181600" y="990600"/>
            <a:ext cx="6524010" cy="4924988"/>
          </a:xfrm>
          <a:prstGeom prst="rect">
            <a:avLst/>
          </a:prstGeom>
        </p:spPr>
      </p:pic>
      <p:pic>
        <p:nvPicPr>
          <p:cNvPr id="7" name="Imagen 6">
            <a:extLst>
              <a:ext uri="{FF2B5EF4-FFF2-40B4-BE49-F238E27FC236}">
                <a16:creationId xmlns:a16="http://schemas.microsoft.com/office/drawing/2014/main" id="{8260A34A-3CD6-CF67-1FD8-992F52E37265}"/>
              </a:ext>
            </a:extLst>
          </p:cNvPr>
          <p:cNvPicPr>
            <a:picLocks noChangeAspect="1"/>
          </p:cNvPicPr>
          <p:nvPr/>
        </p:nvPicPr>
        <p:blipFill>
          <a:blip r:embed="rId5"/>
          <a:stretch>
            <a:fillRect/>
          </a:stretch>
        </p:blipFill>
        <p:spPr>
          <a:xfrm>
            <a:off x="402346" y="1066800"/>
            <a:ext cx="4399990" cy="4835357"/>
          </a:xfrm>
          <a:prstGeom prst="rect">
            <a:avLst/>
          </a:prstGeom>
        </p:spPr>
      </p:pic>
    </p:spTree>
    <p:extLst>
      <p:ext uri="{BB962C8B-B14F-4D97-AF65-F5344CB8AC3E}">
        <p14:creationId xmlns:p14="http://schemas.microsoft.com/office/powerpoint/2010/main" val="33495020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8984F4-91F1-66FB-DAA3-D5C6C76138A9}"/>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C37B1732-F8BB-7679-74E7-99C4CE51D451}"/>
              </a:ext>
            </a:extLst>
          </p:cNvPr>
          <p:cNvSpPr txBox="1">
            <a:spLocks noGrp="1"/>
          </p:cNvSpPr>
          <p:nvPr>
            <p:ph type="title"/>
          </p:nvPr>
        </p:nvSpPr>
        <p:spPr>
          <a:xfrm>
            <a:off x="685800" y="408883"/>
            <a:ext cx="10994410" cy="320601"/>
          </a:xfrm>
          <a:prstGeom prst="rect">
            <a:avLst/>
          </a:prstGeom>
        </p:spPr>
        <p:txBody>
          <a:bodyPr vert="horz" wrap="square" lIns="0" tIns="12700" rIns="0" bIns="0" rtlCol="0">
            <a:spAutoFit/>
          </a:bodyPr>
          <a:lstStyle/>
          <a:p>
            <a:pPr marL="12700" algn="just">
              <a:lnSpc>
                <a:spcPct val="100000"/>
              </a:lnSpc>
              <a:spcBef>
                <a:spcPts val="100"/>
              </a:spcBef>
            </a:pPr>
            <a:r>
              <a:rPr lang="en-US" dirty="0"/>
              <a:t>Learning outcome #2a – Notebook section 2. Layout Fundamentals – CELL Double RR</a:t>
            </a:r>
            <a:endParaRPr sz="2500" b="0" i="1" dirty="0">
              <a:solidFill>
                <a:srgbClr val="FF0000"/>
              </a:solidFill>
              <a:latin typeface="+mj-lt"/>
              <a:cs typeface="Lucida Sans"/>
            </a:endParaRPr>
          </a:p>
        </p:txBody>
      </p:sp>
      <p:pic>
        <p:nvPicPr>
          <p:cNvPr id="83" name="Gráfico 82">
            <a:extLst>
              <a:ext uri="{FF2B5EF4-FFF2-40B4-BE49-F238E27FC236}">
                <a16:creationId xmlns:a16="http://schemas.microsoft.com/office/drawing/2014/main" id="{B882DB5F-E9CB-2536-8DF9-F5445284125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93DD3E5-83D4-8A77-2A57-54EB355D121F}"/>
              </a:ext>
            </a:extLst>
          </p:cNvPr>
          <p:cNvSpPr>
            <a:spLocks noGrp="1"/>
          </p:cNvSpPr>
          <p:nvPr>
            <p:ph type="sldNum" sz="quarter" idx="7"/>
          </p:nvPr>
        </p:nvSpPr>
        <p:spPr/>
        <p:txBody>
          <a:bodyPr/>
          <a:lstStyle/>
          <a:p>
            <a:fld id="{B6F15528-21DE-4FAA-801E-634DDDAF4B2B}" type="slidenum">
              <a:rPr lang="es-ES" smtClean="0"/>
              <a:t>20</a:t>
            </a:fld>
            <a:endParaRPr lang="es-ES"/>
          </a:p>
        </p:txBody>
      </p:sp>
      <p:sp>
        <p:nvSpPr>
          <p:cNvPr id="3" name="Marcador de pie de página 2">
            <a:extLst>
              <a:ext uri="{FF2B5EF4-FFF2-40B4-BE49-F238E27FC236}">
                <a16:creationId xmlns:a16="http://schemas.microsoft.com/office/drawing/2014/main" id="{09F6AE61-6F62-E7D2-0481-970D6BDBA7C0}"/>
              </a:ext>
            </a:extLst>
          </p:cNvPr>
          <p:cNvSpPr>
            <a:spLocks noGrp="1"/>
          </p:cNvSpPr>
          <p:nvPr>
            <p:ph type="ftr" sz="quarter" idx="5"/>
          </p:nvPr>
        </p:nvSpPr>
        <p:spPr/>
        <p:txBody>
          <a:bodyPr/>
          <a:lstStyle/>
          <a:p>
            <a:pPr marL="12700">
              <a:spcBef>
                <a:spcPts val="15"/>
              </a:spcBef>
            </a:pPr>
            <a:r>
              <a:rPr lang="es-ES" spc="-5"/>
              <a:t>LAB 4.0. LAYOUT</a:t>
            </a:r>
            <a:endParaRPr lang="es-ES" spc="-5" dirty="0"/>
          </a:p>
        </p:txBody>
      </p:sp>
      <p:pic>
        <p:nvPicPr>
          <p:cNvPr id="5" name="Imagen 4">
            <a:extLst>
              <a:ext uri="{FF2B5EF4-FFF2-40B4-BE49-F238E27FC236}">
                <a16:creationId xmlns:a16="http://schemas.microsoft.com/office/drawing/2014/main" id="{DAEC7C22-5581-0E01-FA56-182A8E4E5C42}"/>
              </a:ext>
            </a:extLst>
          </p:cNvPr>
          <p:cNvPicPr>
            <a:picLocks noChangeAspect="1"/>
          </p:cNvPicPr>
          <p:nvPr/>
        </p:nvPicPr>
        <p:blipFill>
          <a:blip r:embed="rId4"/>
          <a:stretch>
            <a:fillRect/>
          </a:stretch>
        </p:blipFill>
        <p:spPr>
          <a:xfrm>
            <a:off x="5329364" y="1086437"/>
            <a:ext cx="6429811" cy="4853877"/>
          </a:xfrm>
          <a:prstGeom prst="rect">
            <a:avLst/>
          </a:prstGeom>
        </p:spPr>
      </p:pic>
      <p:pic>
        <p:nvPicPr>
          <p:cNvPr id="7" name="Imagen 6">
            <a:extLst>
              <a:ext uri="{FF2B5EF4-FFF2-40B4-BE49-F238E27FC236}">
                <a16:creationId xmlns:a16="http://schemas.microsoft.com/office/drawing/2014/main" id="{39B91C36-83B1-FCBC-6417-3219C413E889}"/>
              </a:ext>
            </a:extLst>
          </p:cNvPr>
          <p:cNvPicPr>
            <a:picLocks noChangeAspect="1"/>
          </p:cNvPicPr>
          <p:nvPr/>
        </p:nvPicPr>
        <p:blipFill>
          <a:blip r:embed="rId5"/>
          <a:stretch>
            <a:fillRect/>
          </a:stretch>
        </p:blipFill>
        <p:spPr>
          <a:xfrm>
            <a:off x="448066" y="1086437"/>
            <a:ext cx="4504934" cy="4816251"/>
          </a:xfrm>
          <a:prstGeom prst="rect">
            <a:avLst/>
          </a:prstGeom>
        </p:spPr>
      </p:pic>
    </p:spTree>
    <p:extLst>
      <p:ext uri="{BB962C8B-B14F-4D97-AF65-F5344CB8AC3E}">
        <p14:creationId xmlns:p14="http://schemas.microsoft.com/office/powerpoint/2010/main" val="18858270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DC463A-FEB0-DAC2-C592-982AED782F72}"/>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D9825A0-3864-7B82-F4C0-6912BF1AE353}"/>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gn="l">
              <a:lnSpc>
                <a:spcPct val="100000"/>
              </a:lnSpc>
              <a:spcBef>
                <a:spcPts val="100"/>
              </a:spcBef>
            </a:pPr>
            <a:r>
              <a:rPr lang="en-US" sz="2500" dirty="0"/>
              <a:t>Learning outcome #3 – Notebook section 3. Complete layout</a:t>
            </a:r>
            <a:endParaRPr sz="2500" b="0" i="1" dirty="0">
              <a:latin typeface="+mj-lt"/>
              <a:cs typeface="Lucida Sans"/>
            </a:endParaRPr>
          </a:p>
        </p:txBody>
      </p:sp>
      <p:pic>
        <p:nvPicPr>
          <p:cNvPr id="83" name="Gráfico 82">
            <a:extLst>
              <a:ext uri="{FF2B5EF4-FFF2-40B4-BE49-F238E27FC236}">
                <a16:creationId xmlns:a16="http://schemas.microsoft.com/office/drawing/2014/main" id="{0DEB6AD1-A7A1-CBBC-33E2-C1A03F2E3EC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00F7002D-478B-4959-3169-5E518898EBC4}"/>
              </a:ext>
            </a:extLst>
          </p:cNvPr>
          <p:cNvSpPr>
            <a:spLocks noGrp="1"/>
          </p:cNvSpPr>
          <p:nvPr>
            <p:ph type="sldNum" sz="quarter" idx="7"/>
          </p:nvPr>
        </p:nvSpPr>
        <p:spPr/>
        <p:txBody>
          <a:bodyPr/>
          <a:lstStyle/>
          <a:p>
            <a:fld id="{B6F15528-21DE-4FAA-801E-634DDDAF4B2B}" type="slidenum">
              <a:rPr lang="es-ES" smtClean="0"/>
              <a:t>21</a:t>
            </a:fld>
            <a:endParaRPr lang="es-ES"/>
          </a:p>
        </p:txBody>
      </p:sp>
      <p:sp>
        <p:nvSpPr>
          <p:cNvPr id="3" name="Marcador de pie de página 2">
            <a:extLst>
              <a:ext uri="{FF2B5EF4-FFF2-40B4-BE49-F238E27FC236}">
                <a16:creationId xmlns:a16="http://schemas.microsoft.com/office/drawing/2014/main" id="{C305F97E-3B7E-8203-F806-FFA5E41962D7}"/>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2" name="CuadroTexto 1">
            <a:extLst>
              <a:ext uri="{FF2B5EF4-FFF2-40B4-BE49-F238E27FC236}">
                <a16:creationId xmlns:a16="http://schemas.microsoft.com/office/drawing/2014/main" id="{58187553-D412-F56C-DD26-11B2C97C2B31}"/>
              </a:ext>
            </a:extLst>
          </p:cNvPr>
          <p:cNvSpPr txBox="1"/>
          <p:nvPr/>
        </p:nvSpPr>
        <p:spPr>
          <a:xfrm>
            <a:off x="685800" y="990600"/>
            <a:ext cx="5410200" cy="5181600"/>
          </a:xfrm>
          <a:prstGeom prst="rect">
            <a:avLst/>
          </a:prstGeom>
          <a:solidFill>
            <a:schemeClr val="bg1">
              <a:lumMod val="95000"/>
            </a:schemeClr>
          </a:solidFill>
          <a:ln w="28575">
            <a:solidFill>
              <a:srgbClr val="E0700D"/>
            </a:solidFill>
          </a:ln>
        </p:spPr>
        <p:txBody>
          <a:bodyPr wrap="square" rtlCol="0">
            <a:noAutofit/>
          </a:bodyPr>
          <a:lstStyle/>
          <a:p>
            <a:pPr algn="just"/>
            <a:r>
              <a:rPr lang="en-US" sz="1200" dirty="0">
                <a:latin typeface="Arial" panose="020B0604020202020204" pitchFamily="34" charset="0"/>
                <a:cs typeface="Arial" panose="020B0604020202020204" pitchFamily="34" charset="0"/>
              </a:rPr>
              <a:t>Read and describe 4 code blocks in section 3</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Python code block 1: </a:t>
            </a:r>
          </a:p>
          <a:p>
            <a:pPr algn="just"/>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Python code block 2: </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Python code block 3: </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Python code block 4: </a:t>
            </a:r>
          </a:p>
          <a:p>
            <a:pPr algn="just"/>
            <a:endParaRPr lang="en-US" sz="1200" dirty="0">
              <a:latin typeface="Arial" panose="020B0604020202020204" pitchFamily="34" charset="0"/>
              <a:cs typeface="Arial" panose="020B0604020202020204" pitchFamily="34" charset="0"/>
            </a:endParaRPr>
          </a:p>
        </p:txBody>
      </p:sp>
      <p:sp>
        <p:nvSpPr>
          <p:cNvPr id="8" name="Rectángulo 7">
            <a:extLst>
              <a:ext uri="{FF2B5EF4-FFF2-40B4-BE49-F238E27FC236}">
                <a16:creationId xmlns:a16="http://schemas.microsoft.com/office/drawing/2014/main" id="{F4B67F4D-126C-4796-4E73-E68F0F3CB6B3}"/>
              </a:ext>
            </a:extLst>
          </p:cNvPr>
          <p:cNvSpPr/>
          <p:nvPr/>
        </p:nvSpPr>
        <p:spPr>
          <a:xfrm>
            <a:off x="6248400" y="990285"/>
            <a:ext cx="5638799" cy="51816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24F5FE71-3005-DD28-5A06-1330678AD855}"/>
              </a:ext>
            </a:extLst>
          </p:cNvPr>
          <p:cNvSpPr txBox="1"/>
          <p:nvPr/>
        </p:nvSpPr>
        <p:spPr>
          <a:xfrm>
            <a:off x="7663860" y="3105834"/>
            <a:ext cx="2807885" cy="646331"/>
          </a:xfrm>
          <a:prstGeom prst="rect">
            <a:avLst/>
          </a:prstGeom>
          <a:noFill/>
        </p:spPr>
        <p:txBody>
          <a:bodyPr wrap="none" rtlCol="0">
            <a:spAutoFit/>
          </a:bodyPr>
          <a:lstStyle/>
          <a:p>
            <a:pPr algn="ctr"/>
            <a:r>
              <a:rPr lang="es-ES" dirty="0"/>
              <a:t>Complete </a:t>
            </a:r>
            <a:r>
              <a:rPr lang="es-ES" dirty="0" err="1"/>
              <a:t>layout</a:t>
            </a:r>
            <a:r>
              <a:rPr lang="es-ES" dirty="0"/>
              <a:t> </a:t>
            </a:r>
            <a:r>
              <a:rPr lang="es-ES" dirty="0" err="1"/>
              <a:t>screenshot</a:t>
            </a:r>
            <a:endParaRPr lang="es-ES" dirty="0"/>
          </a:p>
          <a:p>
            <a:pPr algn="ctr"/>
            <a:r>
              <a:rPr lang="es-ES" dirty="0"/>
              <a:t> </a:t>
            </a:r>
            <a:r>
              <a:rPr lang="es-ES" dirty="0" err="1"/>
              <a:t>screenshot</a:t>
            </a:r>
            <a:endParaRPr lang="en-US" dirty="0"/>
          </a:p>
        </p:txBody>
      </p:sp>
    </p:spTree>
    <p:extLst>
      <p:ext uri="{BB962C8B-B14F-4D97-AF65-F5344CB8AC3E}">
        <p14:creationId xmlns:p14="http://schemas.microsoft.com/office/powerpoint/2010/main" val="31908115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405E21-5FD5-9BED-0B20-38C67C0E1EEC}"/>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E2A3C535-B7D4-134E-7CE4-69172F54CFB2}"/>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gn="l">
              <a:lnSpc>
                <a:spcPct val="100000"/>
              </a:lnSpc>
              <a:spcBef>
                <a:spcPts val="100"/>
              </a:spcBef>
            </a:pPr>
            <a:r>
              <a:rPr lang="en-US" sz="2500" dirty="0"/>
              <a:t>Learning outcome #3 – Notebook section 3. Complete layout</a:t>
            </a:r>
            <a:endParaRPr sz="2500" b="0" i="1" dirty="0">
              <a:latin typeface="+mj-lt"/>
              <a:cs typeface="Lucida Sans"/>
            </a:endParaRPr>
          </a:p>
        </p:txBody>
      </p:sp>
      <p:pic>
        <p:nvPicPr>
          <p:cNvPr id="83" name="Gráfico 82">
            <a:extLst>
              <a:ext uri="{FF2B5EF4-FFF2-40B4-BE49-F238E27FC236}">
                <a16:creationId xmlns:a16="http://schemas.microsoft.com/office/drawing/2014/main" id="{F90D7322-7655-898D-1B29-D53F7E450E1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5F3E6827-1C54-E99C-CCA5-E4C11A15F658}"/>
              </a:ext>
            </a:extLst>
          </p:cNvPr>
          <p:cNvSpPr>
            <a:spLocks noGrp="1"/>
          </p:cNvSpPr>
          <p:nvPr>
            <p:ph type="sldNum" sz="quarter" idx="7"/>
          </p:nvPr>
        </p:nvSpPr>
        <p:spPr/>
        <p:txBody>
          <a:bodyPr/>
          <a:lstStyle/>
          <a:p>
            <a:fld id="{B6F15528-21DE-4FAA-801E-634DDDAF4B2B}" type="slidenum">
              <a:rPr lang="es-ES" smtClean="0"/>
              <a:t>22</a:t>
            </a:fld>
            <a:endParaRPr lang="es-ES"/>
          </a:p>
        </p:txBody>
      </p:sp>
      <p:sp>
        <p:nvSpPr>
          <p:cNvPr id="3" name="Marcador de pie de página 2">
            <a:extLst>
              <a:ext uri="{FF2B5EF4-FFF2-40B4-BE49-F238E27FC236}">
                <a16:creationId xmlns:a16="http://schemas.microsoft.com/office/drawing/2014/main" id="{73DEF299-1A93-DC3D-C5B6-6F70693ECD4D}"/>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2" name="CuadroTexto 1">
            <a:extLst>
              <a:ext uri="{FF2B5EF4-FFF2-40B4-BE49-F238E27FC236}">
                <a16:creationId xmlns:a16="http://schemas.microsoft.com/office/drawing/2014/main" id="{8A102460-609D-D6A3-E5EC-4D89C71A11C3}"/>
              </a:ext>
            </a:extLst>
          </p:cNvPr>
          <p:cNvSpPr txBox="1"/>
          <p:nvPr/>
        </p:nvSpPr>
        <p:spPr>
          <a:xfrm>
            <a:off x="685800" y="990600"/>
            <a:ext cx="5410200" cy="5181600"/>
          </a:xfrm>
          <a:prstGeom prst="rect">
            <a:avLst/>
          </a:prstGeom>
          <a:solidFill>
            <a:schemeClr val="bg1">
              <a:lumMod val="95000"/>
            </a:schemeClr>
          </a:solidFill>
          <a:ln w="28575">
            <a:solidFill>
              <a:srgbClr val="E0700D"/>
            </a:solidFill>
          </a:ln>
        </p:spPr>
        <p:txBody>
          <a:bodyPr wrap="square" rtlCol="0">
            <a:noAutofit/>
          </a:bodyPr>
          <a:lstStyle/>
          <a:p>
            <a:pPr algn="just"/>
            <a:r>
              <a:rPr lang="en-US" sz="1200" dirty="0">
                <a:latin typeface="Arial" panose="020B0604020202020204" pitchFamily="34" charset="0"/>
                <a:cs typeface="Arial" panose="020B0604020202020204" pitchFamily="34" charset="0"/>
              </a:rPr>
              <a:t>Read and describe 4 code blocks in section 3</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Python code block 1: </a:t>
            </a:r>
          </a:p>
          <a:p>
            <a:pPr algn="just"/>
            <a:r>
              <a:rPr lang="en-US" sz="1200" dirty="0">
                <a:latin typeface="Arial" panose="020B0604020202020204" pitchFamily="34" charset="0"/>
                <a:cs typeface="Arial" panose="020B0604020202020204" pitchFamily="34" charset="0"/>
              </a:rPr>
              <a:t>Define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área</a:t>
            </a:r>
            <a:r>
              <a:rPr lang="en-US" sz="1200" dirty="0">
                <a:latin typeface="Arial" panose="020B0604020202020204" pitchFamily="34" charset="0"/>
                <a:cs typeface="Arial" panose="020B0604020202020204" pitchFamily="34" charset="0"/>
              </a:rPr>
              <a:t> del chip (FLOORPLAN) e </a:t>
            </a:r>
            <a:r>
              <a:rPr lang="en-US" sz="1200" dirty="0" err="1">
                <a:latin typeface="Arial" panose="020B0604020202020204" pitchFamily="34" charset="0"/>
                <a:cs typeface="Arial" panose="020B0604020202020204" pitchFamily="34" charset="0"/>
              </a:rPr>
              <a:t>instancia</a:t>
            </a:r>
            <a:r>
              <a:rPr lang="en-US" sz="1200" dirty="0">
                <a:latin typeface="Arial" panose="020B0604020202020204" pitchFamily="34" charset="0"/>
                <a:cs typeface="Arial" panose="020B0604020202020204" pitchFamily="34" charset="0"/>
              </a:rPr>
              <a:t> un divisor MMI 1x2 central. </a:t>
            </a:r>
            <a:r>
              <a:rPr lang="en-US" sz="1200" dirty="0" err="1">
                <a:latin typeface="Arial" panose="020B0604020202020204" pitchFamily="34" charset="0"/>
                <a:cs typeface="Arial" panose="020B0604020202020204" pitchFamily="34" charset="0"/>
              </a:rPr>
              <a:t>Utiliza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guías</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onda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rectas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como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interfaz</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borde</a:t>
            </a:r>
            <a:r>
              <a:rPr lang="en-US" sz="1200" dirty="0">
                <a:latin typeface="Arial" panose="020B0604020202020204" pitchFamily="34" charset="0"/>
                <a:cs typeface="Arial" panose="020B0604020202020204" pitchFamily="34" charset="0"/>
              </a:rPr>
              <a:t> y las </a:t>
            </a:r>
            <a:r>
              <a:rPr lang="en-US" sz="1200" dirty="0" err="1">
                <a:latin typeface="Arial" panose="020B0604020202020204" pitchFamily="34" charset="0"/>
                <a:cs typeface="Arial" panose="020B0604020202020204" pitchFamily="34" charset="0"/>
              </a:rPr>
              <a:t>conecta</a:t>
            </a:r>
            <a:r>
              <a:rPr lang="en-US" sz="1200" dirty="0">
                <a:latin typeface="Arial" panose="020B0604020202020204" pitchFamily="34" charset="0"/>
                <a:cs typeface="Arial" panose="020B0604020202020204" pitchFamily="34" charset="0"/>
              </a:rPr>
              <a:t> al MMI </a:t>
            </a:r>
            <a:r>
              <a:rPr lang="en-US" sz="1200" dirty="0" err="1">
                <a:latin typeface="Arial" panose="020B0604020202020204" pitchFamily="34" charset="0"/>
                <a:cs typeface="Arial" panose="020B0604020202020204" pitchFamily="34" charset="0"/>
              </a:rPr>
              <a:t>mediante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guías</a:t>
            </a:r>
            <a:r>
              <a:rPr lang="en-US" sz="1200" dirty="0">
                <a:latin typeface="Arial" panose="020B0604020202020204" pitchFamily="34" charset="0"/>
                <a:cs typeface="Arial" panose="020B0604020202020204" pitchFamily="34" charset="0"/>
              </a:rPr>
              <a:t> curvas (</a:t>
            </a:r>
            <a:r>
              <a:rPr lang="en-US" sz="1200" dirty="0" err="1">
                <a:latin typeface="Arial" panose="020B0604020202020204" pitchFamily="34" charset="0"/>
                <a:cs typeface="Arial" panose="020B0604020202020204" pitchFamily="34" charset="0"/>
              </a:rPr>
              <a:t>sbends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validando</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integridad</a:t>
            </a:r>
            <a:r>
              <a:rPr lang="en-US" sz="1200" dirty="0">
                <a:latin typeface="Arial" panose="020B0604020202020204" pitchFamily="34" charset="0"/>
                <a:cs typeface="Arial" panose="020B0604020202020204" pitchFamily="34" charset="0"/>
              </a:rPr>
              <a:t> del </a:t>
            </a:r>
            <a:r>
              <a:rPr lang="en-US" sz="1200" dirty="0" err="1">
                <a:latin typeface="Arial" panose="020B0604020202020204" pitchFamily="34" charset="0"/>
                <a:cs typeface="Arial" panose="020B0604020202020204" pitchFamily="34" charset="0"/>
              </a:rPr>
              <a:t>diseño</a:t>
            </a:r>
            <a:r>
              <a:rPr lang="en-US" sz="1200" dirty="0">
                <a:latin typeface="Arial" panose="020B0604020202020204" pitchFamily="34" charset="0"/>
                <a:cs typeface="Arial" panose="020B0604020202020204" pitchFamily="34" charset="0"/>
              </a:rPr>
              <a:t>.</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Python code block 2: </a:t>
            </a:r>
          </a:p>
          <a:p>
            <a:pPr algn="just"/>
            <a:r>
              <a:rPr lang="en-US" sz="1200" dirty="0" err="1">
                <a:latin typeface="Arial" panose="020B0604020202020204" pitchFamily="34" charset="0"/>
                <a:cs typeface="Arial" panose="020B0604020202020204" pitchFamily="34" charset="0"/>
              </a:rPr>
              <a:t>Encapsula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tres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divisores</a:t>
            </a:r>
            <a:r>
              <a:rPr lang="en-US" sz="1200" dirty="0">
                <a:latin typeface="Arial" panose="020B0604020202020204" pitchFamily="34" charset="0"/>
                <a:cs typeface="Arial" panose="020B0604020202020204" pitchFamily="34" charset="0"/>
              </a:rPr>
              <a:t> MMI 1x2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una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única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celda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funcional</a:t>
            </a:r>
            <a:r>
              <a:rPr lang="en-US" sz="1200" dirty="0">
                <a:latin typeface="Arial" panose="020B0604020202020204" pitchFamily="34" charset="0"/>
                <a:cs typeface="Arial" panose="020B0604020202020204" pitchFamily="34" charset="0"/>
              </a:rPr>
              <a:t>. Define la </a:t>
            </a:r>
            <a:r>
              <a:rPr lang="en-US" sz="1200" dirty="0" err="1">
                <a:latin typeface="Arial" panose="020B0604020202020204" pitchFamily="34" charset="0"/>
                <a:cs typeface="Arial" panose="020B0604020202020204" pitchFamily="34" charset="0"/>
              </a:rPr>
              <a:t>topología</a:t>
            </a:r>
            <a:r>
              <a:rPr lang="en-US" sz="1200" dirty="0">
                <a:latin typeface="Arial" panose="020B0604020202020204" pitchFamily="34" charset="0"/>
                <a:cs typeface="Arial" panose="020B0604020202020204" pitchFamily="34" charset="0"/>
              </a:rPr>
              <a:t> de árbol </a:t>
            </a:r>
            <a:r>
              <a:rPr lang="en-US" sz="1200" dirty="0" err="1">
                <a:latin typeface="Arial" panose="020B0604020202020204" pitchFamily="34" charset="0"/>
                <a:cs typeface="Arial" panose="020B0604020202020204" pitchFamily="34" charset="0"/>
              </a:rPr>
              <a:t>mediante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enrutamiento</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guías</a:t>
            </a:r>
            <a:r>
              <a:rPr lang="en-US" sz="1200" dirty="0">
                <a:latin typeface="Arial" panose="020B0604020202020204" pitchFamily="34" charset="0"/>
                <a:cs typeface="Arial" panose="020B0604020202020204" pitchFamily="34" charset="0"/>
              </a:rPr>
              <a:t> curvas, </a:t>
            </a:r>
            <a:r>
              <a:rPr lang="en-US" sz="1200" dirty="0" err="1">
                <a:latin typeface="Arial" panose="020B0604020202020204" pitchFamily="34" charset="0"/>
                <a:cs typeface="Arial" panose="020B0604020202020204" pitchFamily="34" charset="0"/>
              </a:rPr>
              <a:t>consolidando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puertos</a:t>
            </a:r>
            <a:r>
              <a:rPr lang="en-US" sz="1200" dirty="0">
                <a:latin typeface="Arial" panose="020B0604020202020204" pitchFamily="34" charset="0"/>
                <a:cs typeface="Arial" panose="020B0604020202020204" pitchFamily="34" charset="0"/>
              </a:rPr>
              <a:t> de entrada/</a:t>
            </a:r>
            <a:r>
              <a:rPr lang="en-US" sz="1200" dirty="0" err="1">
                <a:latin typeface="Arial" panose="020B0604020202020204" pitchFamily="34" charset="0"/>
                <a:cs typeface="Arial" panose="020B0604020202020204" pitchFamily="34" charset="0"/>
              </a:rPr>
              <a:t>salida</a:t>
            </a:r>
            <a:r>
              <a:rPr lang="en-US" sz="1200" dirty="0">
                <a:latin typeface="Arial" panose="020B0604020202020204" pitchFamily="34" charset="0"/>
                <a:cs typeface="Arial" panose="020B0604020202020204" pitchFamily="34" charset="0"/>
              </a:rPr>
              <a:t> para </a:t>
            </a:r>
            <a:r>
              <a:rPr lang="en-US" sz="1200" dirty="0" err="1">
                <a:latin typeface="Arial" panose="020B0604020202020204" pitchFamily="34" charset="0"/>
                <a:cs typeface="Arial" panose="020B0604020202020204" pitchFamily="34" charset="0"/>
              </a:rPr>
              <a:t>crear</a:t>
            </a:r>
            <a:r>
              <a:rPr lang="en-US" sz="1200" dirty="0">
                <a:latin typeface="Arial" panose="020B0604020202020204" pitchFamily="34" charset="0"/>
                <a:cs typeface="Arial" panose="020B0604020202020204" pitchFamily="34" charset="0"/>
              </a:rPr>
              <a:t> un </a:t>
            </a:r>
            <a:r>
              <a:rPr lang="en-US" sz="1200" dirty="0" err="1">
                <a:latin typeface="Arial" panose="020B0604020202020204" pitchFamily="34" charset="0"/>
                <a:cs typeface="Arial" panose="020B0604020202020204" pitchFamily="34" charset="0"/>
              </a:rPr>
              <a:t>componenete</a:t>
            </a:r>
            <a:r>
              <a:rPr lang="en-US" sz="1200" dirty="0">
                <a:latin typeface="Arial" panose="020B0604020202020204" pitchFamily="34" charset="0"/>
                <a:cs typeface="Arial" panose="020B0604020202020204" pitchFamily="34" charset="0"/>
              </a:rPr>
              <a:t> de alto </a:t>
            </a:r>
            <a:r>
              <a:rPr lang="en-US" sz="1200" dirty="0" err="1">
                <a:latin typeface="Arial" panose="020B0604020202020204" pitchFamily="34" charset="0"/>
                <a:cs typeface="Arial" panose="020B0604020202020204" pitchFamily="34" charset="0"/>
              </a:rPr>
              <a:t>nivel</a:t>
            </a:r>
            <a:r>
              <a:rPr lang="en-US" sz="1200" dirty="0">
                <a:latin typeface="Arial" panose="020B0604020202020204" pitchFamily="34" charset="0"/>
                <a:cs typeface="Arial" panose="020B0604020202020204" pitchFamily="34" charset="0"/>
              </a:rPr>
              <a:t>.</a:t>
            </a: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Python code block 3: </a:t>
            </a:r>
          </a:p>
          <a:p>
            <a:pPr algn="just"/>
            <a:r>
              <a:rPr lang="en-US" sz="1200" dirty="0">
                <a:latin typeface="Arial" panose="020B0604020202020204" pitchFamily="34" charset="0"/>
                <a:cs typeface="Arial" panose="020B0604020202020204" pitchFamily="34" charset="0"/>
              </a:rPr>
              <a:t>Integra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árbol MMI 1x4 </a:t>
            </a:r>
            <a:r>
              <a:rPr lang="en-US" sz="1200" dirty="0" err="1">
                <a:latin typeface="Arial" panose="020B0604020202020204" pitchFamily="34" charset="0"/>
                <a:cs typeface="Arial" panose="020B0604020202020204" pitchFamily="34" charset="0"/>
              </a:rPr>
              <a:t>recién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definido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en</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layout principal. Esta </a:t>
            </a:r>
            <a:r>
              <a:rPr lang="en-US" sz="1200" dirty="0" err="1">
                <a:latin typeface="Arial" panose="020B0604020202020204" pitchFamily="34" charset="0"/>
                <a:cs typeface="Arial" panose="020B0604020202020204" pitchFamily="34" charset="0"/>
              </a:rPr>
              <a:t>etapa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demuestra</a:t>
            </a:r>
            <a:r>
              <a:rPr lang="en-US" sz="1200" dirty="0">
                <a:latin typeface="Arial" panose="020B0604020202020204" pitchFamily="34" charset="0"/>
                <a:cs typeface="Arial" panose="020B0604020202020204" pitchFamily="34" charset="0"/>
              </a:rPr>
              <a:t> la </a:t>
            </a:r>
            <a:r>
              <a:rPr lang="en-US" sz="1200" dirty="0" err="1">
                <a:latin typeface="Arial" panose="020B0604020202020204" pitchFamily="34" charset="0"/>
                <a:cs typeface="Arial" panose="020B0604020202020204" pitchFamily="34" charset="0"/>
              </a:rPr>
              <a:t>modularidad</a:t>
            </a:r>
            <a:r>
              <a:rPr lang="en-US" sz="1200" dirty="0">
                <a:latin typeface="Arial" panose="020B0604020202020204" pitchFamily="34" charset="0"/>
                <a:cs typeface="Arial" panose="020B0604020202020204" pitchFamily="34" charset="0"/>
              </a:rPr>
              <a:t> del </a:t>
            </a:r>
            <a:r>
              <a:rPr lang="en-US" sz="1200" dirty="0" err="1">
                <a:latin typeface="Arial" panose="020B0604020202020204" pitchFamily="34" charset="0"/>
                <a:cs typeface="Arial" panose="020B0604020202020204" pitchFamily="34" charset="0"/>
              </a:rPr>
              <a:t>diseño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permitiendo</a:t>
            </a:r>
            <a:r>
              <a:rPr lang="en-US" sz="1200" dirty="0">
                <a:latin typeface="Arial" panose="020B0604020202020204" pitchFamily="34" charset="0"/>
                <a:cs typeface="Arial" panose="020B0604020202020204" pitchFamily="34" charset="0"/>
              </a:rPr>
              <a:t> importer components </a:t>
            </a:r>
            <a:r>
              <a:rPr lang="en-US" sz="1200" dirty="0" err="1">
                <a:latin typeface="Arial" panose="020B0604020202020204" pitchFamily="34" charset="0"/>
                <a:cs typeface="Arial" panose="020B0604020202020204" pitchFamily="34" charset="0"/>
              </a:rPr>
              <a:t>complejos</a:t>
            </a:r>
            <a:r>
              <a:rPr lang="en-US" sz="1200" dirty="0">
                <a:latin typeface="Arial" panose="020B0604020202020204" pitchFamily="34" charset="0"/>
                <a:cs typeface="Arial" panose="020B0604020202020204" pitchFamily="34" charset="0"/>
              </a:rPr>
              <a:t> con </a:t>
            </a:r>
            <a:r>
              <a:rPr lang="en-US" sz="1200" dirty="0" err="1">
                <a:latin typeface="Arial" panose="020B0604020202020204" pitchFamily="34" charset="0"/>
                <a:cs typeface="Arial" panose="020B0604020202020204" pitchFamily="34" charset="0"/>
              </a:rPr>
              <a:t>una</a:t>
            </a:r>
            <a:r>
              <a:rPr lang="en-US" sz="1200" dirty="0">
                <a:latin typeface="Arial" panose="020B0604020202020204" pitchFamily="34" charset="0"/>
                <a:cs typeface="Arial" panose="020B0604020202020204" pitchFamily="34" charset="0"/>
              </a:rPr>
              <a:t> sola </a:t>
            </a:r>
            <a:r>
              <a:rPr lang="en-US" sz="1200" dirty="0" err="1">
                <a:latin typeface="Arial" panose="020B0604020202020204" pitchFamily="34" charset="0"/>
                <a:cs typeface="Arial" panose="020B0604020202020204" pitchFamily="34" charset="0"/>
              </a:rPr>
              <a:t>línea</a:t>
            </a:r>
            <a:r>
              <a:rPr lang="en-US" sz="1200" dirty="0">
                <a:latin typeface="Arial" panose="020B0604020202020204" pitchFamily="34" charset="0"/>
                <a:cs typeface="Arial" panose="020B0604020202020204" pitchFamily="34" charset="0"/>
              </a:rPr>
              <a:t> de Código </a:t>
            </a:r>
            <a:r>
              <a:rPr lang="en-US" sz="1200" dirty="0" err="1">
                <a:latin typeface="Arial" panose="020B0604020202020204" pitchFamily="34" charset="0"/>
                <a:cs typeface="Arial" panose="020B0604020202020204" pitchFamily="34" charset="0"/>
              </a:rPr>
              <a:t>tras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su</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creación</a:t>
            </a:r>
            <a:endParaRPr lang="en-US" sz="1200" dirty="0">
              <a:latin typeface="Arial" panose="020B0604020202020204" pitchFamily="34" charset="0"/>
              <a:cs typeface="Arial" panose="020B0604020202020204" pitchFamily="34" charset="0"/>
            </a:endParaRPr>
          </a:p>
          <a:p>
            <a:pPr algn="just"/>
            <a:endParaRPr lang="en-US" sz="1200" dirty="0">
              <a:latin typeface="Arial" panose="020B0604020202020204" pitchFamily="34" charset="0"/>
              <a:cs typeface="Arial" panose="020B0604020202020204" pitchFamily="34" charset="0"/>
            </a:endParaRPr>
          </a:p>
          <a:p>
            <a:pPr algn="just"/>
            <a:r>
              <a:rPr lang="en-US" sz="1200" dirty="0">
                <a:latin typeface="Arial" panose="020B0604020202020204" pitchFamily="34" charset="0"/>
                <a:cs typeface="Arial" panose="020B0604020202020204" pitchFamily="34" charset="0"/>
              </a:rPr>
              <a:t>Python code block 4: </a:t>
            </a:r>
          </a:p>
          <a:p>
            <a:pPr algn="just"/>
            <a:r>
              <a:rPr lang="en-US" sz="1200" dirty="0" err="1">
                <a:latin typeface="Arial" panose="020B0604020202020204" pitchFamily="34" charset="0"/>
                <a:cs typeface="Arial" panose="020B0604020202020204" pitchFamily="34" charset="0"/>
              </a:rPr>
              <a:t>Finaliza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diseño</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creando</a:t>
            </a:r>
            <a:r>
              <a:rPr lang="en-US" sz="1200" dirty="0">
                <a:latin typeface="Arial" panose="020B0604020202020204" pitchFamily="34" charset="0"/>
                <a:cs typeface="Arial" panose="020B0604020202020204" pitchFamily="34" charset="0"/>
              </a:rPr>
              <a:t> arrays de </a:t>
            </a:r>
            <a:r>
              <a:rPr lang="en-US" sz="1200" dirty="0" err="1">
                <a:latin typeface="Arial" panose="020B0604020202020204" pitchFamily="34" charset="0"/>
                <a:cs typeface="Arial" panose="020B0604020202020204" pitchFamily="34" charset="0"/>
              </a:rPr>
              <a:t>guías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rectas</a:t>
            </a:r>
            <a:r>
              <a:rPr lang="en-US" sz="1200" dirty="0">
                <a:latin typeface="Arial" panose="020B0604020202020204" pitchFamily="34" charset="0"/>
                <a:cs typeface="Arial" panose="020B0604020202020204" pitchFamily="34" charset="0"/>
              </a:rPr>
              <a:t> para entrada y </a:t>
            </a:r>
            <a:r>
              <a:rPr lang="en-US" sz="1200" dirty="0" err="1">
                <a:latin typeface="Arial" panose="020B0604020202020204" pitchFamily="34" charset="0"/>
                <a:cs typeface="Arial" panose="020B0604020202020204" pitchFamily="34" charset="0"/>
              </a:rPr>
              <a:t>salida</a:t>
            </a:r>
            <a:r>
              <a:rPr lang="en-US" sz="1200" dirty="0">
                <a:latin typeface="Arial" panose="020B0604020202020204" pitchFamily="34" charset="0"/>
                <a:cs typeface="Arial" panose="020B0604020202020204" pitchFamily="34" charset="0"/>
              </a:rPr>
              <a:t>. Alinea </a:t>
            </a:r>
            <a:r>
              <a:rPr lang="en-US" sz="1200" dirty="0" err="1">
                <a:latin typeface="Arial" panose="020B0604020202020204" pitchFamily="34" charset="0"/>
                <a:cs typeface="Arial" panose="020B0604020202020204" pitchFamily="34" charset="0"/>
              </a:rPr>
              <a:t>el</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árbl</a:t>
            </a:r>
            <a:r>
              <a:rPr lang="en-US" sz="1200" dirty="0">
                <a:latin typeface="Arial" panose="020B0604020202020204" pitchFamily="34" charset="0"/>
                <a:cs typeface="Arial" panose="020B0604020202020204" pitchFamily="34" charset="0"/>
              </a:rPr>
              <a:t> MMI 1x4 </a:t>
            </a:r>
            <a:r>
              <a:rPr lang="en-US" sz="1200" dirty="0" err="1">
                <a:latin typeface="Arial" panose="020B0604020202020204" pitchFamily="34" charset="0"/>
                <a:cs typeface="Arial" panose="020B0604020202020204" pitchFamily="34" charset="0"/>
              </a:rPr>
              <a:t>centralmente</a:t>
            </a:r>
            <a:r>
              <a:rPr lang="en-US" sz="1200" dirty="0">
                <a:latin typeface="Arial" panose="020B0604020202020204" pitchFamily="34" charset="0"/>
                <a:cs typeface="Arial" panose="020B0604020202020204" pitchFamily="34" charset="0"/>
              </a:rPr>
              <a:t> y </a:t>
            </a:r>
            <a:r>
              <a:rPr lang="en-US" sz="1200" dirty="0" err="1">
                <a:latin typeface="Arial" panose="020B0604020202020204" pitchFamily="34" charset="0"/>
                <a:cs typeface="Arial" panose="020B0604020202020204" pitchFamily="34" charset="0"/>
              </a:rPr>
              <a:t>conecta</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automáticamente</a:t>
            </a:r>
            <a:r>
              <a:rPr lang="en-US" sz="1200" dirty="0">
                <a:latin typeface="Arial" panose="020B0604020202020204" pitchFamily="34" charset="0"/>
                <a:cs typeface="Arial" panose="020B0604020202020204" pitchFamily="34" charset="0"/>
              </a:rPr>
              <a:t> de </a:t>
            </a:r>
            <a:r>
              <a:rPr lang="en-US" sz="1200" dirty="0" err="1">
                <a:latin typeface="Arial" panose="020B0604020202020204" pitchFamily="34" charset="0"/>
                <a:cs typeface="Arial" panose="020B0604020202020204" pitchFamily="34" charset="0"/>
              </a:rPr>
              <a:t>todos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los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puertos</a:t>
            </a:r>
            <a:r>
              <a:rPr lang="en-US" sz="1200" dirty="0">
                <a:latin typeface="Arial" panose="020B0604020202020204" pitchFamily="34" charset="0"/>
                <a:cs typeface="Arial" panose="020B0604020202020204" pitchFamily="34" charset="0"/>
              </a:rPr>
              <a:t> del Sistema </a:t>
            </a:r>
            <a:r>
              <a:rPr lang="en-US" sz="1200" dirty="0" err="1">
                <a:latin typeface="Arial" panose="020B0604020202020204" pitchFamily="34" charset="0"/>
                <a:cs typeface="Arial" panose="020B0604020202020204" pitchFamily="34" charset="0"/>
              </a:rPr>
              <a:t>mediante</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sbends</a:t>
            </a:r>
            <a:r>
              <a:rPr lang="en-US" sz="12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completando</a:t>
            </a:r>
            <a:r>
              <a:rPr lang="en-US" sz="1200" dirty="0">
                <a:latin typeface="Arial" panose="020B0604020202020204" pitchFamily="34" charset="0"/>
                <a:cs typeface="Arial" panose="020B0604020202020204" pitchFamily="34" charset="0"/>
              </a:rPr>
              <a:t> la red </a:t>
            </a:r>
            <a:r>
              <a:rPr lang="en-US" sz="1200" dirty="0" err="1">
                <a:latin typeface="Arial" panose="020B0604020202020204" pitchFamily="34" charset="0"/>
                <a:cs typeface="Arial" panose="020B0604020202020204" pitchFamily="34" charset="0"/>
              </a:rPr>
              <a:t>óptica</a:t>
            </a:r>
            <a:r>
              <a:rPr lang="en-US" sz="1200" dirty="0">
                <a:latin typeface="Arial" panose="020B0604020202020204" pitchFamily="34" charset="0"/>
                <a:cs typeface="Arial" panose="020B0604020202020204" pitchFamily="34" charset="0"/>
              </a:rPr>
              <a:t> del chip</a:t>
            </a:r>
          </a:p>
        </p:txBody>
      </p:sp>
      <p:pic>
        <p:nvPicPr>
          <p:cNvPr id="5" name="Imagen 4">
            <a:extLst>
              <a:ext uri="{FF2B5EF4-FFF2-40B4-BE49-F238E27FC236}">
                <a16:creationId xmlns:a16="http://schemas.microsoft.com/office/drawing/2014/main" id="{AD115DA7-847C-718D-38DF-85502A886AA6}"/>
              </a:ext>
            </a:extLst>
          </p:cNvPr>
          <p:cNvPicPr>
            <a:picLocks noChangeAspect="1"/>
          </p:cNvPicPr>
          <p:nvPr/>
        </p:nvPicPr>
        <p:blipFill>
          <a:blip r:embed="rId4"/>
          <a:stretch>
            <a:fillRect/>
          </a:stretch>
        </p:blipFill>
        <p:spPr>
          <a:xfrm>
            <a:off x="6324600" y="1447800"/>
            <a:ext cx="5652655" cy="4267200"/>
          </a:xfrm>
          <a:prstGeom prst="rect">
            <a:avLst/>
          </a:prstGeom>
        </p:spPr>
      </p:pic>
    </p:spTree>
    <p:extLst>
      <p:ext uri="{BB962C8B-B14F-4D97-AF65-F5344CB8AC3E}">
        <p14:creationId xmlns:p14="http://schemas.microsoft.com/office/powerpoint/2010/main" val="2515594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9787F0-CB2C-2FE5-5614-A0F16A628E7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02B708D-0704-5977-EC6F-88CF05CBBE8F}"/>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gn="l">
              <a:lnSpc>
                <a:spcPct val="100000"/>
              </a:lnSpc>
              <a:spcBef>
                <a:spcPts val="100"/>
              </a:spcBef>
            </a:pPr>
            <a:r>
              <a:rPr lang="en-US" sz="2500" dirty="0"/>
              <a:t>Learning outcome #4 – Notebook section 4. Exercises – 1 slide per bullet point</a:t>
            </a:r>
            <a:endParaRPr sz="2500" b="0" i="1" dirty="0">
              <a:latin typeface="+mj-lt"/>
              <a:cs typeface="Lucida Sans"/>
            </a:endParaRPr>
          </a:p>
        </p:txBody>
      </p:sp>
      <p:pic>
        <p:nvPicPr>
          <p:cNvPr id="83" name="Gráfico 82">
            <a:extLst>
              <a:ext uri="{FF2B5EF4-FFF2-40B4-BE49-F238E27FC236}">
                <a16:creationId xmlns:a16="http://schemas.microsoft.com/office/drawing/2014/main" id="{25386122-0096-23D3-AB3A-550FBF0A314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713FD8D6-DEAF-544C-DE8A-FEED1CFD257F}"/>
              </a:ext>
            </a:extLst>
          </p:cNvPr>
          <p:cNvSpPr>
            <a:spLocks noGrp="1"/>
          </p:cNvSpPr>
          <p:nvPr>
            <p:ph type="sldNum" sz="quarter" idx="7"/>
          </p:nvPr>
        </p:nvSpPr>
        <p:spPr/>
        <p:txBody>
          <a:bodyPr/>
          <a:lstStyle/>
          <a:p>
            <a:fld id="{B6F15528-21DE-4FAA-801E-634DDDAF4B2B}" type="slidenum">
              <a:rPr lang="es-ES" smtClean="0"/>
              <a:t>23</a:t>
            </a:fld>
            <a:endParaRPr lang="es-ES"/>
          </a:p>
        </p:txBody>
      </p:sp>
      <p:sp>
        <p:nvSpPr>
          <p:cNvPr id="3" name="Marcador de pie de página 2">
            <a:extLst>
              <a:ext uri="{FF2B5EF4-FFF2-40B4-BE49-F238E27FC236}">
                <a16:creationId xmlns:a16="http://schemas.microsoft.com/office/drawing/2014/main" id="{30B40145-CD7B-EB6E-E37D-B6E973BB915B}"/>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2" name="CuadroTexto 1">
            <a:extLst>
              <a:ext uri="{FF2B5EF4-FFF2-40B4-BE49-F238E27FC236}">
                <a16:creationId xmlns:a16="http://schemas.microsoft.com/office/drawing/2014/main" id="{3C6D55FC-5031-5DAE-893E-BF1355747932}"/>
              </a:ext>
            </a:extLst>
          </p:cNvPr>
          <p:cNvSpPr txBox="1"/>
          <p:nvPr/>
        </p:nvSpPr>
        <p:spPr>
          <a:xfrm>
            <a:off x="685800" y="990600"/>
            <a:ext cx="5410200" cy="5181600"/>
          </a:xfrm>
          <a:prstGeom prst="rect">
            <a:avLst/>
          </a:prstGeom>
          <a:solidFill>
            <a:schemeClr val="bg1">
              <a:lumMod val="95000"/>
            </a:schemeClr>
          </a:solidFill>
          <a:ln w="28575">
            <a:solidFill>
              <a:srgbClr val="E0700D"/>
            </a:solidFill>
          </a:ln>
        </p:spPr>
        <p:txBody>
          <a:bodyPr wrap="square" rtlCol="0">
            <a:noAutofit/>
          </a:bodyPr>
          <a:lstStyle/>
          <a:p>
            <a:pPr algn="just"/>
            <a:r>
              <a:rPr lang="en-US" sz="1200" b="1" dirty="0">
                <a:latin typeface="Arial" panose="020B0604020202020204" pitchFamily="34" charset="0"/>
                <a:cs typeface="Arial" panose="020B0604020202020204" pitchFamily="34" charset="0"/>
              </a:rPr>
              <a:t>Code for …</a:t>
            </a:r>
          </a:p>
          <a:p>
            <a:pPr algn="just"/>
            <a:endParaRPr lang="en-US" sz="1200" b="1" dirty="0">
              <a:latin typeface="Arial" panose="020B0604020202020204" pitchFamily="34" charset="0"/>
              <a:cs typeface="Arial" panose="020B0604020202020204" pitchFamily="34" charset="0"/>
            </a:endParaRPr>
          </a:p>
          <a:p>
            <a:pPr algn="just"/>
            <a:r>
              <a:rPr lang="en-US" sz="1200" b="1" dirty="0">
                <a:latin typeface="Arial" panose="020B0604020202020204" pitchFamily="34" charset="0"/>
                <a:cs typeface="Arial" panose="020B0604020202020204" pitchFamily="34" charset="0"/>
              </a:rPr>
              <a:t>Part a) Creating components</a:t>
            </a:r>
          </a:p>
          <a:p>
            <a:pPr algn="just"/>
            <a:r>
              <a:rPr lang="en-US" sz="1200" dirty="0">
                <a:latin typeface="Arial" panose="020B0604020202020204" pitchFamily="34" charset="0"/>
                <a:cs typeface="Arial" panose="020B0604020202020204" pitchFamily="34" charset="0"/>
              </a:rPr>
              <a:t>- Create a cell component for a unbalanced MZI, using 2x2 50:50 MMIs with arm length difference as parameter</a:t>
            </a:r>
          </a:p>
          <a:p>
            <a:pPr algn="just"/>
            <a:r>
              <a:rPr lang="en-US" sz="1200" dirty="0">
                <a:latin typeface="Arial" panose="020B0604020202020204" pitchFamily="34" charset="0"/>
                <a:cs typeface="Arial" panose="020B0604020202020204" pitchFamily="34" charset="0"/>
              </a:rPr>
              <a:t>- Create a cell component based on the previous, where the arms have thermal tuners on top of each one</a:t>
            </a:r>
          </a:p>
          <a:p>
            <a:pPr algn="just"/>
            <a:r>
              <a:rPr lang="en-US" sz="1200" dirty="0">
                <a:latin typeface="Arial" panose="020B0604020202020204" pitchFamily="34" charset="0"/>
                <a:cs typeface="Arial" panose="020B0604020202020204" pitchFamily="34" charset="0"/>
              </a:rPr>
              <a:t>- Create a cell component for an all-pass ring resonator, using 2x2 50:50 MMIs, with extra length parameter for different perimeters</a:t>
            </a:r>
          </a:p>
          <a:p>
            <a:pPr algn="just"/>
            <a:r>
              <a:rPr lang="en-US" sz="1200" dirty="0">
                <a:latin typeface="Arial" panose="020B0604020202020204" pitchFamily="34" charset="0"/>
                <a:cs typeface="Arial" panose="020B0604020202020204" pitchFamily="34" charset="0"/>
              </a:rPr>
              <a:t>- Create a cell component based on the previous, where the ring has a thermal tuner on top along all the perimeter</a:t>
            </a:r>
          </a:p>
          <a:p>
            <a:pPr algn="just"/>
            <a:r>
              <a:rPr lang="en-US" sz="1200" dirty="0">
                <a:latin typeface="Arial" panose="020B0604020202020204" pitchFamily="34" charset="0"/>
                <a:cs typeface="Arial" panose="020B0604020202020204" pitchFamily="34" charset="0"/>
              </a:rPr>
              <a:t>- Create a cell component based on existing </a:t>
            </a:r>
            <a:r>
              <a:rPr lang="en-US" sz="1200" dirty="0" err="1">
                <a:latin typeface="Arial" panose="020B0604020202020204" pitchFamily="34" charset="0"/>
                <a:cs typeface="Arial" panose="020B0604020202020204" pitchFamily="34" charset="0"/>
              </a:rPr>
              <a:t>GDSfactory</a:t>
            </a:r>
            <a:r>
              <a:rPr lang="en-US" sz="1200" dirty="0">
                <a:latin typeface="Arial" panose="020B0604020202020204" pitchFamily="34" charset="0"/>
                <a:cs typeface="Arial" panose="020B0604020202020204" pitchFamily="34" charset="0"/>
              </a:rPr>
              <a:t> spiral components, with length as parameter</a:t>
            </a:r>
          </a:p>
          <a:p>
            <a:pPr algn="just"/>
            <a:endParaRPr lang="en-US" sz="1200" dirty="0">
              <a:latin typeface="Arial" panose="020B0604020202020204" pitchFamily="34" charset="0"/>
              <a:cs typeface="Arial" panose="020B0604020202020204" pitchFamily="34" charset="0"/>
            </a:endParaRPr>
          </a:p>
          <a:p>
            <a:pPr algn="just"/>
            <a:r>
              <a:rPr lang="en-US" sz="1200" b="1" dirty="0">
                <a:latin typeface="Arial" panose="020B0604020202020204" pitchFamily="34" charset="0"/>
                <a:cs typeface="Arial" panose="020B0604020202020204" pitchFamily="34" charset="0"/>
              </a:rPr>
              <a:t>Part b) Creating die</a:t>
            </a:r>
          </a:p>
          <a:p>
            <a:pPr algn="just"/>
            <a:r>
              <a:rPr lang="en-US" sz="1200" dirty="0">
                <a:latin typeface="Arial" panose="020B0604020202020204" pitchFamily="34" charset="0"/>
                <a:cs typeface="Arial" panose="020B0604020202020204" pitchFamily="34" charset="0"/>
              </a:rPr>
              <a:t>- Create a die  W = 5 mm x L = 10 mm </a:t>
            </a:r>
          </a:p>
          <a:p>
            <a:pPr algn="just"/>
            <a:r>
              <a:rPr lang="en-US" sz="1200" dirty="0">
                <a:latin typeface="Arial" panose="020B0604020202020204" pitchFamily="34" charset="0"/>
                <a:cs typeface="Arial" panose="020B0604020202020204" pitchFamily="34" charset="0"/>
              </a:rPr>
              <a:t>- Create an array of I/</a:t>
            </a:r>
            <a:r>
              <a:rPr lang="en-US" sz="1200" dirty="0" err="1">
                <a:latin typeface="Arial" panose="020B0604020202020204" pitchFamily="34" charset="0"/>
                <a:cs typeface="Arial" panose="020B0604020202020204" pitchFamily="34" charset="0"/>
              </a:rPr>
              <a:t>Os</a:t>
            </a:r>
            <a:r>
              <a:rPr lang="en-US" sz="1200" dirty="0">
                <a:latin typeface="Arial" panose="020B0604020202020204" pitchFamily="34" charset="0"/>
                <a:cs typeface="Arial" panose="020B0604020202020204" pitchFamily="34" charset="0"/>
              </a:rPr>
              <a:t> spaced at 250 µm (as much I/</a:t>
            </a:r>
            <a:r>
              <a:rPr lang="en-US" sz="1200" dirty="0" err="1">
                <a:latin typeface="Arial" panose="020B0604020202020204" pitchFamily="34" charset="0"/>
                <a:cs typeface="Arial" panose="020B0604020202020204" pitchFamily="34" charset="0"/>
              </a:rPr>
              <a:t>Os</a:t>
            </a:r>
            <a:r>
              <a:rPr lang="en-US" sz="1200" dirty="0">
                <a:latin typeface="Arial" panose="020B0604020202020204" pitchFamily="34" charset="0"/>
                <a:cs typeface="Arial" panose="020B0604020202020204" pitchFamily="34" charset="0"/>
              </a:rPr>
              <a:t> as the width allows)</a:t>
            </a:r>
          </a:p>
          <a:p>
            <a:pPr algn="just"/>
            <a:r>
              <a:rPr lang="en-US" sz="1200" dirty="0">
                <a:latin typeface="Arial" panose="020B0604020202020204" pitchFamily="34" charset="0"/>
                <a:cs typeface="Arial" panose="020B0604020202020204" pitchFamily="34" charset="0"/>
              </a:rPr>
              <a:t>- Create a cell component of this die, with I/</a:t>
            </a:r>
            <a:r>
              <a:rPr lang="en-US" sz="1200" dirty="0" err="1">
                <a:latin typeface="Arial" panose="020B0604020202020204" pitchFamily="34" charset="0"/>
                <a:cs typeface="Arial" panose="020B0604020202020204" pitchFamily="34" charset="0"/>
              </a:rPr>
              <a:t>Os</a:t>
            </a:r>
            <a:r>
              <a:rPr lang="en-US" sz="1200" dirty="0">
                <a:latin typeface="Arial" panose="020B0604020202020204" pitchFamily="34" charset="0"/>
                <a:cs typeface="Arial" panose="020B0604020202020204" pitchFamily="34" charset="0"/>
              </a:rPr>
              <a:t> accessible to connect</a:t>
            </a:r>
          </a:p>
          <a:p>
            <a:pPr algn="just"/>
            <a:endParaRPr lang="en-US" sz="1200" dirty="0">
              <a:latin typeface="Arial" panose="020B0604020202020204" pitchFamily="34" charset="0"/>
              <a:cs typeface="Arial" panose="020B0604020202020204" pitchFamily="34" charset="0"/>
            </a:endParaRPr>
          </a:p>
          <a:p>
            <a:pPr algn="just"/>
            <a:r>
              <a:rPr lang="en-US" sz="1200" b="1" dirty="0">
                <a:latin typeface="Arial" panose="020B0604020202020204" pitchFamily="34" charset="0"/>
                <a:cs typeface="Arial" panose="020B0604020202020204" pitchFamily="34" charset="0"/>
              </a:rPr>
              <a:t>Part c) </a:t>
            </a:r>
            <a:r>
              <a:rPr lang="en-US" sz="1200" b="1" dirty="0" err="1">
                <a:latin typeface="Arial" panose="020B0604020202020204" pitchFamily="34" charset="0"/>
                <a:cs typeface="Arial" panose="020B0604020202020204" pitchFamily="34" charset="0"/>
              </a:rPr>
              <a:t>Floorplaning</a:t>
            </a:r>
            <a:r>
              <a:rPr lang="en-US" sz="1200" b="1" dirty="0">
                <a:latin typeface="Arial" panose="020B0604020202020204" pitchFamily="34" charset="0"/>
                <a:cs typeface="Arial" panose="020B0604020202020204" pitchFamily="34" charset="0"/>
              </a:rPr>
              <a:t> and die layout</a:t>
            </a:r>
          </a:p>
          <a:p>
            <a:pPr algn="just"/>
            <a:r>
              <a:rPr lang="en-US" sz="1200" dirty="0">
                <a:latin typeface="Arial" panose="020B0604020202020204" pitchFamily="34" charset="0"/>
                <a:cs typeface="Arial" panose="020B0604020202020204" pitchFamily="34" charset="0"/>
              </a:rPr>
              <a:t>- Make an instance of the die as host component for your layout</a:t>
            </a:r>
          </a:p>
          <a:p>
            <a:pPr algn="just"/>
            <a:r>
              <a:rPr lang="en-US" sz="1200" dirty="0">
                <a:latin typeface="Arial" panose="020B0604020202020204" pitchFamily="34" charset="0"/>
                <a:cs typeface="Arial" panose="020B0604020202020204" pitchFamily="34" charset="0"/>
              </a:rPr>
              <a:t>- Add 3 sets of 3 straight waveguides, from left to right of the die, top, middle and bottom of the die</a:t>
            </a:r>
          </a:p>
          <a:p>
            <a:pPr algn="just"/>
            <a:r>
              <a:rPr lang="en-US" sz="1200" dirty="0">
                <a:latin typeface="Arial" panose="020B0604020202020204" pitchFamily="34" charset="0"/>
                <a:cs typeface="Arial" panose="020B0604020202020204" pitchFamily="34" charset="0"/>
              </a:rPr>
              <a:t>- Add 2 of each of the components above, with different lengths</a:t>
            </a:r>
          </a:p>
          <a:p>
            <a:pPr algn="just"/>
            <a:r>
              <a:rPr lang="en-US" sz="1200" dirty="0">
                <a:latin typeface="Arial" panose="020B0604020202020204" pitchFamily="34" charset="0"/>
                <a:cs typeface="Arial" panose="020B0604020202020204" pitchFamily="34" charset="0"/>
              </a:rPr>
              <a:t>- Connect all your components to the I/</a:t>
            </a:r>
            <a:r>
              <a:rPr lang="en-US" sz="1200" dirty="0" err="1">
                <a:latin typeface="Arial" panose="020B0604020202020204" pitchFamily="34" charset="0"/>
                <a:cs typeface="Arial" panose="020B0604020202020204" pitchFamily="34" charset="0"/>
              </a:rPr>
              <a:t>Os</a:t>
            </a:r>
            <a:r>
              <a:rPr lang="en-US" sz="1200" dirty="0">
                <a:latin typeface="Arial" panose="020B0604020202020204" pitchFamily="34" charset="0"/>
                <a:cs typeface="Arial" panose="020B0604020202020204" pitchFamily="34" charset="0"/>
              </a:rPr>
              <a:t> </a:t>
            </a:r>
          </a:p>
        </p:txBody>
      </p:sp>
      <p:sp>
        <p:nvSpPr>
          <p:cNvPr id="8" name="Rectángulo 7">
            <a:extLst>
              <a:ext uri="{FF2B5EF4-FFF2-40B4-BE49-F238E27FC236}">
                <a16:creationId xmlns:a16="http://schemas.microsoft.com/office/drawing/2014/main" id="{B7F15AC0-F440-2DF1-6C9D-0A7E2EAFC2C8}"/>
              </a:ext>
            </a:extLst>
          </p:cNvPr>
          <p:cNvSpPr/>
          <p:nvPr/>
        </p:nvSpPr>
        <p:spPr>
          <a:xfrm>
            <a:off x="6248400" y="990285"/>
            <a:ext cx="5638799" cy="5181600"/>
          </a:xfrm>
          <a:prstGeom prst="rect">
            <a:avLst/>
          </a:prstGeom>
          <a:noFill/>
          <a:ln w="28575">
            <a:solidFill>
              <a:srgbClr val="E0700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CuadroTexto 8">
            <a:extLst>
              <a:ext uri="{FF2B5EF4-FFF2-40B4-BE49-F238E27FC236}">
                <a16:creationId xmlns:a16="http://schemas.microsoft.com/office/drawing/2014/main" id="{9452515D-9AC0-62DB-2A62-0C197A32C5E7}"/>
              </a:ext>
            </a:extLst>
          </p:cNvPr>
          <p:cNvSpPr txBox="1"/>
          <p:nvPr/>
        </p:nvSpPr>
        <p:spPr>
          <a:xfrm>
            <a:off x="8180318" y="3105834"/>
            <a:ext cx="1774973" cy="369332"/>
          </a:xfrm>
          <a:prstGeom prst="rect">
            <a:avLst/>
          </a:prstGeom>
          <a:noFill/>
        </p:spPr>
        <p:txBody>
          <a:bodyPr wrap="none" rtlCol="0">
            <a:spAutoFit/>
          </a:bodyPr>
          <a:lstStyle/>
          <a:p>
            <a:pPr algn="ctr"/>
            <a:r>
              <a:rPr lang="es-ES" dirty="0" err="1"/>
              <a:t>Screenshot</a:t>
            </a:r>
            <a:r>
              <a:rPr lang="es-ES" dirty="0"/>
              <a:t> </a:t>
            </a:r>
            <a:r>
              <a:rPr lang="es-ES" dirty="0" err="1"/>
              <a:t>for</a:t>
            </a:r>
            <a:r>
              <a:rPr lang="es-ES" dirty="0"/>
              <a:t> …</a:t>
            </a:r>
            <a:endParaRPr lang="en-US" dirty="0"/>
          </a:p>
        </p:txBody>
      </p:sp>
    </p:spTree>
    <p:extLst>
      <p:ext uri="{BB962C8B-B14F-4D97-AF65-F5344CB8AC3E}">
        <p14:creationId xmlns:p14="http://schemas.microsoft.com/office/powerpoint/2010/main" val="7087385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B01A13-388F-8441-3FDC-E820444705D1}"/>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96CBEA47-0394-98BD-D598-E18FB90C73DB}"/>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gn="l">
              <a:lnSpc>
                <a:spcPct val="100000"/>
              </a:lnSpc>
              <a:spcBef>
                <a:spcPts val="100"/>
              </a:spcBef>
            </a:pPr>
            <a:r>
              <a:rPr lang="en-US" sz="2500" dirty="0"/>
              <a:t>Learning outcome #4 – Notebook section 4. Exercises – Part a) Unbalanced MZI</a:t>
            </a:r>
            <a:endParaRPr sz="2500" b="0" i="1" dirty="0">
              <a:latin typeface="+mj-lt"/>
              <a:cs typeface="Lucida Sans"/>
            </a:endParaRPr>
          </a:p>
        </p:txBody>
      </p:sp>
      <p:pic>
        <p:nvPicPr>
          <p:cNvPr id="83" name="Gráfico 82">
            <a:extLst>
              <a:ext uri="{FF2B5EF4-FFF2-40B4-BE49-F238E27FC236}">
                <a16:creationId xmlns:a16="http://schemas.microsoft.com/office/drawing/2014/main" id="{A47C9645-BF85-347F-B6A3-EB8692C4878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60E9020A-E0AD-F3A9-1472-32179D1AF535}"/>
              </a:ext>
            </a:extLst>
          </p:cNvPr>
          <p:cNvSpPr>
            <a:spLocks noGrp="1"/>
          </p:cNvSpPr>
          <p:nvPr>
            <p:ph type="sldNum" sz="quarter" idx="7"/>
          </p:nvPr>
        </p:nvSpPr>
        <p:spPr/>
        <p:txBody>
          <a:bodyPr/>
          <a:lstStyle/>
          <a:p>
            <a:fld id="{B6F15528-21DE-4FAA-801E-634DDDAF4B2B}" type="slidenum">
              <a:rPr lang="es-ES" smtClean="0"/>
              <a:t>24</a:t>
            </a:fld>
            <a:endParaRPr lang="es-ES"/>
          </a:p>
        </p:txBody>
      </p:sp>
      <p:sp>
        <p:nvSpPr>
          <p:cNvPr id="3" name="Marcador de pie de página 2">
            <a:extLst>
              <a:ext uri="{FF2B5EF4-FFF2-40B4-BE49-F238E27FC236}">
                <a16:creationId xmlns:a16="http://schemas.microsoft.com/office/drawing/2014/main" id="{B2A0902E-26A2-E1E1-EDBE-2F8B9C2FB4DB}"/>
              </a:ext>
            </a:extLst>
          </p:cNvPr>
          <p:cNvSpPr>
            <a:spLocks noGrp="1"/>
          </p:cNvSpPr>
          <p:nvPr>
            <p:ph type="ftr" sz="quarter" idx="5"/>
          </p:nvPr>
        </p:nvSpPr>
        <p:spPr/>
        <p:txBody>
          <a:bodyPr/>
          <a:lstStyle/>
          <a:p>
            <a:pPr marL="12700">
              <a:spcBef>
                <a:spcPts val="15"/>
              </a:spcBef>
            </a:pPr>
            <a:r>
              <a:rPr lang="es-ES" spc="-5"/>
              <a:t>LAB 4.0. LAYOUT</a:t>
            </a:r>
            <a:endParaRPr lang="es-ES" spc="-5" dirty="0"/>
          </a:p>
        </p:txBody>
      </p:sp>
      <p:pic>
        <p:nvPicPr>
          <p:cNvPr id="5" name="Imagen 4">
            <a:extLst>
              <a:ext uri="{FF2B5EF4-FFF2-40B4-BE49-F238E27FC236}">
                <a16:creationId xmlns:a16="http://schemas.microsoft.com/office/drawing/2014/main" id="{7A812A3E-3674-FCC6-2987-13D76A997546}"/>
              </a:ext>
            </a:extLst>
          </p:cNvPr>
          <p:cNvPicPr>
            <a:picLocks noChangeAspect="1"/>
          </p:cNvPicPr>
          <p:nvPr/>
        </p:nvPicPr>
        <p:blipFill>
          <a:blip r:embed="rId4"/>
          <a:stretch>
            <a:fillRect/>
          </a:stretch>
        </p:blipFill>
        <p:spPr>
          <a:xfrm>
            <a:off x="5638800" y="1242008"/>
            <a:ext cx="6065723" cy="4579026"/>
          </a:xfrm>
          <a:prstGeom prst="rect">
            <a:avLst/>
          </a:prstGeom>
        </p:spPr>
      </p:pic>
      <p:pic>
        <p:nvPicPr>
          <p:cNvPr id="7" name="Imagen 6">
            <a:extLst>
              <a:ext uri="{FF2B5EF4-FFF2-40B4-BE49-F238E27FC236}">
                <a16:creationId xmlns:a16="http://schemas.microsoft.com/office/drawing/2014/main" id="{5B845236-361C-F7D9-9F5E-569A40F23E7C}"/>
              </a:ext>
            </a:extLst>
          </p:cNvPr>
          <p:cNvPicPr>
            <a:picLocks noChangeAspect="1"/>
          </p:cNvPicPr>
          <p:nvPr/>
        </p:nvPicPr>
        <p:blipFill>
          <a:blip r:embed="rId5"/>
          <a:stretch>
            <a:fillRect/>
          </a:stretch>
        </p:blipFill>
        <p:spPr>
          <a:xfrm>
            <a:off x="487477" y="1313398"/>
            <a:ext cx="4922723" cy="4485754"/>
          </a:xfrm>
          <a:prstGeom prst="rect">
            <a:avLst/>
          </a:prstGeom>
        </p:spPr>
      </p:pic>
    </p:spTree>
    <p:extLst>
      <p:ext uri="{BB962C8B-B14F-4D97-AF65-F5344CB8AC3E}">
        <p14:creationId xmlns:p14="http://schemas.microsoft.com/office/powerpoint/2010/main" val="22996717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70C29D-DE17-1CCB-F515-E6937F525685}"/>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2BA0B492-BB16-F05C-6FF6-91F78CAA2BF3}"/>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gn="l">
              <a:lnSpc>
                <a:spcPct val="100000"/>
              </a:lnSpc>
              <a:spcBef>
                <a:spcPts val="100"/>
              </a:spcBef>
            </a:pPr>
            <a:r>
              <a:rPr lang="en-US" sz="2500" dirty="0"/>
              <a:t>Learning outcome #4 – Notebook section 4. Exercises – Part a) Unbalanced MZI with thermal tuners </a:t>
            </a:r>
            <a:endParaRPr sz="2500" b="0" i="1" dirty="0">
              <a:latin typeface="+mj-lt"/>
              <a:cs typeface="Lucida Sans"/>
            </a:endParaRPr>
          </a:p>
        </p:txBody>
      </p:sp>
      <p:pic>
        <p:nvPicPr>
          <p:cNvPr id="83" name="Gráfico 82">
            <a:extLst>
              <a:ext uri="{FF2B5EF4-FFF2-40B4-BE49-F238E27FC236}">
                <a16:creationId xmlns:a16="http://schemas.microsoft.com/office/drawing/2014/main" id="{D410613A-ACA3-C502-5122-CF6FA712BB6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C930B0F6-55A1-D768-C8DD-D523453F2565}"/>
              </a:ext>
            </a:extLst>
          </p:cNvPr>
          <p:cNvSpPr>
            <a:spLocks noGrp="1"/>
          </p:cNvSpPr>
          <p:nvPr>
            <p:ph type="sldNum" sz="quarter" idx="7"/>
          </p:nvPr>
        </p:nvSpPr>
        <p:spPr/>
        <p:txBody>
          <a:bodyPr/>
          <a:lstStyle/>
          <a:p>
            <a:fld id="{B6F15528-21DE-4FAA-801E-634DDDAF4B2B}" type="slidenum">
              <a:rPr lang="es-ES" smtClean="0"/>
              <a:t>25</a:t>
            </a:fld>
            <a:endParaRPr lang="es-ES"/>
          </a:p>
        </p:txBody>
      </p:sp>
      <p:sp>
        <p:nvSpPr>
          <p:cNvPr id="3" name="Marcador de pie de página 2">
            <a:extLst>
              <a:ext uri="{FF2B5EF4-FFF2-40B4-BE49-F238E27FC236}">
                <a16:creationId xmlns:a16="http://schemas.microsoft.com/office/drawing/2014/main" id="{4B8C4F7B-83B5-7319-0A80-65C8613B1A9E}"/>
              </a:ext>
            </a:extLst>
          </p:cNvPr>
          <p:cNvSpPr>
            <a:spLocks noGrp="1"/>
          </p:cNvSpPr>
          <p:nvPr>
            <p:ph type="ftr" sz="quarter" idx="5"/>
          </p:nvPr>
        </p:nvSpPr>
        <p:spPr/>
        <p:txBody>
          <a:bodyPr/>
          <a:lstStyle/>
          <a:p>
            <a:pPr marL="12700">
              <a:spcBef>
                <a:spcPts val="15"/>
              </a:spcBef>
            </a:pPr>
            <a:r>
              <a:rPr lang="es-ES" spc="-5"/>
              <a:t>LAB 4.0. LAYOUT</a:t>
            </a:r>
            <a:endParaRPr lang="es-ES" spc="-5" dirty="0"/>
          </a:p>
        </p:txBody>
      </p:sp>
      <p:pic>
        <p:nvPicPr>
          <p:cNvPr id="4" name="Imagen 3">
            <a:extLst>
              <a:ext uri="{FF2B5EF4-FFF2-40B4-BE49-F238E27FC236}">
                <a16:creationId xmlns:a16="http://schemas.microsoft.com/office/drawing/2014/main" id="{FA26FB4A-FC70-C29E-189C-84BB1F2BB828}"/>
              </a:ext>
            </a:extLst>
          </p:cNvPr>
          <p:cNvPicPr>
            <a:picLocks noChangeAspect="1"/>
          </p:cNvPicPr>
          <p:nvPr/>
        </p:nvPicPr>
        <p:blipFill>
          <a:blip r:embed="rId4"/>
          <a:stretch>
            <a:fillRect/>
          </a:stretch>
        </p:blipFill>
        <p:spPr>
          <a:xfrm>
            <a:off x="5229608" y="1371599"/>
            <a:ext cx="6207826" cy="4686300"/>
          </a:xfrm>
          <a:prstGeom prst="rect">
            <a:avLst/>
          </a:prstGeom>
        </p:spPr>
      </p:pic>
      <p:pic>
        <p:nvPicPr>
          <p:cNvPr id="7" name="Imagen 6">
            <a:extLst>
              <a:ext uri="{FF2B5EF4-FFF2-40B4-BE49-F238E27FC236}">
                <a16:creationId xmlns:a16="http://schemas.microsoft.com/office/drawing/2014/main" id="{232B8BCD-55C8-4DFF-8977-78477CCA6082}"/>
              </a:ext>
            </a:extLst>
          </p:cNvPr>
          <p:cNvPicPr>
            <a:picLocks noChangeAspect="1"/>
          </p:cNvPicPr>
          <p:nvPr/>
        </p:nvPicPr>
        <p:blipFill>
          <a:blip r:embed="rId5"/>
          <a:stretch>
            <a:fillRect/>
          </a:stretch>
        </p:blipFill>
        <p:spPr>
          <a:xfrm>
            <a:off x="643338" y="1371599"/>
            <a:ext cx="4304076" cy="4476931"/>
          </a:xfrm>
          <a:prstGeom prst="rect">
            <a:avLst/>
          </a:prstGeom>
        </p:spPr>
      </p:pic>
    </p:spTree>
    <p:extLst>
      <p:ext uri="{BB962C8B-B14F-4D97-AF65-F5344CB8AC3E}">
        <p14:creationId xmlns:p14="http://schemas.microsoft.com/office/powerpoint/2010/main" val="6226597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407F1-5DE3-4F7B-BB58-092C22D9EF26}"/>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CF5B4081-00B9-F7E2-43CE-5BE778F23404}"/>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gn="l">
              <a:lnSpc>
                <a:spcPct val="100000"/>
              </a:lnSpc>
              <a:spcBef>
                <a:spcPts val="100"/>
              </a:spcBef>
            </a:pPr>
            <a:r>
              <a:rPr lang="en-US" sz="2500" dirty="0"/>
              <a:t>Learning outcome #4 – Notebook section 4. Exercises – Part a) RR</a:t>
            </a:r>
            <a:endParaRPr sz="2500" b="0" i="1" dirty="0">
              <a:latin typeface="+mj-lt"/>
              <a:cs typeface="Lucida Sans"/>
            </a:endParaRPr>
          </a:p>
        </p:txBody>
      </p:sp>
      <p:pic>
        <p:nvPicPr>
          <p:cNvPr id="83" name="Gráfico 82">
            <a:extLst>
              <a:ext uri="{FF2B5EF4-FFF2-40B4-BE49-F238E27FC236}">
                <a16:creationId xmlns:a16="http://schemas.microsoft.com/office/drawing/2014/main" id="{4D21A39F-26FC-534C-13B3-050258C3DF9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4B84493F-39F2-0DAA-FF08-289211103008}"/>
              </a:ext>
            </a:extLst>
          </p:cNvPr>
          <p:cNvSpPr>
            <a:spLocks noGrp="1"/>
          </p:cNvSpPr>
          <p:nvPr>
            <p:ph type="sldNum" sz="quarter" idx="7"/>
          </p:nvPr>
        </p:nvSpPr>
        <p:spPr/>
        <p:txBody>
          <a:bodyPr/>
          <a:lstStyle/>
          <a:p>
            <a:fld id="{B6F15528-21DE-4FAA-801E-634DDDAF4B2B}" type="slidenum">
              <a:rPr lang="es-ES" smtClean="0"/>
              <a:t>26</a:t>
            </a:fld>
            <a:endParaRPr lang="es-ES"/>
          </a:p>
        </p:txBody>
      </p:sp>
      <p:sp>
        <p:nvSpPr>
          <p:cNvPr id="3" name="Marcador de pie de página 2">
            <a:extLst>
              <a:ext uri="{FF2B5EF4-FFF2-40B4-BE49-F238E27FC236}">
                <a16:creationId xmlns:a16="http://schemas.microsoft.com/office/drawing/2014/main" id="{EDFA0A5D-616A-AC59-57B9-113BA93ECBFB}"/>
              </a:ext>
            </a:extLst>
          </p:cNvPr>
          <p:cNvSpPr>
            <a:spLocks noGrp="1"/>
          </p:cNvSpPr>
          <p:nvPr>
            <p:ph type="ftr" sz="quarter" idx="5"/>
          </p:nvPr>
        </p:nvSpPr>
        <p:spPr/>
        <p:txBody>
          <a:bodyPr/>
          <a:lstStyle/>
          <a:p>
            <a:pPr marL="12700">
              <a:spcBef>
                <a:spcPts val="15"/>
              </a:spcBef>
            </a:pPr>
            <a:r>
              <a:rPr lang="es-ES" spc="-5"/>
              <a:t>LAB 4.0. LAYOUT</a:t>
            </a:r>
            <a:endParaRPr lang="es-ES" spc="-5" dirty="0"/>
          </a:p>
        </p:txBody>
      </p:sp>
      <p:pic>
        <p:nvPicPr>
          <p:cNvPr id="7" name="Imagen 6">
            <a:extLst>
              <a:ext uri="{FF2B5EF4-FFF2-40B4-BE49-F238E27FC236}">
                <a16:creationId xmlns:a16="http://schemas.microsoft.com/office/drawing/2014/main" id="{AF2046B3-3AC9-64BC-3636-9D44A3FC6AAB}"/>
              </a:ext>
            </a:extLst>
          </p:cNvPr>
          <p:cNvPicPr>
            <a:picLocks noChangeAspect="1"/>
          </p:cNvPicPr>
          <p:nvPr/>
        </p:nvPicPr>
        <p:blipFill>
          <a:blip r:embed="rId4"/>
          <a:stretch>
            <a:fillRect/>
          </a:stretch>
        </p:blipFill>
        <p:spPr>
          <a:xfrm>
            <a:off x="6172200" y="1582344"/>
            <a:ext cx="5659586" cy="4272432"/>
          </a:xfrm>
          <a:prstGeom prst="rect">
            <a:avLst/>
          </a:prstGeom>
        </p:spPr>
      </p:pic>
      <p:pic>
        <p:nvPicPr>
          <p:cNvPr id="9" name="Imagen 8">
            <a:extLst>
              <a:ext uri="{FF2B5EF4-FFF2-40B4-BE49-F238E27FC236}">
                <a16:creationId xmlns:a16="http://schemas.microsoft.com/office/drawing/2014/main" id="{23261AF0-E1CA-6C2C-8BD7-C46D6C0F660C}"/>
              </a:ext>
            </a:extLst>
          </p:cNvPr>
          <p:cNvPicPr>
            <a:picLocks noChangeAspect="1"/>
          </p:cNvPicPr>
          <p:nvPr/>
        </p:nvPicPr>
        <p:blipFill>
          <a:blip r:embed="rId5"/>
          <a:stretch>
            <a:fillRect/>
          </a:stretch>
        </p:blipFill>
        <p:spPr>
          <a:xfrm>
            <a:off x="457200" y="1703981"/>
            <a:ext cx="5380186" cy="4138019"/>
          </a:xfrm>
          <a:prstGeom prst="rect">
            <a:avLst/>
          </a:prstGeom>
        </p:spPr>
      </p:pic>
    </p:spTree>
    <p:extLst>
      <p:ext uri="{BB962C8B-B14F-4D97-AF65-F5344CB8AC3E}">
        <p14:creationId xmlns:p14="http://schemas.microsoft.com/office/powerpoint/2010/main" val="30936532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0AEB62-9AFA-993C-0D31-4F84752480F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587DF7AA-43FA-76C9-00FB-118488188A0C}"/>
              </a:ext>
            </a:extLst>
          </p:cNvPr>
          <p:cNvSpPr txBox="1">
            <a:spLocks noGrp="1"/>
          </p:cNvSpPr>
          <p:nvPr>
            <p:ph type="title"/>
          </p:nvPr>
        </p:nvSpPr>
        <p:spPr>
          <a:xfrm>
            <a:off x="685800" y="408883"/>
            <a:ext cx="10994410" cy="782265"/>
          </a:xfrm>
          <a:prstGeom prst="rect">
            <a:avLst/>
          </a:prstGeom>
        </p:spPr>
        <p:txBody>
          <a:bodyPr vert="horz" wrap="square" lIns="0" tIns="12700" rIns="0" bIns="0" rtlCol="0">
            <a:spAutoFit/>
          </a:bodyPr>
          <a:lstStyle/>
          <a:p>
            <a:pPr marL="12700" algn="l">
              <a:lnSpc>
                <a:spcPct val="100000"/>
              </a:lnSpc>
              <a:spcBef>
                <a:spcPts val="100"/>
              </a:spcBef>
            </a:pPr>
            <a:r>
              <a:rPr lang="en-US" sz="2500" dirty="0"/>
              <a:t>Learning outcome #4 – Notebook section 4. Exercises – Part a) RR with thermal tuners</a:t>
            </a:r>
            <a:endParaRPr sz="2500" b="0" i="1" dirty="0">
              <a:latin typeface="+mj-lt"/>
              <a:cs typeface="Lucida Sans"/>
            </a:endParaRPr>
          </a:p>
        </p:txBody>
      </p:sp>
      <p:pic>
        <p:nvPicPr>
          <p:cNvPr id="83" name="Gráfico 82">
            <a:extLst>
              <a:ext uri="{FF2B5EF4-FFF2-40B4-BE49-F238E27FC236}">
                <a16:creationId xmlns:a16="http://schemas.microsoft.com/office/drawing/2014/main" id="{D14A9F98-4D1A-E923-613D-CCD3C20E115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0174256-A333-4B63-74A1-E8FD25B5C3EE}"/>
              </a:ext>
            </a:extLst>
          </p:cNvPr>
          <p:cNvSpPr>
            <a:spLocks noGrp="1"/>
          </p:cNvSpPr>
          <p:nvPr>
            <p:ph type="sldNum" sz="quarter" idx="7"/>
          </p:nvPr>
        </p:nvSpPr>
        <p:spPr/>
        <p:txBody>
          <a:bodyPr/>
          <a:lstStyle/>
          <a:p>
            <a:fld id="{B6F15528-21DE-4FAA-801E-634DDDAF4B2B}" type="slidenum">
              <a:rPr lang="es-ES" smtClean="0"/>
              <a:t>27</a:t>
            </a:fld>
            <a:endParaRPr lang="es-ES"/>
          </a:p>
        </p:txBody>
      </p:sp>
      <p:sp>
        <p:nvSpPr>
          <p:cNvPr id="3" name="Marcador de pie de página 2">
            <a:extLst>
              <a:ext uri="{FF2B5EF4-FFF2-40B4-BE49-F238E27FC236}">
                <a16:creationId xmlns:a16="http://schemas.microsoft.com/office/drawing/2014/main" id="{181BC0B8-A062-2333-C17F-76B351704C83}"/>
              </a:ext>
            </a:extLst>
          </p:cNvPr>
          <p:cNvSpPr>
            <a:spLocks noGrp="1"/>
          </p:cNvSpPr>
          <p:nvPr>
            <p:ph type="ftr" sz="quarter" idx="5"/>
          </p:nvPr>
        </p:nvSpPr>
        <p:spPr/>
        <p:txBody>
          <a:bodyPr/>
          <a:lstStyle/>
          <a:p>
            <a:pPr marL="12700">
              <a:spcBef>
                <a:spcPts val="15"/>
              </a:spcBef>
            </a:pPr>
            <a:r>
              <a:rPr lang="es-ES" spc="-5"/>
              <a:t>LAB 4.0. LAYOUT</a:t>
            </a:r>
            <a:endParaRPr lang="es-ES" spc="-5" dirty="0"/>
          </a:p>
        </p:txBody>
      </p:sp>
      <p:pic>
        <p:nvPicPr>
          <p:cNvPr id="5" name="Imagen 4">
            <a:extLst>
              <a:ext uri="{FF2B5EF4-FFF2-40B4-BE49-F238E27FC236}">
                <a16:creationId xmlns:a16="http://schemas.microsoft.com/office/drawing/2014/main" id="{6E713603-3AB4-E1BF-8B5D-1BF91625AAEB}"/>
              </a:ext>
            </a:extLst>
          </p:cNvPr>
          <p:cNvPicPr>
            <a:picLocks noChangeAspect="1"/>
          </p:cNvPicPr>
          <p:nvPr/>
        </p:nvPicPr>
        <p:blipFill>
          <a:blip r:embed="rId4"/>
          <a:stretch>
            <a:fillRect/>
          </a:stretch>
        </p:blipFill>
        <p:spPr>
          <a:xfrm>
            <a:off x="5791200" y="1434801"/>
            <a:ext cx="6019799" cy="4544358"/>
          </a:xfrm>
          <a:prstGeom prst="rect">
            <a:avLst/>
          </a:prstGeom>
        </p:spPr>
      </p:pic>
      <p:pic>
        <p:nvPicPr>
          <p:cNvPr id="7" name="Imagen 6">
            <a:extLst>
              <a:ext uri="{FF2B5EF4-FFF2-40B4-BE49-F238E27FC236}">
                <a16:creationId xmlns:a16="http://schemas.microsoft.com/office/drawing/2014/main" id="{1D16D335-9075-440E-CC9A-A3F42A64860E}"/>
              </a:ext>
            </a:extLst>
          </p:cNvPr>
          <p:cNvPicPr>
            <a:picLocks noChangeAspect="1"/>
          </p:cNvPicPr>
          <p:nvPr/>
        </p:nvPicPr>
        <p:blipFill>
          <a:blip r:embed="rId5"/>
          <a:stretch>
            <a:fillRect/>
          </a:stretch>
        </p:blipFill>
        <p:spPr>
          <a:xfrm>
            <a:off x="533400" y="1488722"/>
            <a:ext cx="4920498" cy="4436515"/>
          </a:xfrm>
          <a:prstGeom prst="rect">
            <a:avLst/>
          </a:prstGeom>
        </p:spPr>
      </p:pic>
    </p:spTree>
    <p:extLst>
      <p:ext uri="{BB962C8B-B14F-4D97-AF65-F5344CB8AC3E}">
        <p14:creationId xmlns:p14="http://schemas.microsoft.com/office/powerpoint/2010/main" val="41562859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399341-64BD-DF4A-2ED3-9A2B21F2DB9C}"/>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87208722-4DD5-2395-D905-440607E6150D}"/>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gn="l">
              <a:lnSpc>
                <a:spcPct val="100000"/>
              </a:lnSpc>
              <a:spcBef>
                <a:spcPts val="100"/>
              </a:spcBef>
            </a:pPr>
            <a:r>
              <a:rPr lang="en-US" sz="2500" dirty="0"/>
              <a:t>Learning outcome #4 – Notebook section 4. Exercises – Part a) Spiral</a:t>
            </a:r>
            <a:endParaRPr sz="2500" b="0" i="1" dirty="0">
              <a:latin typeface="+mj-lt"/>
              <a:cs typeface="Lucida Sans"/>
            </a:endParaRPr>
          </a:p>
        </p:txBody>
      </p:sp>
      <p:pic>
        <p:nvPicPr>
          <p:cNvPr id="83" name="Gráfico 82">
            <a:extLst>
              <a:ext uri="{FF2B5EF4-FFF2-40B4-BE49-F238E27FC236}">
                <a16:creationId xmlns:a16="http://schemas.microsoft.com/office/drawing/2014/main" id="{4AD49D12-3CB2-2C03-A51B-03668179828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6B8CE15-030E-1B77-682B-46758B5ECE2F}"/>
              </a:ext>
            </a:extLst>
          </p:cNvPr>
          <p:cNvSpPr>
            <a:spLocks noGrp="1"/>
          </p:cNvSpPr>
          <p:nvPr>
            <p:ph type="sldNum" sz="quarter" idx="7"/>
          </p:nvPr>
        </p:nvSpPr>
        <p:spPr/>
        <p:txBody>
          <a:bodyPr/>
          <a:lstStyle/>
          <a:p>
            <a:fld id="{B6F15528-21DE-4FAA-801E-634DDDAF4B2B}" type="slidenum">
              <a:rPr lang="es-ES" smtClean="0"/>
              <a:t>28</a:t>
            </a:fld>
            <a:endParaRPr lang="es-ES"/>
          </a:p>
        </p:txBody>
      </p:sp>
      <p:sp>
        <p:nvSpPr>
          <p:cNvPr id="3" name="Marcador de pie de página 2">
            <a:extLst>
              <a:ext uri="{FF2B5EF4-FFF2-40B4-BE49-F238E27FC236}">
                <a16:creationId xmlns:a16="http://schemas.microsoft.com/office/drawing/2014/main" id="{E3F692EE-F9E9-0C57-7FC1-D86A3ED8DD0C}"/>
              </a:ext>
            </a:extLst>
          </p:cNvPr>
          <p:cNvSpPr>
            <a:spLocks noGrp="1"/>
          </p:cNvSpPr>
          <p:nvPr>
            <p:ph type="ftr" sz="quarter" idx="5"/>
          </p:nvPr>
        </p:nvSpPr>
        <p:spPr/>
        <p:txBody>
          <a:bodyPr/>
          <a:lstStyle/>
          <a:p>
            <a:pPr marL="12700">
              <a:spcBef>
                <a:spcPts val="15"/>
              </a:spcBef>
            </a:pPr>
            <a:r>
              <a:rPr lang="es-ES" spc="-5"/>
              <a:t>LAB 4.0. LAYOUT</a:t>
            </a:r>
            <a:endParaRPr lang="es-ES" spc="-5" dirty="0"/>
          </a:p>
        </p:txBody>
      </p:sp>
      <p:pic>
        <p:nvPicPr>
          <p:cNvPr id="5" name="Imagen 4">
            <a:extLst>
              <a:ext uri="{FF2B5EF4-FFF2-40B4-BE49-F238E27FC236}">
                <a16:creationId xmlns:a16="http://schemas.microsoft.com/office/drawing/2014/main" id="{D0D70807-C745-B005-BEFB-248C633E8E01}"/>
              </a:ext>
            </a:extLst>
          </p:cNvPr>
          <p:cNvPicPr>
            <a:picLocks noChangeAspect="1"/>
          </p:cNvPicPr>
          <p:nvPr/>
        </p:nvPicPr>
        <p:blipFill>
          <a:blip r:embed="rId4"/>
          <a:stretch>
            <a:fillRect/>
          </a:stretch>
        </p:blipFill>
        <p:spPr>
          <a:xfrm>
            <a:off x="6096000" y="1605280"/>
            <a:ext cx="5694952" cy="4299131"/>
          </a:xfrm>
          <a:prstGeom prst="rect">
            <a:avLst/>
          </a:prstGeom>
        </p:spPr>
      </p:pic>
      <p:pic>
        <p:nvPicPr>
          <p:cNvPr id="7" name="Imagen 6">
            <a:extLst>
              <a:ext uri="{FF2B5EF4-FFF2-40B4-BE49-F238E27FC236}">
                <a16:creationId xmlns:a16="http://schemas.microsoft.com/office/drawing/2014/main" id="{331BF9BF-9605-8E8A-ADBC-77CB0AEDA786}"/>
              </a:ext>
            </a:extLst>
          </p:cNvPr>
          <p:cNvPicPr>
            <a:picLocks noChangeAspect="1"/>
          </p:cNvPicPr>
          <p:nvPr/>
        </p:nvPicPr>
        <p:blipFill>
          <a:blip r:embed="rId5"/>
          <a:stretch>
            <a:fillRect/>
          </a:stretch>
        </p:blipFill>
        <p:spPr>
          <a:xfrm>
            <a:off x="476230" y="1676400"/>
            <a:ext cx="5406530" cy="4207691"/>
          </a:xfrm>
          <a:prstGeom prst="rect">
            <a:avLst/>
          </a:prstGeom>
        </p:spPr>
      </p:pic>
    </p:spTree>
    <p:extLst>
      <p:ext uri="{BB962C8B-B14F-4D97-AF65-F5344CB8AC3E}">
        <p14:creationId xmlns:p14="http://schemas.microsoft.com/office/powerpoint/2010/main" val="148287788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FF417A-B862-7ACB-2A2E-B5EB2AD58395}"/>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25155DEA-59DE-8C18-8F6C-33A3835F9E8B}"/>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gn="l">
              <a:lnSpc>
                <a:spcPct val="100000"/>
              </a:lnSpc>
              <a:spcBef>
                <a:spcPts val="100"/>
              </a:spcBef>
            </a:pPr>
            <a:r>
              <a:rPr lang="en-US" sz="2500" dirty="0"/>
              <a:t>Learning outcome #4 – Notebook section 4. Exercises – Part b) </a:t>
            </a:r>
            <a:endParaRPr sz="2500" b="0" i="1" dirty="0">
              <a:latin typeface="+mj-lt"/>
              <a:cs typeface="Lucida Sans"/>
            </a:endParaRPr>
          </a:p>
        </p:txBody>
      </p:sp>
      <p:pic>
        <p:nvPicPr>
          <p:cNvPr id="83" name="Gráfico 82">
            <a:extLst>
              <a:ext uri="{FF2B5EF4-FFF2-40B4-BE49-F238E27FC236}">
                <a16:creationId xmlns:a16="http://schemas.microsoft.com/office/drawing/2014/main" id="{10D22AB7-26C7-7A59-6F40-3731C717FF4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21D35F2-6DBC-0709-51E2-A5E15FA7BDAD}"/>
              </a:ext>
            </a:extLst>
          </p:cNvPr>
          <p:cNvSpPr>
            <a:spLocks noGrp="1"/>
          </p:cNvSpPr>
          <p:nvPr>
            <p:ph type="sldNum" sz="quarter" idx="7"/>
          </p:nvPr>
        </p:nvSpPr>
        <p:spPr/>
        <p:txBody>
          <a:bodyPr/>
          <a:lstStyle/>
          <a:p>
            <a:fld id="{B6F15528-21DE-4FAA-801E-634DDDAF4B2B}" type="slidenum">
              <a:rPr lang="es-ES" smtClean="0"/>
              <a:t>29</a:t>
            </a:fld>
            <a:endParaRPr lang="es-ES"/>
          </a:p>
        </p:txBody>
      </p:sp>
      <p:sp>
        <p:nvSpPr>
          <p:cNvPr id="3" name="Marcador de pie de página 2">
            <a:extLst>
              <a:ext uri="{FF2B5EF4-FFF2-40B4-BE49-F238E27FC236}">
                <a16:creationId xmlns:a16="http://schemas.microsoft.com/office/drawing/2014/main" id="{BBD85E10-E699-6C2B-68CE-EB24DB0252C0}"/>
              </a:ext>
            </a:extLst>
          </p:cNvPr>
          <p:cNvSpPr>
            <a:spLocks noGrp="1"/>
          </p:cNvSpPr>
          <p:nvPr>
            <p:ph type="ftr" sz="quarter" idx="5"/>
          </p:nvPr>
        </p:nvSpPr>
        <p:spPr/>
        <p:txBody>
          <a:bodyPr/>
          <a:lstStyle/>
          <a:p>
            <a:pPr marL="12700">
              <a:spcBef>
                <a:spcPts val="15"/>
              </a:spcBef>
            </a:pPr>
            <a:r>
              <a:rPr lang="es-ES" spc="-5"/>
              <a:t>LAB 4.0. LAYOUT</a:t>
            </a:r>
            <a:endParaRPr lang="es-ES" spc="-5" dirty="0"/>
          </a:p>
        </p:txBody>
      </p:sp>
      <p:pic>
        <p:nvPicPr>
          <p:cNvPr id="4" name="Imagen 3">
            <a:extLst>
              <a:ext uri="{FF2B5EF4-FFF2-40B4-BE49-F238E27FC236}">
                <a16:creationId xmlns:a16="http://schemas.microsoft.com/office/drawing/2014/main" id="{F616A1DE-3919-9D9C-17E0-FAEEBFCF291B}"/>
              </a:ext>
            </a:extLst>
          </p:cNvPr>
          <p:cNvPicPr>
            <a:picLocks noChangeAspect="1"/>
          </p:cNvPicPr>
          <p:nvPr/>
        </p:nvPicPr>
        <p:blipFill>
          <a:blip r:embed="rId4"/>
          <a:stretch>
            <a:fillRect/>
          </a:stretch>
        </p:blipFill>
        <p:spPr>
          <a:xfrm>
            <a:off x="5791200" y="1600305"/>
            <a:ext cx="5715000" cy="4314265"/>
          </a:xfrm>
          <a:prstGeom prst="rect">
            <a:avLst/>
          </a:prstGeom>
        </p:spPr>
      </p:pic>
      <p:pic>
        <p:nvPicPr>
          <p:cNvPr id="7" name="Imagen 6">
            <a:extLst>
              <a:ext uri="{FF2B5EF4-FFF2-40B4-BE49-F238E27FC236}">
                <a16:creationId xmlns:a16="http://schemas.microsoft.com/office/drawing/2014/main" id="{22FFA0B8-FDB2-D0B3-21DA-50D7A13AAB5A}"/>
              </a:ext>
            </a:extLst>
          </p:cNvPr>
          <p:cNvPicPr>
            <a:picLocks noChangeAspect="1"/>
          </p:cNvPicPr>
          <p:nvPr/>
        </p:nvPicPr>
        <p:blipFill>
          <a:blip r:embed="rId5"/>
          <a:stretch>
            <a:fillRect/>
          </a:stretch>
        </p:blipFill>
        <p:spPr>
          <a:xfrm>
            <a:off x="388989" y="1600305"/>
            <a:ext cx="5165621" cy="4207690"/>
          </a:xfrm>
          <a:prstGeom prst="rect">
            <a:avLst/>
          </a:prstGeom>
        </p:spPr>
      </p:pic>
    </p:spTree>
    <p:extLst>
      <p:ext uri="{BB962C8B-B14F-4D97-AF65-F5344CB8AC3E}">
        <p14:creationId xmlns:p14="http://schemas.microsoft.com/office/powerpoint/2010/main" val="35367419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C5E3EC-2F03-D7E5-F78E-3117EC42F0FE}"/>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23158A70-992B-4F4A-AC4C-22BE602B4EDA}"/>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gn="l">
              <a:lnSpc>
                <a:spcPct val="100000"/>
              </a:lnSpc>
              <a:spcBef>
                <a:spcPts val="100"/>
              </a:spcBef>
            </a:pPr>
            <a:r>
              <a:rPr lang="en-US" sz="2500" dirty="0"/>
              <a:t>Learning outcome #4 – Notebook section 4. Exercises – Part c) </a:t>
            </a:r>
            <a:endParaRPr sz="2500" b="0" i="1" dirty="0">
              <a:latin typeface="+mj-lt"/>
              <a:cs typeface="Lucida Sans"/>
            </a:endParaRPr>
          </a:p>
        </p:txBody>
      </p:sp>
      <p:pic>
        <p:nvPicPr>
          <p:cNvPr id="83" name="Gráfico 82">
            <a:extLst>
              <a:ext uri="{FF2B5EF4-FFF2-40B4-BE49-F238E27FC236}">
                <a16:creationId xmlns:a16="http://schemas.microsoft.com/office/drawing/2014/main" id="{E14AA25B-94E2-7300-01BD-EADC7715EC7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3E9F003A-01BA-53CB-B160-B9CADCF7403A}"/>
              </a:ext>
            </a:extLst>
          </p:cNvPr>
          <p:cNvSpPr>
            <a:spLocks noGrp="1"/>
          </p:cNvSpPr>
          <p:nvPr>
            <p:ph type="sldNum" sz="quarter" idx="7"/>
          </p:nvPr>
        </p:nvSpPr>
        <p:spPr/>
        <p:txBody>
          <a:bodyPr/>
          <a:lstStyle/>
          <a:p>
            <a:fld id="{B6F15528-21DE-4FAA-801E-634DDDAF4B2B}" type="slidenum">
              <a:rPr lang="es-ES" smtClean="0"/>
              <a:t>30</a:t>
            </a:fld>
            <a:endParaRPr lang="es-ES"/>
          </a:p>
        </p:txBody>
      </p:sp>
      <p:sp>
        <p:nvSpPr>
          <p:cNvPr id="3" name="Marcador de pie de página 2">
            <a:extLst>
              <a:ext uri="{FF2B5EF4-FFF2-40B4-BE49-F238E27FC236}">
                <a16:creationId xmlns:a16="http://schemas.microsoft.com/office/drawing/2014/main" id="{74EDD7F5-75C1-784F-9F97-2A20A8F8B54B}"/>
              </a:ext>
            </a:extLst>
          </p:cNvPr>
          <p:cNvSpPr>
            <a:spLocks noGrp="1"/>
          </p:cNvSpPr>
          <p:nvPr>
            <p:ph type="ftr" sz="quarter" idx="5"/>
          </p:nvPr>
        </p:nvSpPr>
        <p:spPr/>
        <p:txBody>
          <a:bodyPr/>
          <a:lstStyle/>
          <a:p>
            <a:pPr marL="12700">
              <a:spcBef>
                <a:spcPts val="15"/>
              </a:spcBef>
            </a:pPr>
            <a:r>
              <a:rPr lang="es-ES" spc="-5"/>
              <a:t>LAB 4.0. LAYOUT</a:t>
            </a:r>
            <a:endParaRPr lang="es-ES" spc="-5" dirty="0"/>
          </a:p>
        </p:txBody>
      </p:sp>
      <p:pic>
        <p:nvPicPr>
          <p:cNvPr id="5" name="Imagen 4">
            <a:extLst>
              <a:ext uri="{FF2B5EF4-FFF2-40B4-BE49-F238E27FC236}">
                <a16:creationId xmlns:a16="http://schemas.microsoft.com/office/drawing/2014/main" id="{4FB1FAA5-D410-CCAE-9DFF-D73127048326}"/>
              </a:ext>
            </a:extLst>
          </p:cNvPr>
          <p:cNvPicPr>
            <a:picLocks noChangeAspect="1"/>
          </p:cNvPicPr>
          <p:nvPr/>
        </p:nvPicPr>
        <p:blipFill>
          <a:blip r:embed="rId4"/>
          <a:stretch>
            <a:fillRect/>
          </a:stretch>
        </p:blipFill>
        <p:spPr>
          <a:xfrm>
            <a:off x="2730909" y="1040929"/>
            <a:ext cx="6730181" cy="5080627"/>
          </a:xfrm>
          <a:prstGeom prst="rect">
            <a:avLst/>
          </a:prstGeom>
        </p:spPr>
      </p:pic>
    </p:spTree>
    <p:extLst>
      <p:ext uri="{BB962C8B-B14F-4D97-AF65-F5344CB8AC3E}">
        <p14:creationId xmlns:p14="http://schemas.microsoft.com/office/powerpoint/2010/main" val="115991414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945635" y="2636520"/>
            <a:ext cx="8246363" cy="1584959"/>
          </a:xfrm>
          <a:prstGeom prst="rect">
            <a:avLst/>
          </a:prstGeom>
          <a:blipFill>
            <a:blip r:embed="rId2" cstate="print"/>
            <a:stretch>
              <a:fillRect/>
            </a:stretch>
          </a:blipFill>
        </p:spPr>
        <p:txBody>
          <a:bodyPr wrap="square" lIns="0" tIns="0" rIns="0" bIns="0" rtlCol="0"/>
          <a:lstStyle/>
          <a:p>
            <a:endParaRPr/>
          </a:p>
        </p:txBody>
      </p:sp>
      <p:sp>
        <p:nvSpPr>
          <p:cNvPr id="4" name="object 4"/>
          <p:cNvSpPr txBox="1">
            <a:spLocks noGrp="1"/>
          </p:cNvSpPr>
          <p:nvPr>
            <p:ph type="title"/>
          </p:nvPr>
        </p:nvSpPr>
        <p:spPr>
          <a:xfrm>
            <a:off x="4513326" y="3165729"/>
            <a:ext cx="2233295" cy="513715"/>
          </a:xfrm>
          <a:prstGeom prst="rect">
            <a:avLst/>
          </a:prstGeom>
        </p:spPr>
        <p:txBody>
          <a:bodyPr vert="horz" wrap="square" lIns="0" tIns="13335" rIns="0" bIns="0" rtlCol="0">
            <a:spAutoFit/>
          </a:bodyPr>
          <a:lstStyle/>
          <a:p>
            <a:pPr marL="12700">
              <a:lnSpc>
                <a:spcPct val="100000"/>
              </a:lnSpc>
              <a:spcBef>
                <a:spcPts val="105"/>
              </a:spcBef>
            </a:pPr>
            <a:r>
              <a:rPr sz="3200" b="1" spc="-5" dirty="0">
                <a:solidFill>
                  <a:srgbClr val="FFFFFF"/>
                </a:solidFill>
                <a:latin typeface="Lucida Sans"/>
                <a:cs typeface="Lucida Sans"/>
              </a:rPr>
              <a:t>Thank</a:t>
            </a:r>
            <a:r>
              <a:rPr sz="3200" b="1" spc="-55" dirty="0">
                <a:solidFill>
                  <a:srgbClr val="FFFFFF"/>
                </a:solidFill>
                <a:latin typeface="Lucida Sans"/>
                <a:cs typeface="Lucida Sans"/>
              </a:rPr>
              <a:t> </a:t>
            </a:r>
            <a:r>
              <a:rPr sz="3200" b="1" dirty="0">
                <a:solidFill>
                  <a:srgbClr val="FFFFFF"/>
                </a:solidFill>
                <a:latin typeface="Lucida Sans"/>
                <a:cs typeface="Lucida Sans"/>
              </a:rPr>
              <a:t>you</a:t>
            </a:r>
            <a:endParaRPr sz="3200">
              <a:latin typeface="Lucida Sans"/>
              <a:cs typeface="Lucida Sans"/>
            </a:endParaRPr>
          </a:p>
        </p:txBody>
      </p:sp>
      <p:sp>
        <p:nvSpPr>
          <p:cNvPr id="5" name="Marcador de número de diapositiva 4">
            <a:extLst>
              <a:ext uri="{FF2B5EF4-FFF2-40B4-BE49-F238E27FC236}">
                <a16:creationId xmlns:a16="http://schemas.microsoft.com/office/drawing/2014/main" id="{B052DA19-AD24-7D24-2AE9-51F8F5A7F5E0}"/>
              </a:ext>
            </a:extLst>
          </p:cNvPr>
          <p:cNvSpPr>
            <a:spLocks noGrp="1"/>
          </p:cNvSpPr>
          <p:nvPr>
            <p:ph type="sldNum" sz="quarter" idx="7"/>
          </p:nvPr>
        </p:nvSpPr>
        <p:spPr/>
        <p:txBody>
          <a:bodyPr/>
          <a:lstStyle/>
          <a:p>
            <a:fld id="{B6F15528-21DE-4FAA-801E-634DDDAF4B2B}" type="slidenum">
              <a:rPr lang="es-ES" smtClean="0"/>
              <a:t>31</a:t>
            </a:fld>
            <a:endParaRPr lang="es-E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1666</TotalTime>
  <Words>3049</Words>
  <Application>Microsoft Office PowerPoint</Application>
  <PresentationFormat>Panorámica</PresentationFormat>
  <Paragraphs>249</Paragraphs>
  <Slides>31</Slides>
  <Notes>28</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31</vt:i4>
      </vt:variant>
    </vt:vector>
  </HeadingPairs>
  <TitlesOfParts>
    <vt:vector size="37" baseType="lpstr">
      <vt:lpstr>Aptos</vt:lpstr>
      <vt:lpstr>Arial</vt:lpstr>
      <vt:lpstr>Calibri</vt:lpstr>
      <vt:lpstr>Lucida Sans</vt:lpstr>
      <vt:lpstr>Wingdings</vt:lpstr>
      <vt:lpstr>Office Theme</vt:lpstr>
      <vt:lpstr>Presentación de PowerPoint</vt:lpstr>
      <vt:lpstr>Instructions General</vt:lpstr>
      <vt:lpstr>Learning outcome #1a – Notebook section 1. Technology “We will work with the demo UPVfab PDK. Let's view the layer distribution of this PDK”</vt:lpstr>
      <vt:lpstr>Learning outcome #1a – Notebook section 1. Technology </vt:lpstr>
      <vt:lpstr>Learning outcome #1b – Notebook section 1. Technology – 1 slide per component “Use your design results from Lab2 and Lab3 to create layout instances of your designed components: DCs, MMIs, MZIs &amp; Ring Resonators”</vt:lpstr>
      <vt:lpstr>Learning outcome #1b – Notebook section 1. Technology – DC</vt:lpstr>
      <vt:lpstr>Learning outcome #1b – Notebook section 1. Technology – MMI 2x2</vt:lpstr>
      <vt:lpstr>Learning outcome #1b – Notebook section 1. Technology – MMI 1x4</vt:lpstr>
      <vt:lpstr>Learning outcome #1b – Notebook section 1. Technology – MZI 2x2</vt:lpstr>
      <vt:lpstr>Learning outcome #1b – Notebook section 1. Technology – Single RR</vt:lpstr>
      <vt:lpstr>Learning outcome #1b – Notebook section 1. Technology – Double RR</vt:lpstr>
      <vt:lpstr>Learning outcome #2a – Notebook section 2. Layout Fundamentals “Once that we have a working 'new' component, we shall convert it into a Cell. This will allow us to have a hierarchical design”</vt:lpstr>
      <vt:lpstr>Learning outcome #2a – Notebook section 2. Layout Fundamentals</vt:lpstr>
      <vt:lpstr>Learning outcome #2a – Notebook section 2. Layout Fundamentals – 1 slide per component “Use your design results from Lab2 and Lab3 to create layout instances of your designed components: DCs, MMIs, MZIs &amp; Ring Resonators”  Make cells for all your components</vt:lpstr>
      <vt:lpstr>Learning outcome #2a – Notebook section 2. Layout Fundamentals – CELL DC</vt:lpstr>
      <vt:lpstr>Learning outcome #2a – Notebook section 2. Layout Fundamentals – CELL MMI2x2</vt:lpstr>
      <vt:lpstr>Learning outcome #2a – Notebook section 2. Layout Fundamentals – CELL MMI2x2</vt:lpstr>
      <vt:lpstr>Learning outcome #2a – Notebook section 2. Layout Fundamentals – CELL MZI</vt:lpstr>
      <vt:lpstr>Learning outcome #2a – Notebook section 2. Layout Fundamentals – CELL Single RR</vt:lpstr>
      <vt:lpstr>Learning outcome #2a – Notebook section 2. Layout Fundamentals – CELL Double RR</vt:lpstr>
      <vt:lpstr>Learning outcome #3 – Notebook section 3. Complete layout</vt:lpstr>
      <vt:lpstr>Learning outcome #3 – Notebook section 3. Complete layout</vt:lpstr>
      <vt:lpstr>Learning outcome #4 – Notebook section 4. Exercises – 1 slide per bullet point</vt:lpstr>
      <vt:lpstr>Learning outcome #4 – Notebook section 4. Exercises – Part a) Unbalanced MZI</vt:lpstr>
      <vt:lpstr>Learning outcome #4 – Notebook section 4. Exercises – Part a) Unbalanced MZI with thermal tuners </vt:lpstr>
      <vt:lpstr>Learning outcome #4 – Notebook section 4. Exercises – Part a) RR</vt:lpstr>
      <vt:lpstr>Learning outcome #4 – Notebook section 4. Exercises – Part a) RR with thermal tuners</vt:lpstr>
      <vt:lpstr>Learning outcome #4 – Notebook section 4. Exercises – Part a) Spiral</vt:lpstr>
      <vt:lpstr>Learning outcome #4 – Notebook section 4. Exercises – Part b) </vt:lpstr>
      <vt:lpstr>Learning outcome #4 – Notebook section 4. Exercises – Part c)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Mª Ester Calataytud</dc:creator>
  <cp:lastModifiedBy>Gabriel Manrique de Lara Rincon</cp:lastModifiedBy>
  <cp:revision>26</cp:revision>
  <dcterms:created xsi:type="dcterms:W3CDTF">2025-01-27T02:46:57Z</dcterms:created>
  <dcterms:modified xsi:type="dcterms:W3CDTF">2026-06-12T13:54:27Z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2024-09-16T00:00:00Z</vt:filetime>
  </property>
  <property fmtid="{D5CDD505-2E9C-101B-9397-08002B2CF9AE}" pid="3" name="Creator">
    <vt:lpwstr>Microsoft® PowerPoint® 2016</vt:lpwstr>
  </property>
  <property fmtid="{D5CDD505-2E9C-101B-9397-08002B2CF9AE}" pid="4" name="LastSaved">
    <vt:filetime>2025-01-27T00:00:00Z</vt:filetime>
  </property>
</Properties>
</file>